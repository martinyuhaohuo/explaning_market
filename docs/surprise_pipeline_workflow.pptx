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011fa80-4ace-2b68-a981-e4167b8791b1}">
          <p14:sldIdLst>
            <p14:sldId id="256"/>
            <p14:sldId id="257"/>
          </p14:sldIdLst>
        </p14:section>
        <p14:section name="Taxonomy formation" id="{25157c78-1667-a0e4-143d-26b8ce2c84ef}">
          <p14:sldIdLst>
            <p14:sldId id="258"/>
            <p14:sldId id="259"/>
            <p14:sldId id="260"/>
            <p14:sldId id="261"/>
            <p14:sldId id="262"/>
          </p14:sldIdLst>
        </p14:section>
        <p14:section name="Agent" id="{8adf6603-4032-26a8-4376-042cbd4ba411}">
          <p14:sldIdLst>
            <p14:sldId id="263"/>
            <p14:sldId id="264"/>
            <p14:sldId id="265"/>
          </p14:sldIdLst>
        </p14:section>
        <p14:section name="Next steps" id="{5d18a77b-a9a3-7d3a-eb46-b6693183c27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E4C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E4C5E"/>
                </a:solidFill>
                <a:latin typeface="+mn-lt"/>
              </a:rPr>
              <a:t>Spearman with next-day return, 500 discovery events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with car1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Net of first 3 items</c:v>
                  </c:pt>
                  <c:pt idx="1">
                    <c:v>Magnitude-weighted net</c:v>
                  </c:pt>
                  <c:pt idx="2">
                    <c:v>Net direction</c:v>
                  </c:pt>
                  <c:pt idx="3">
                    <c:v>gemini baseline</c:v>
                  </c:pt>
                  <c:pt idx="4">
                    <c:v>z-ai baseline</c:v>
                  </c:pt>
                  <c:pt idx="5">
                    <c:v>deepseek baseline</c:v>
                  </c:pt>
                  <c:pt idx="6">
                    <c:v>moonshotai baseline</c:v>
                  </c:pt>
                  <c:pt idx="7">
                    <c:v>openai baseline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0.492</c:v>
                </c:pt>
                <c:pt idx="2">
                  <c:v>0.465</c:v>
                </c:pt>
                <c:pt idx="3">
                  <c:v>0.426</c:v>
                </c:pt>
                <c:pt idx="4">
                  <c:v>0.395</c:v>
                </c:pt>
                <c:pt idx="5">
                  <c:v>0.385</c:v>
                </c:pt>
                <c:pt idx="6">
                  <c:v>0.377</c:v>
                </c:pt>
                <c:pt idx="7">
                  <c:v>0.357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E4C5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E4C5E"/>
                </a:solidFill>
                <a:latin typeface="+mn-lt"/>
              </a:rPr>
              <a:t>Spearman of each dimension's net score with car1 (items in brackets)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Revenue (605)</c:v>
                  </c:pt>
                  <c:pt idx="1">
                    <c:v>Forward guidance (685)</c:v>
                  </c:pt>
                  <c:pt idx="2">
                    <c:v>Operating profitability (449)</c:v>
                  </c:pt>
                  <c:pt idx="3">
                    <c:v>Bottom-line earnings (269)</c:v>
                  </c:pt>
                  <c:pt idx="4">
                    <c:v>Operating KPIs (523)</c:v>
                  </c:pt>
                  <c:pt idx="5">
                    <c:v>Cash and balance sheet (255)</c:v>
                  </c:pt>
                  <c:pt idx="6">
                    <c:v>Costs and expenses (147)</c:v>
                  </c:pt>
                  <c:pt idx="7">
                    <c:v>Accounting, tax, special (92)</c:v>
                  </c:pt>
                  <c:pt idx="8">
                    <c:v>Commercial economics (220)</c:v>
                  </c:pt>
                  <c:pt idx="9">
                    <c:v>Disclosure delivery (16)</c:v>
                  </c:pt>
                  <c:pt idx="10">
                    <c:v>External environment (84)</c:v>
                  </c:pt>
                  <c:pt idx="11">
                    <c:v>Strategy, corporate events (122)</c:v>
                  </c:pt>
                  <c:pt idx="12">
                    <c:v>Capital allocation (152)</c:v>
                  </c:pt>
                  <c:pt idx="13">
                    <c:v>Development, regulatory (208)</c:v>
                  </c:pt>
                  <c:pt idx="14">
                    <c:v>Financing, capital structure (67)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0.352</c:v>
                </c:pt>
                <c:pt idx="1">
                  <c:v>0.34</c:v>
                </c:pt>
                <c:pt idx="2">
                  <c:v>0.316</c:v>
                </c:pt>
                <c:pt idx="3">
                  <c:v>0.241</c:v>
                </c:pt>
                <c:pt idx="4">
                  <c:v>0.185</c:v>
                </c:pt>
                <c:pt idx="5">
                  <c:v>0.126</c:v>
                </c:pt>
                <c:pt idx="6">
                  <c:v>0.097</c:v>
                </c:pt>
                <c:pt idx="7">
                  <c:v>0.085</c:v>
                </c:pt>
                <c:pt idx="8">
                  <c:v>0.048</c:v>
                </c:pt>
                <c:pt idx="9">
                  <c:v>0.041</c:v>
                </c:pt>
                <c:pt idx="10">
                  <c:v>0.025</c:v>
                </c:pt>
                <c:pt idx="11">
                  <c:v>0.015</c:v>
                </c:pt>
                <c:pt idx="12">
                  <c:v>0.001</c:v>
                </c:pt>
                <c:pt idx="13">
                  <c:v>-0.003</c:v>
                </c:pt>
                <c:pt idx="14">
                  <c:v>-0.035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-0.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how earnings surprises are extracted, grouped into a fixed taxonomy (v2), and how the planned agent will turn them into a percentile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deployed predict.py still runs the earlier proposer/critic agent; the new pipeline is not wired in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6012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Explaining Markets: surprise pipeline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Surprise-Taxonomy Pipeline and Agent Workflow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Explaining Markets competition entry  |  status as of 24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Taxonomy is frozen; the model step is next</a:t>
            </a:r>
            <a:endParaRPr lang="en-US" sz="3200" dirty="0"/>
          </a:p>
        </p:txBody>
      </p:sp>
      <p:sp>
        <p:nvSpPr>
          <p:cNvPr id="3" name="card-1"/>
          <p:cNvSpPr/>
          <p:nvPr/>
        </p:nvSpPr>
        <p:spPr>
          <a:xfrm>
            <a:off x="548640" y="1325880"/>
            <a:ext cx="484632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/>
        </p:spPr>
      </p:sp>
      <p:sp>
        <p:nvSpPr>
          <p:cNvPr id="4" name="text-2"/>
          <p:cNvSpPr txBox="1"/>
          <p:nvPr/>
        </p:nvSpPr>
        <p:spPr>
          <a:xfrm>
            <a:off x="86868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5" name="text-3"/>
          <p:cNvSpPr txBox="1"/>
          <p:nvPr/>
        </p:nvSpPr>
        <p:spPr>
          <a:xfrm>
            <a:off x="868680" y="21488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Predict where each stock's next-day abnormal return (car1) ranks among all of the quarter's earnings reactions: a percentile in [0, 1].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Approach: an LLM lists every way a release differed from pre-release expectations, the surprises are grouped into fixed dimensions, and a small model turns them into a prediction.</a:t>
            </a:r>
            <a:endParaRPr lang="en-US" sz="1600" dirty="0"/>
          </a:p>
        </p:txBody>
      </p:sp>
      <p:sp>
        <p:nvSpPr>
          <p:cNvPr id="6" name="text-4"/>
          <p:cNvSpPr txBox="1"/>
          <p:nvPr/>
        </p:nvSpPr>
        <p:spPr>
          <a:xfrm>
            <a:off x="585216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split (train / test / discovery)</a:t>
            </a:r>
            <a:endParaRPr lang="en-US" sz="1500" dirty="0"/>
          </a:p>
        </p:txBody>
      </p:sp>
      <p:sp>
        <p:nvSpPr>
          <p:cNvPr id="7" name="chip-5"/>
          <p:cNvSpPr/>
          <p:nvPr/>
        </p:nvSpPr>
        <p:spPr>
          <a:xfrm>
            <a:off x="10012680" y="1417320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8" name="text-6"/>
          <p:cNvSpPr txBox="1"/>
          <p:nvPr/>
        </p:nvSpPr>
        <p:spPr>
          <a:xfrm>
            <a:off x="10012680" y="14173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Done</a:t>
            </a:r>
            <a:endParaRPr lang="en-US" sz="1200" dirty="0"/>
          </a:p>
        </p:txBody>
      </p:sp>
      <p:sp>
        <p:nvSpPr>
          <p:cNvPr id="9" name="rule-7"/>
          <p:cNvSpPr/>
          <p:nvPr/>
        </p:nvSpPr>
        <p:spPr>
          <a:xfrm>
            <a:off x="5852160" y="1920240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0" name="text-8"/>
          <p:cNvSpPr txBox="1"/>
          <p:nvPr/>
        </p:nvSpPr>
        <p:spPr>
          <a:xfrm>
            <a:off x="5852160" y="20939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Free-form extraction, 500 discovery events</a:t>
            </a:r>
            <a:endParaRPr lang="en-US" sz="1500" dirty="0"/>
          </a:p>
        </p:txBody>
      </p:sp>
      <p:sp>
        <p:nvSpPr>
          <p:cNvPr id="11" name="chip-9"/>
          <p:cNvSpPr/>
          <p:nvPr/>
        </p:nvSpPr>
        <p:spPr>
          <a:xfrm>
            <a:off x="10012680" y="2093976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2" name="text-10"/>
          <p:cNvSpPr txBox="1"/>
          <p:nvPr/>
        </p:nvSpPr>
        <p:spPr>
          <a:xfrm>
            <a:off x="10012680" y="20939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Done</a:t>
            </a:r>
            <a:endParaRPr lang="en-US" sz="1200" dirty="0"/>
          </a:p>
        </p:txBody>
      </p:sp>
      <p:sp>
        <p:nvSpPr>
          <p:cNvPr id="13" name="rule-11"/>
          <p:cNvSpPr/>
          <p:nvPr/>
        </p:nvSpPr>
        <p:spPr>
          <a:xfrm>
            <a:off x="5852160" y="2596896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4" name="text-12"/>
          <p:cNvSpPr txBox="1"/>
          <p:nvPr/>
        </p:nvSpPr>
        <p:spPr>
          <a:xfrm>
            <a:off x="5852160" y="2770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Taxonomy propose, assign, review, refine</a:t>
            </a:r>
            <a:endParaRPr lang="en-US" sz="1500" dirty="0"/>
          </a:p>
        </p:txBody>
      </p:sp>
      <p:sp>
        <p:nvSpPr>
          <p:cNvPr id="15" name="chip-13"/>
          <p:cNvSpPr/>
          <p:nvPr/>
        </p:nvSpPr>
        <p:spPr>
          <a:xfrm>
            <a:off x="10012680" y="2770632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6" name="text-14"/>
          <p:cNvSpPr txBox="1"/>
          <p:nvPr/>
        </p:nvSpPr>
        <p:spPr>
          <a:xfrm>
            <a:off x="10012680" y="2770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Frozen at v2</a:t>
            </a:r>
            <a:endParaRPr lang="en-US" sz="1200" dirty="0"/>
          </a:p>
        </p:txBody>
      </p:sp>
      <p:sp>
        <p:nvSpPr>
          <p:cNvPr id="17" name="rule-15"/>
          <p:cNvSpPr/>
          <p:nvPr/>
        </p:nvSpPr>
        <p:spPr>
          <a:xfrm>
            <a:off x="5852160" y="3273552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8" name="text-16"/>
          <p:cNvSpPr txBox="1"/>
          <p:nvPr/>
        </p:nvSpPr>
        <p:spPr>
          <a:xfrm>
            <a:off x="5852160" y="34472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Reliability and stability checks</a:t>
            </a:r>
            <a:endParaRPr lang="en-US" sz="1500" dirty="0"/>
          </a:p>
        </p:txBody>
      </p:sp>
      <p:sp>
        <p:nvSpPr>
          <p:cNvPr id="19" name="chip-17"/>
          <p:cNvSpPr/>
          <p:nvPr/>
        </p:nvSpPr>
        <p:spPr>
          <a:xfrm>
            <a:off x="10012680" y="3447288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0" name="text-18"/>
          <p:cNvSpPr txBox="1"/>
          <p:nvPr/>
        </p:nvSpPr>
        <p:spPr>
          <a:xfrm>
            <a:off x="10012680" y="3447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Done</a:t>
            </a:r>
            <a:endParaRPr lang="en-US" sz="1200" dirty="0"/>
          </a:p>
        </p:txBody>
      </p:sp>
      <p:sp>
        <p:nvSpPr>
          <p:cNvPr id="21" name="rule-19"/>
          <p:cNvSpPr/>
          <p:nvPr/>
        </p:nvSpPr>
        <p:spPr>
          <a:xfrm>
            <a:off x="5852160" y="3950208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2" name="text-20"/>
          <p:cNvSpPr txBox="1"/>
          <p:nvPr/>
        </p:nvSpPr>
        <p:spPr>
          <a:xfrm>
            <a:off x="5852160" y="41239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Extract + classify train_rest and test</a:t>
            </a:r>
            <a:endParaRPr lang="en-US" sz="1500" dirty="0"/>
          </a:p>
        </p:txBody>
      </p:sp>
      <p:sp>
        <p:nvSpPr>
          <p:cNvPr id="23" name="chip-21"/>
          <p:cNvSpPr/>
          <p:nvPr/>
        </p:nvSpPr>
        <p:spPr>
          <a:xfrm>
            <a:off x="10012680" y="4123944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-22"/>
          <p:cNvSpPr txBox="1"/>
          <p:nvPr/>
        </p:nvSpPr>
        <p:spPr>
          <a:xfrm>
            <a:off x="10012680" y="41239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Code written</a:t>
            </a:r>
            <a:endParaRPr lang="en-US" sz="1200" dirty="0"/>
          </a:p>
        </p:txBody>
      </p:sp>
      <p:sp>
        <p:nvSpPr>
          <p:cNvPr id="25" name="rule-23"/>
          <p:cNvSpPr/>
          <p:nvPr/>
        </p:nvSpPr>
        <p:spPr>
          <a:xfrm>
            <a:off x="5852160" y="4626864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6" name="text-24"/>
          <p:cNvSpPr txBox="1"/>
          <p:nvPr/>
        </p:nvSpPr>
        <p:spPr>
          <a:xfrm>
            <a:off x="5852160" y="4800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Combined one-row-per-surprise table</a:t>
            </a:r>
            <a:endParaRPr lang="en-US" sz="1500" dirty="0"/>
          </a:p>
        </p:txBody>
      </p:sp>
      <p:sp>
        <p:nvSpPr>
          <p:cNvPr id="27" name="chip-25"/>
          <p:cNvSpPr/>
          <p:nvPr/>
        </p:nvSpPr>
        <p:spPr>
          <a:xfrm>
            <a:off x="10012680" y="4800600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text-26"/>
          <p:cNvSpPr txBox="1"/>
          <p:nvPr/>
        </p:nvSpPr>
        <p:spPr>
          <a:xfrm>
            <a:off x="10012680" y="4800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Code written</a:t>
            </a:r>
            <a:endParaRPr lang="en-US" sz="1200" dirty="0"/>
          </a:p>
        </p:txBody>
      </p:sp>
      <p:sp>
        <p:nvSpPr>
          <p:cNvPr id="29" name="rule-27"/>
          <p:cNvSpPr/>
          <p:nvPr/>
        </p:nvSpPr>
        <p:spPr>
          <a:xfrm>
            <a:off x="5852160" y="5303520"/>
            <a:ext cx="576072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0" name="text-28"/>
          <p:cNvSpPr txBox="1"/>
          <p:nvPr/>
        </p:nvSpPr>
        <p:spPr>
          <a:xfrm>
            <a:off x="5852160" y="54772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Features, trained model, live agent</a:t>
            </a:r>
            <a:endParaRPr lang="en-US" sz="1500" dirty="0"/>
          </a:p>
        </p:txBody>
      </p:sp>
      <p:sp>
        <p:nvSpPr>
          <p:cNvPr id="31" name="chip-29"/>
          <p:cNvSpPr/>
          <p:nvPr/>
        </p:nvSpPr>
        <p:spPr>
          <a:xfrm>
            <a:off x="10012680" y="5477256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2" name="text-30"/>
          <p:cNvSpPr txBox="1"/>
          <p:nvPr/>
        </p:nvSpPr>
        <p:spPr>
          <a:xfrm>
            <a:off x="10012680" y="54772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Planned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1,365 Q3 events, split by time</a:t>
            </a:r>
            <a:endParaRPr lang="en-US" sz="3200" dirty="0"/>
          </a:p>
        </p:txBody>
      </p:sp>
      <p:sp>
        <p:nvSpPr>
          <p:cNvPr id="3" name="text-31"/>
          <p:cNvSpPr txBox="1"/>
          <p:nvPr/>
        </p:nvSpPr>
        <p:spPr>
          <a:xfrm>
            <a:off x="548640" y="1280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Eligible: 2026Q3 events with call facts, a pre-release preview, one focal asset and a realized return. Previews exist only in Q3, so the pipeline uses Q3 only.</a:t>
            </a:r>
            <a:endParaRPr lang="en-US" sz="1600" dirty="0"/>
          </a:p>
        </p:txBody>
      </p:sp>
      <p:sp>
        <p:nvSpPr>
          <p:cNvPr id="4" name="seg-32"/>
          <p:cNvSpPr/>
          <p:nvPr/>
        </p:nvSpPr>
        <p:spPr>
          <a:xfrm>
            <a:off x="548640" y="2331720"/>
            <a:ext cx="4027312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-33"/>
          <p:cNvSpPr txBox="1"/>
          <p:nvPr/>
        </p:nvSpPr>
        <p:spPr>
          <a:xfrm>
            <a:off x="731520" y="2560320"/>
            <a:ext cx="3698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Discovery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500 events</a:t>
            </a:r>
            <a:endParaRPr lang="en-US" sz="1600" dirty="0"/>
          </a:p>
        </p:txBody>
      </p:sp>
      <p:sp>
        <p:nvSpPr>
          <p:cNvPr id="6" name="seg-34"/>
          <p:cNvSpPr/>
          <p:nvPr/>
        </p:nvSpPr>
        <p:spPr>
          <a:xfrm>
            <a:off x="4612528" y="2331720"/>
            <a:ext cx="4645023" cy="1143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-35"/>
          <p:cNvSpPr txBox="1"/>
          <p:nvPr/>
        </p:nvSpPr>
        <p:spPr>
          <a:xfrm>
            <a:off x="4795408" y="2560320"/>
            <a:ext cx="4315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train_rest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576 events</a:t>
            </a:r>
            <a:endParaRPr lang="en-US" sz="1600" dirty="0"/>
          </a:p>
        </p:txBody>
      </p:sp>
      <p:sp>
        <p:nvSpPr>
          <p:cNvPr id="8" name="seg-36"/>
          <p:cNvSpPr/>
          <p:nvPr/>
        </p:nvSpPr>
        <p:spPr>
          <a:xfrm>
            <a:off x="9294128" y="2331720"/>
            <a:ext cx="2312351" cy="11430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-37"/>
          <p:cNvSpPr txBox="1"/>
          <p:nvPr/>
        </p:nvSpPr>
        <p:spPr>
          <a:xfrm>
            <a:off x="9477008" y="2560320"/>
            <a:ext cx="19831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289 events</a:t>
            </a:r>
            <a:endParaRPr lang="en-US" sz="1600" dirty="0"/>
          </a:p>
        </p:txBody>
      </p:sp>
      <p:sp>
        <p:nvSpPr>
          <p:cNvPr id="10" name="text-38"/>
          <p:cNvSpPr txBox="1"/>
          <p:nvPr/>
        </p:nvSpPr>
        <p:spPr>
          <a:xfrm>
            <a:off x="548640" y="3611880"/>
            <a:ext cx="874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Train: earliest 80%, 1,076 events (before 13 Aug 2026 21:00 UTC)</a:t>
            </a:r>
            <a:endParaRPr lang="en-US" sz="1300" dirty="0"/>
          </a:p>
        </p:txBody>
      </p:sp>
      <p:sp>
        <p:nvSpPr>
          <p:cNvPr id="11" name="text-39"/>
          <p:cNvSpPr txBox="1"/>
          <p:nvPr/>
        </p:nvSpPr>
        <p:spPr>
          <a:xfrm>
            <a:off x="9294128" y="3611880"/>
            <a:ext cx="2348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Test: 289 later events</a:t>
            </a:r>
            <a:endParaRPr lang="en-US" sz="1300" dirty="0"/>
          </a:p>
        </p:txBody>
      </p:sp>
      <p:sp>
        <p:nvSpPr>
          <p:cNvPr id="12" name="card-40"/>
          <p:cNvSpPr/>
          <p:nvPr/>
        </p:nvSpPr>
        <p:spPr>
          <a:xfrm>
            <a:off x="548640" y="4206240"/>
            <a:ext cx="342381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text-41"/>
          <p:cNvSpPr txBox="1"/>
          <p:nvPr/>
        </p:nvSpPr>
        <p:spPr>
          <a:xfrm>
            <a:off x="777240" y="4389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4" name="text-42"/>
          <p:cNvSpPr txBox="1"/>
          <p:nvPr/>
        </p:nvSpPr>
        <p:spPr>
          <a:xfrm>
            <a:off x="777240" y="48006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Sampled from train, 50 per car1 decile (seed 42). Used to build the taxonomy; returns never shown to the LLM.</a:t>
            </a:r>
            <a:endParaRPr lang="en-US" sz="1400" dirty="0"/>
          </a:p>
        </p:txBody>
      </p:sp>
      <p:sp>
        <p:nvSpPr>
          <p:cNvPr id="15" name="card-43"/>
          <p:cNvSpPr/>
          <p:nvPr/>
        </p:nvSpPr>
        <p:spPr>
          <a:xfrm>
            <a:off x="4246778" y="4206240"/>
            <a:ext cx="342381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text-44"/>
          <p:cNvSpPr txBox="1"/>
          <p:nvPr/>
        </p:nvSpPr>
        <p:spPr>
          <a:xfrm>
            <a:off x="4475378" y="4389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train_rest</a:t>
            </a:r>
            <a:endParaRPr lang="en-US" sz="1700" dirty="0"/>
          </a:p>
        </p:txBody>
      </p:sp>
      <p:sp>
        <p:nvSpPr>
          <p:cNvPr id="17" name="text-45"/>
          <p:cNvSpPr txBox="1"/>
          <p:nvPr/>
        </p:nvSpPr>
        <p:spPr>
          <a:xfrm>
            <a:off x="4475378" y="48006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events outside discovery. Planned use: fitting the model, together with discovery.</a:t>
            </a:r>
            <a:endParaRPr lang="en-US" sz="1400" dirty="0"/>
          </a:p>
        </p:txBody>
      </p:sp>
      <p:sp>
        <p:nvSpPr>
          <p:cNvPr id="18" name="card-46"/>
          <p:cNvSpPr/>
          <p:nvPr/>
        </p:nvSpPr>
        <p:spPr>
          <a:xfrm>
            <a:off x="7944917" y="4206240"/>
            <a:ext cx="342381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text-47"/>
          <p:cNvSpPr txBox="1"/>
          <p:nvPr/>
        </p:nvSpPr>
        <p:spPr>
          <a:xfrm>
            <a:off x="8173517" y="43891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20" name="text-48"/>
          <p:cNvSpPr txBox="1"/>
          <p:nvPr/>
        </p:nvSpPr>
        <p:spPr>
          <a:xfrm>
            <a:off x="8173517" y="48006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Everything from 13 Aug onward, scored once after the model is fixed.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Seven steps from raw surprises to a frozen taxonomy</a:t>
            </a:r>
            <a:endParaRPr lang="en-US" sz="3200" dirty="0"/>
          </a:p>
        </p:txBody>
      </p:sp>
      <p:sp>
        <p:nvSpPr>
          <p:cNvPr id="3" name="card-49"/>
          <p:cNvSpPr/>
          <p:nvPr/>
        </p:nvSpPr>
        <p:spPr>
          <a:xfrm>
            <a:off x="548640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4" name="num-50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-51"/>
          <p:cNvSpPr txBox="1"/>
          <p:nvPr/>
        </p:nvSpPr>
        <p:spPr>
          <a:xfrm>
            <a:off x="73152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-52"/>
          <p:cNvSpPr txBox="1"/>
          <p:nvPr/>
        </p:nvSpPr>
        <p:spPr>
          <a:xfrm>
            <a:off x="731520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600" dirty="0"/>
          </a:p>
        </p:txBody>
      </p:sp>
      <p:sp>
        <p:nvSpPr>
          <p:cNvPr id="7" name="text-53"/>
          <p:cNvSpPr txBox="1"/>
          <p:nvPr/>
        </p:nvSpPr>
        <p:spPr>
          <a:xfrm>
            <a:off x="731520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80/20 by time; 500 discovery events</a:t>
            </a:r>
            <a:endParaRPr lang="en-US" sz="1300" dirty="0"/>
          </a:p>
        </p:txBody>
      </p:sp>
      <p:sp>
        <p:nvSpPr>
          <p:cNvPr id="8" name="card-54"/>
          <p:cNvSpPr/>
          <p:nvPr/>
        </p:nvSpPr>
        <p:spPr>
          <a:xfrm>
            <a:off x="2154457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9" name="num-55"/>
          <p:cNvSpPr/>
          <p:nvPr/>
        </p:nvSpPr>
        <p:spPr>
          <a:xfrm>
            <a:off x="2337337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56"/>
          <p:cNvSpPr txBox="1"/>
          <p:nvPr/>
        </p:nvSpPr>
        <p:spPr>
          <a:xfrm>
            <a:off x="2337337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57"/>
          <p:cNvSpPr txBox="1"/>
          <p:nvPr/>
        </p:nvSpPr>
        <p:spPr>
          <a:xfrm>
            <a:off x="2337337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12" name="text-58"/>
          <p:cNvSpPr txBox="1"/>
          <p:nvPr/>
        </p:nvSpPr>
        <p:spPr>
          <a:xfrm>
            <a:off x="2337337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 call per event; 3,895 surprises, 7.8 per event</a:t>
            </a:r>
            <a:endParaRPr lang="en-US" sz="1300" dirty="0"/>
          </a:p>
        </p:txBody>
      </p:sp>
      <p:sp>
        <p:nvSpPr>
          <p:cNvPr id="13" name="card-59"/>
          <p:cNvSpPr/>
          <p:nvPr/>
        </p:nvSpPr>
        <p:spPr>
          <a:xfrm>
            <a:off x="3760274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14" name="num-60"/>
          <p:cNvSpPr/>
          <p:nvPr/>
        </p:nvSpPr>
        <p:spPr>
          <a:xfrm>
            <a:off x="3943154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-61"/>
          <p:cNvSpPr txBox="1"/>
          <p:nvPr/>
        </p:nvSpPr>
        <p:spPr>
          <a:xfrm>
            <a:off x="394315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62"/>
          <p:cNvSpPr txBox="1"/>
          <p:nvPr/>
        </p:nvSpPr>
        <p:spPr>
          <a:xfrm>
            <a:off x="3943154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v1</a:t>
            </a:r>
            <a:endParaRPr lang="en-US" sz="1600" dirty="0"/>
          </a:p>
        </p:txBody>
      </p:sp>
      <p:sp>
        <p:nvSpPr>
          <p:cNvPr id="17" name="text-63"/>
          <p:cNvSpPr txBox="1"/>
          <p:nvPr/>
        </p:nvSpPr>
        <p:spPr>
          <a:xfrm>
            <a:off x="3943154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610 items from 80 events + 12 seed dimensions</a:t>
            </a:r>
            <a:endParaRPr lang="en-US" sz="1300" dirty="0"/>
          </a:p>
        </p:txBody>
      </p:sp>
      <p:sp>
        <p:nvSpPr>
          <p:cNvPr id="18" name="card-64"/>
          <p:cNvSpPr/>
          <p:nvPr/>
        </p:nvSpPr>
        <p:spPr>
          <a:xfrm>
            <a:off x="5366091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19" name="num-65"/>
          <p:cNvSpPr/>
          <p:nvPr/>
        </p:nvSpPr>
        <p:spPr>
          <a:xfrm>
            <a:off x="5548971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-66"/>
          <p:cNvSpPr txBox="1"/>
          <p:nvPr/>
        </p:nvSpPr>
        <p:spPr>
          <a:xfrm>
            <a:off x="5548971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-67"/>
          <p:cNvSpPr txBox="1"/>
          <p:nvPr/>
        </p:nvSpPr>
        <p:spPr>
          <a:xfrm>
            <a:off x="5548971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600" dirty="0"/>
          </a:p>
        </p:txBody>
      </p:sp>
      <p:sp>
        <p:nvSpPr>
          <p:cNvPr id="22" name="text-68"/>
          <p:cNvSpPr txBox="1"/>
          <p:nvPr/>
        </p:nvSpPr>
        <p:spPr>
          <a:xfrm>
            <a:off x="5548971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Batches of 40; only taxonomy keys or 'other'</a:t>
            </a:r>
            <a:endParaRPr lang="en-US" sz="1300" dirty="0"/>
          </a:p>
        </p:txBody>
      </p:sp>
      <p:sp>
        <p:nvSpPr>
          <p:cNvPr id="23" name="card-69"/>
          <p:cNvSpPr/>
          <p:nvPr/>
        </p:nvSpPr>
        <p:spPr>
          <a:xfrm>
            <a:off x="6971908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24" name="num-70"/>
          <p:cNvSpPr/>
          <p:nvPr/>
        </p:nvSpPr>
        <p:spPr>
          <a:xfrm>
            <a:off x="7154788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71"/>
          <p:cNvSpPr txBox="1"/>
          <p:nvPr/>
        </p:nvSpPr>
        <p:spPr>
          <a:xfrm>
            <a:off x="715478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-72"/>
          <p:cNvSpPr txBox="1"/>
          <p:nvPr/>
        </p:nvSpPr>
        <p:spPr>
          <a:xfrm>
            <a:off x="7154788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7" name="text-73"/>
          <p:cNvSpPr txBox="1"/>
          <p:nvPr/>
        </p:nvSpPr>
        <p:spPr>
          <a:xfrm>
            <a:off x="7154788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'other', samples, signal; rerun kappa 0.896</a:t>
            </a:r>
            <a:endParaRPr lang="en-US" sz="1300" dirty="0"/>
          </a:p>
        </p:txBody>
      </p:sp>
      <p:sp>
        <p:nvSpPr>
          <p:cNvPr id="28" name="card-74"/>
          <p:cNvSpPr/>
          <p:nvPr/>
        </p:nvSpPr>
        <p:spPr>
          <a:xfrm>
            <a:off x="8577725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bg2"/>
          </a:solidFill>
          <a:ln/>
        </p:spPr>
      </p:sp>
      <p:sp>
        <p:nvSpPr>
          <p:cNvPr id="29" name="num-75"/>
          <p:cNvSpPr/>
          <p:nvPr/>
        </p:nvSpPr>
        <p:spPr>
          <a:xfrm>
            <a:off x="8760605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-76"/>
          <p:cNvSpPr txBox="1"/>
          <p:nvPr/>
        </p:nvSpPr>
        <p:spPr>
          <a:xfrm>
            <a:off x="8760605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-77"/>
          <p:cNvSpPr txBox="1"/>
          <p:nvPr/>
        </p:nvSpPr>
        <p:spPr>
          <a:xfrm>
            <a:off x="8760605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v2</a:t>
            </a:r>
            <a:endParaRPr lang="en-US" sz="1600" dirty="0"/>
          </a:p>
        </p:txBody>
      </p:sp>
      <p:sp>
        <p:nvSpPr>
          <p:cNvPr id="32" name="text-78"/>
          <p:cNvSpPr txBox="1"/>
          <p:nvPr/>
        </p:nvSpPr>
        <p:spPr>
          <a:xfrm>
            <a:off x="8760605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15 dimensions, tighter boundaries</a:t>
            </a:r>
            <a:endParaRPr lang="en-US" sz="1300" dirty="0"/>
          </a:p>
        </p:txBody>
      </p:sp>
      <p:sp>
        <p:nvSpPr>
          <p:cNvPr id="33" name="card-79"/>
          <p:cNvSpPr/>
          <p:nvPr/>
        </p:nvSpPr>
        <p:spPr>
          <a:xfrm>
            <a:off x="10183542" y="1600200"/>
            <a:ext cx="1459513" cy="2743200"/>
          </a:xfrm>
          <a:prstGeom prst="roundRect">
            <a:avLst>
              <a:gd name="adj" fmla="val 5012"/>
            </a:avLst>
          </a:prstGeom>
          <a:solidFill>
            <a:schemeClr val="accent5"/>
          </a:solidFill>
          <a:ln/>
        </p:spPr>
      </p:sp>
      <p:sp>
        <p:nvSpPr>
          <p:cNvPr id="34" name="num-80"/>
          <p:cNvSpPr/>
          <p:nvPr/>
        </p:nvSpPr>
        <p:spPr>
          <a:xfrm>
            <a:off x="10366422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-81"/>
          <p:cNvSpPr txBox="1"/>
          <p:nvPr/>
        </p:nvSpPr>
        <p:spPr>
          <a:xfrm>
            <a:off x="1036642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-82"/>
          <p:cNvSpPr txBox="1"/>
          <p:nvPr/>
        </p:nvSpPr>
        <p:spPr>
          <a:xfrm>
            <a:off x="10366422" y="2423160"/>
            <a:ext cx="1093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600" dirty="0"/>
          </a:p>
        </p:txBody>
      </p:sp>
      <p:sp>
        <p:nvSpPr>
          <p:cNvPr id="37" name="text-83"/>
          <p:cNvSpPr txBox="1"/>
          <p:nvPr/>
        </p:nvSpPr>
        <p:spPr>
          <a:xfrm>
            <a:off x="10366422" y="2880360"/>
            <a:ext cx="1093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Independent taxonomy from 80 other events</a:t>
            </a:r>
            <a:endParaRPr lang="en-US" sz="1300" dirty="0"/>
          </a:p>
        </p:txBody>
      </p:sp>
      <p:sp>
        <p:nvSpPr>
          <p:cNvPr id="38" name="text-84"/>
          <p:cNvSpPr txBox="1"/>
          <p:nvPr/>
        </p:nvSpPr>
        <p:spPr>
          <a:xfrm>
            <a:off x="548640" y="480060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Extraction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gpt-6-luna, medium effort, 8 workers</a:t>
            </a:r>
            <a:endParaRPr lang="en-US" sz="1400" dirty="0"/>
          </a:p>
        </p:txBody>
      </p:sp>
      <p:sp>
        <p:nvSpPr>
          <p:cNvPr id="39" name="text-85"/>
          <p:cNvSpPr txBox="1"/>
          <p:nvPr/>
        </p:nvSpPr>
        <p:spPr>
          <a:xfrm>
            <a:off x="4246778" y="480060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Propose / refine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gpt-6.1-sol, medium effort</a:t>
            </a:r>
            <a:endParaRPr lang="en-US" sz="1400" dirty="0"/>
          </a:p>
        </p:txBody>
      </p:sp>
      <p:sp>
        <p:nvSpPr>
          <p:cNvPr id="40" name="text-86"/>
          <p:cNvSpPr txBox="1"/>
          <p:nvPr/>
        </p:nvSpPr>
        <p:spPr>
          <a:xfrm>
            <a:off x="7944917" y="480060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Assignment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gpt-6-luna, low effort, 40 per call</a:t>
            </a:r>
            <a:endParaRPr lang="en-US" sz="1400" dirty="0"/>
          </a:p>
        </p:txBody>
      </p:sp>
      <p:sp>
        <p:nvSpPr>
          <p:cNvPr id="41" name="text-87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Every LLM step saves after each event or batch and resumes after an interruption. Driver: script/suprise_dim_discovery.ipynb, sections 1-4.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simple surprise count already beats every baseline</a:t>
            </a:r>
            <a:endParaRPr lang="en-US" sz="3200" dirty="0"/>
          </a:p>
        </p:txBody>
      </p:sp>
      <p:graphicFrame>
        <p:nvGraphicFramePr>
          <p:cNvPr id="3" name="chart-88" descr=""/>
          <p:cNvGraphicFramePr/>
          <p:nvPr/>
        </p:nvGraphicFramePr>
        <p:xfrm>
          <a:off x="548640" y="128016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89"/>
          <p:cNvSpPr txBox="1"/>
          <p:nvPr/>
        </p:nvSpPr>
        <p:spPr>
          <a:xfrm>
            <a:off x="7863840" y="1463040"/>
            <a:ext cx="3779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0.465</a:t>
            </a:r>
            <a:endParaRPr lang="en-US" sz="6000" dirty="0"/>
          </a:p>
        </p:txBody>
      </p:sp>
      <p:sp>
        <p:nvSpPr>
          <p:cNvPr id="5" name="text-90"/>
          <p:cNvSpPr txBox="1"/>
          <p:nvPr/>
        </p:nvSpPr>
        <p:spPr>
          <a:xfrm>
            <a:off x="7863840" y="251460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Positive minus negative surprises per event (95% range 0.39 to 0.54)</a:t>
            </a:r>
            <a:endParaRPr lang="en-US" sz="1400" dirty="0"/>
          </a:p>
        </p:txBody>
      </p:sp>
      <p:sp>
        <p:nvSpPr>
          <p:cNvPr id="6" name="text-91"/>
          <p:cNvSpPr txBox="1"/>
          <p:nvPr/>
        </p:nvSpPr>
        <p:spPr>
          <a:xfrm>
            <a:off x="7863840" y="342900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Beats 4 of 5 baselines clearly; gemini by +0.04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Magnitude weighting and extraction order add a little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Labels lean positive (60% vs 28% negative); corporate actions are labelled positive but show no 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grouping is reliable and has converged</a:t>
            </a:r>
            <a:endParaRPr lang="en-US" sz="3200" dirty="0"/>
          </a:p>
        </p:txBody>
      </p:sp>
      <p:sp>
        <p:nvSpPr>
          <p:cNvPr id="3" name="card-92"/>
          <p:cNvSpPr/>
          <p:nvPr/>
        </p:nvSpPr>
        <p:spPr>
          <a:xfrm>
            <a:off x="548640" y="1371600"/>
            <a:ext cx="351525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-93"/>
          <p:cNvSpPr txBox="1"/>
          <p:nvPr/>
        </p:nvSpPr>
        <p:spPr>
          <a:xfrm>
            <a:off x="868680" y="1600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0.896</a:t>
            </a:r>
            <a:endParaRPr lang="en-US" sz="5400" dirty="0"/>
          </a:p>
        </p:txBody>
      </p:sp>
      <p:sp>
        <p:nvSpPr>
          <p:cNvPr id="5" name="text-94"/>
          <p:cNvSpPr txBox="1"/>
          <p:nvPr/>
        </p:nvSpPr>
        <p:spPr>
          <a:xfrm>
            <a:off x="868680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Cohen's kappa</a:t>
            </a:r>
            <a:endParaRPr lang="en-US" sz="1800" dirty="0"/>
          </a:p>
        </p:txBody>
      </p:sp>
      <p:sp>
        <p:nvSpPr>
          <p:cNvPr id="6" name="text-95"/>
          <p:cNvSpPr txBox="1"/>
          <p:nvPr/>
        </p:nvSpPr>
        <p:spPr>
          <a:xfrm>
            <a:off x="868680" y="315468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400 items reassigned in shuffled batches: 90.7% keep their label. Weakest on small dimensions (accounting 0.62, financing 0.67).</a:t>
            </a:r>
            <a:endParaRPr lang="en-US" sz="1400" dirty="0"/>
          </a:p>
        </p:txBody>
      </p:sp>
      <p:sp>
        <p:nvSpPr>
          <p:cNvPr id="7" name="card-96"/>
          <p:cNvSpPr/>
          <p:nvPr/>
        </p:nvSpPr>
        <p:spPr>
          <a:xfrm>
            <a:off x="4338218" y="1371600"/>
            <a:ext cx="351525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text-97"/>
          <p:cNvSpPr txBox="1"/>
          <p:nvPr/>
        </p:nvSpPr>
        <p:spPr>
          <a:xfrm>
            <a:off x="4658258" y="1600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91.7%</a:t>
            </a:r>
            <a:endParaRPr lang="en-US" sz="5400" dirty="0"/>
          </a:p>
        </p:txBody>
      </p:sp>
      <p:sp>
        <p:nvSpPr>
          <p:cNvPr id="9" name="text-98"/>
          <p:cNvSpPr txBox="1"/>
          <p:nvPr/>
        </p:nvSpPr>
        <p:spPr>
          <a:xfrm>
            <a:off x="4658258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v1 and v2 agree</a:t>
            </a:r>
            <a:endParaRPr lang="en-US" sz="1800" dirty="0"/>
          </a:p>
        </p:txBody>
      </p:sp>
      <p:sp>
        <p:nvSpPr>
          <p:cNvPr id="10" name="text-99"/>
          <p:cNvSpPr txBox="1"/>
          <p:nvPr/>
        </p:nvSpPr>
        <p:spPr>
          <a:xfrm>
            <a:off x="4658258" y="315468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as a plain rerun of v1, so refining again would mostly add item-specific rules.</a:t>
            </a:r>
            <a:endParaRPr lang="en-US" sz="1400" dirty="0"/>
          </a:p>
        </p:txBody>
      </p:sp>
      <p:sp>
        <p:nvSpPr>
          <p:cNvPr id="11" name="card-100"/>
          <p:cNvSpPr/>
          <p:nvPr/>
        </p:nvSpPr>
        <p:spPr>
          <a:xfrm>
            <a:off x="8127797" y="1371600"/>
            <a:ext cx="3515258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2" name="text-101"/>
          <p:cNvSpPr txBox="1"/>
          <p:nvPr/>
        </p:nvSpPr>
        <p:spPr>
          <a:xfrm>
            <a:off x="8447837" y="16002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87.6%</a:t>
            </a:r>
            <a:endParaRPr lang="en-US" sz="5400" dirty="0"/>
          </a:p>
        </p:txBody>
      </p:sp>
      <p:sp>
        <p:nvSpPr>
          <p:cNvPr id="13" name="text-102"/>
          <p:cNvSpPr txBox="1"/>
          <p:nvPr/>
        </p:nvSpPr>
        <p:spPr>
          <a:xfrm>
            <a:off x="8447837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Independent taxonomy</a:t>
            </a:r>
            <a:endParaRPr lang="en-US" sz="1800" dirty="0"/>
          </a:p>
        </p:txBody>
      </p:sp>
      <p:sp>
        <p:nvSpPr>
          <p:cNvPr id="14" name="text-103"/>
          <p:cNvSpPr txBox="1"/>
          <p:nvPr/>
        </p:nvSpPr>
        <p:spPr>
          <a:xfrm>
            <a:off x="8447837" y="315468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Items in matching families once forward guidance is set aside (overall NMI 0.64).</a:t>
            </a:r>
            <a:endParaRPr lang="en-US" sz="1400" dirty="0"/>
          </a:p>
        </p:txBody>
      </p:sp>
      <p:sp>
        <p:nvSpPr>
          <p:cNvPr id="15" name="card-104"/>
          <p:cNvSpPr/>
          <p:nvPr/>
        </p:nvSpPr>
        <p:spPr>
          <a:xfrm>
            <a:off x="548640" y="498348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16" name="text-105"/>
          <p:cNvSpPr txBox="1"/>
          <p:nvPr/>
        </p:nvSpPr>
        <p:spPr>
          <a:xfrm>
            <a:off x="868680" y="512064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The one design split: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v2 keeps forecasts in their own forward_guidance dimension; the independent taxonomy files them under the metric they forecast. Kept as v2: forward guidance shows the strongest signal when present (0.46).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v2: four dimensions carry most of the signal</a:t>
            </a:r>
            <a:endParaRPr lang="en-US" sz="3200" dirty="0"/>
          </a:p>
        </p:txBody>
      </p:sp>
      <p:graphicFrame>
        <p:nvGraphicFramePr>
          <p:cNvPr id="3" name="chart-106" descr=""/>
          <p:cNvGraphicFramePr/>
          <p:nvPr/>
        </p:nvGraphicFramePr>
        <p:xfrm>
          <a:off x="548640" y="1234440"/>
          <a:ext cx="758952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107"/>
          <p:cNvSpPr txBox="1"/>
          <p:nvPr/>
        </p:nvSpPr>
        <p:spPr>
          <a:xfrm>
            <a:off x="8503920" y="1417320"/>
            <a:ext cx="3139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5" name="text-108"/>
          <p:cNvSpPr txBox="1"/>
          <p:nvPr/>
        </p:nvSpPr>
        <p:spPr>
          <a:xfrm>
            <a:off x="8503920" y="2377440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dimensions, 3,895 items, 1 in 'other'</a:t>
            </a:r>
            <a:endParaRPr lang="en-US" sz="1400" dirty="0"/>
          </a:p>
        </p:txBody>
      </p:sp>
      <p:sp>
        <p:nvSpPr>
          <p:cNvPr id="6" name="text-109"/>
          <p:cNvSpPr txBox="1"/>
          <p:nvPr/>
        </p:nvSpPr>
        <p:spPr>
          <a:xfrm>
            <a:off x="8503920" y="3154680"/>
            <a:ext cx="31391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Guidance, revenue, profitability and EPS hold most of the signal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dimensions appear early in each surprise 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Exploratory: measured on the discovery events the taxonomy was built from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Planned agent: two LLM calls, then a trained model</a:t>
            </a:r>
            <a:endParaRPr lang="en-US" sz="3200" dirty="0"/>
          </a:p>
        </p:txBody>
      </p:sp>
      <p:sp>
        <p:nvSpPr>
          <p:cNvPr id="3" name="card-110"/>
          <p:cNvSpPr/>
          <p:nvPr/>
        </p:nvSpPr>
        <p:spPr>
          <a:xfrm>
            <a:off x="548640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accent5"/>
          </a:solidFill>
          <a:ln/>
        </p:spPr>
      </p:sp>
      <p:sp>
        <p:nvSpPr>
          <p:cNvPr id="4" name="text-111"/>
          <p:cNvSpPr txBox="1"/>
          <p:nvPr/>
        </p:nvSpPr>
        <p:spPr>
          <a:xfrm>
            <a:off x="731520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in modal_app.py</a:t>
            </a:r>
            <a:endParaRPr lang="en-US" sz="1100" dirty="0"/>
          </a:p>
        </p:txBody>
      </p:sp>
      <p:sp>
        <p:nvSpPr>
          <p:cNvPr id="5" name="text-112"/>
          <p:cNvSpPr txBox="1"/>
          <p:nvPr/>
        </p:nvSpPr>
        <p:spPr>
          <a:xfrm>
            <a:off x="731520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webhook</a:t>
            </a:r>
            <a:endParaRPr lang="en-US" sz="1700" dirty="0"/>
          </a:p>
        </p:txBody>
      </p:sp>
      <p:sp>
        <p:nvSpPr>
          <p:cNvPr id="6" name="text-113"/>
          <p:cNvSpPr txBox="1"/>
          <p:nvPr/>
        </p:nvSpPr>
        <p:spPr>
          <a:xfrm>
            <a:off x="731520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Verified payload; materials bundle; 5-minute window</a:t>
            </a:r>
            <a:endParaRPr lang="en-US" sz="1300" dirty="0"/>
          </a:p>
        </p:txBody>
      </p:sp>
      <p:sp>
        <p:nvSpPr>
          <p:cNvPr id="7" name="arrow-114"/>
          <p:cNvSpPr/>
          <p:nvPr/>
        </p:nvSpPr>
        <p:spPr>
          <a:xfrm>
            <a:off x="2208733" y="3035808"/>
            <a:ext cx="182880" cy="23774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8" name="card-115"/>
          <p:cNvSpPr/>
          <p:nvPr/>
        </p:nvSpPr>
        <p:spPr>
          <a:xfrm>
            <a:off x="2446477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accent5"/>
          </a:solidFill>
          <a:ln/>
        </p:spPr>
      </p:sp>
      <p:sp>
        <p:nvSpPr>
          <p:cNvPr id="9" name="text-116"/>
          <p:cNvSpPr txBox="1"/>
          <p:nvPr/>
        </p:nvSpPr>
        <p:spPr>
          <a:xfrm>
            <a:off x="2629357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code exists</a:t>
            </a:r>
            <a:endParaRPr lang="en-US" sz="1100" dirty="0"/>
          </a:p>
        </p:txBody>
      </p:sp>
      <p:sp>
        <p:nvSpPr>
          <p:cNvPr id="10" name="text-117"/>
          <p:cNvSpPr txBox="1"/>
          <p:nvPr/>
        </p:nvSpPr>
        <p:spPr>
          <a:xfrm>
            <a:off x="2629357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surprises</a:t>
            </a:r>
            <a:endParaRPr lang="en-US" sz="1700" dirty="0"/>
          </a:p>
        </p:txBody>
      </p:sp>
      <p:sp>
        <p:nvSpPr>
          <p:cNvPr id="11" name="text-118"/>
          <p:cNvSpPr txBox="1"/>
          <p:nvPr/>
        </p:nvSpPr>
        <p:spPr>
          <a:xfrm>
            <a:off x="2629357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 call, same prompt and settings as discovery</a:t>
            </a:r>
            <a:endParaRPr lang="en-US" sz="1300" dirty="0"/>
          </a:p>
        </p:txBody>
      </p:sp>
      <p:sp>
        <p:nvSpPr>
          <p:cNvPr id="12" name="arrow-119"/>
          <p:cNvSpPr/>
          <p:nvPr/>
        </p:nvSpPr>
        <p:spPr>
          <a:xfrm>
            <a:off x="4106570" y="3035808"/>
            <a:ext cx="182880" cy="23774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3" name="card-120"/>
          <p:cNvSpPr/>
          <p:nvPr/>
        </p:nvSpPr>
        <p:spPr>
          <a:xfrm>
            <a:off x="4344314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accent5"/>
          </a:solidFill>
          <a:ln/>
        </p:spPr>
      </p:sp>
      <p:sp>
        <p:nvSpPr>
          <p:cNvPr id="14" name="text-121"/>
          <p:cNvSpPr txBox="1"/>
          <p:nvPr/>
        </p:nvSpPr>
        <p:spPr>
          <a:xfrm>
            <a:off x="4527194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code exists</a:t>
            </a:r>
            <a:endParaRPr lang="en-US" sz="1100" dirty="0"/>
          </a:p>
        </p:txBody>
      </p:sp>
      <p:sp>
        <p:nvSpPr>
          <p:cNvPr id="15" name="text-122"/>
          <p:cNvSpPr txBox="1"/>
          <p:nvPr/>
        </p:nvSpPr>
        <p:spPr>
          <a:xfrm>
            <a:off x="4527194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into v2</a:t>
            </a:r>
            <a:endParaRPr lang="en-US" sz="1700" dirty="0"/>
          </a:p>
        </p:txBody>
      </p:sp>
      <p:sp>
        <p:nvSpPr>
          <p:cNvPr id="16" name="text-123"/>
          <p:cNvSpPr txBox="1"/>
          <p:nvPr/>
        </p:nvSpPr>
        <p:spPr>
          <a:xfrm>
            <a:off x="4527194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 call; each surprise to a v2 dimension</a:t>
            </a:r>
            <a:endParaRPr lang="en-US" sz="1300" dirty="0"/>
          </a:p>
        </p:txBody>
      </p:sp>
      <p:sp>
        <p:nvSpPr>
          <p:cNvPr id="17" name="arrow-124"/>
          <p:cNvSpPr/>
          <p:nvPr/>
        </p:nvSpPr>
        <p:spPr>
          <a:xfrm>
            <a:off x="6004408" y="3035808"/>
            <a:ext cx="182880" cy="23774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8" name="card-125"/>
          <p:cNvSpPr/>
          <p:nvPr/>
        </p:nvSpPr>
        <p:spPr>
          <a:xfrm>
            <a:off x="6242152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bg1"/>
          </a:solidFill>
          <a:ln w="12700">
            <a:solidFill>
              <a:srgbClr val="C2410C"/>
            </a:solidFill>
            <a:prstDash val="dash"/>
          </a:ln>
        </p:spPr>
      </p:sp>
      <p:sp>
        <p:nvSpPr>
          <p:cNvPr id="19" name="text-126"/>
          <p:cNvSpPr txBox="1"/>
          <p:nvPr/>
        </p:nvSpPr>
        <p:spPr>
          <a:xfrm>
            <a:off x="6425032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planned</a:t>
            </a:r>
            <a:endParaRPr lang="en-US" sz="1100" dirty="0"/>
          </a:p>
        </p:txBody>
      </p:sp>
      <p:sp>
        <p:nvSpPr>
          <p:cNvPr id="20" name="text-127"/>
          <p:cNvSpPr txBox="1"/>
          <p:nvPr/>
        </p:nvSpPr>
        <p:spPr>
          <a:xfrm>
            <a:off x="6425032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</a:t>
            </a:r>
            <a:endParaRPr lang="en-US" sz="1700" dirty="0"/>
          </a:p>
        </p:txBody>
      </p:sp>
      <p:sp>
        <p:nvSpPr>
          <p:cNvPr id="21" name="text-128"/>
          <p:cNvSpPr txBox="1"/>
          <p:nvPr/>
        </p:nvSpPr>
        <p:spPr>
          <a:xfrm>
            <a:off x="6425032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Your plan: counts per direction x magnitude x dimension</a:t>
            </a:r>
            <a:endParaRPr lang="en-US" sz="1300" dirty="0"/>
          </a:p>
        </p:txBody>
      </p:sp>
      <p:sp>
        <p:nvSpPr>
          <p:cNvPr id="22" name="arrow-129"/>
          <p:cNvSpPr/>
          <p:nvPr/>
        </p:nvSpPr>
        <p:spPr>
          <a:xfrm>
            <a:off x="7902245" y="3035808"/>
            <a:ext cx="182880" cy="23774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3" name="card-130"/>
          <p:cNvSpPr/>
          <p:nvPr/>
        </p:nvSpPr>
        <p:spPr>
          <a:xfrm>
            <a:off x="8139989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bg1"/>
          </a:solidFill>
          <a:ln w="12700">
            <a:solidFill>
              <a:srgbClr val="C2410C"/>
            </a:solidFill>
            <a:prstDash val="dash"/>
          </a:ln>
        </p:spPr>
      </p:sp>
      <p:sp>
        <p:nvSpPr>
          <p:cNvPr id="24" name="text-131"/>
          <p:cNvSpPr txBox="1"/>
          <p:nvPr/>
        </p:nvSpPr>
        <p:spPr>
          <a:xfrm>
            <a:off x="8322869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planned</a:t>
            </a:r>
            <a:endParaRPr lang="en-US" sz="1100" dirty="0"/>
          </a:p>
        </p:txBody>
      </p:sp>
      <p:sp>
        <p:nvSpPr>
          <p:cNvPr id="25" name="text-132"/>
          <p:cNvSpPr txBox="1"/>
          <p:nvPr/>
        </p:nvSpPr>
        <p:spPr>
          <a:xfrm>
            <a:off x="8322869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model</a:t>
            </a:r>
            <a:endParaRPr lang="en-US" sz="1700" dirty="0"/>
          </a:p>
        </p:txBody>
      </p:sp>
      <p:sp>
        <p:nvSpPr>
          <p:cNvPr id="26" name="text-133"/>
          <p:cNvSpPr txBox="1"/>
          <p:nvPr/>
        </p:nvSpPr>
        <p:spPr>
          <a:xfrm>
            <a:off x="8322869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Your plan: GBM or ridge on the 500 events, 'delta R2' target</a:t>
            </a:r>
            <a:endParaRPr lang="en-US" sz="1300" dirty="0"/>
          </a:p>
        </p:txBody>
      </p:sp>
      <p:sp>
        <p:nvSpPr>
          <p:cNvPr id="27" name="arrow-134"/>
          <p:cNvSpPr/>
          <p:nvPr/>
        </p:nvSpPr>
        <p:spPr>
          <a:xfrm>
            <a:off x="9800082" y="3035808"/>
            <a:ext cx="182880" cy="237744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8" name="card-135"/>
          <p:cNvSpPr/>
          <p:nvPr/>
        </p:nvSpPr>
        <p:spPr>
          <a:xfrm>
            <a:off x="10037826" y="1645920"/>
            <a:ext cx="1605229" cy="3017520"/>
          </a:xfrm>
          <a:prstGeom prst="roundRect">
            <a:avLst>
              <a:gd name="adj" fmla="val 4557"/>
            </a:avLst>
          </a:prstGeom>
          <a:solidFill>
            <a:schemeClr val="bg1"/>
          </a:solidFill>
          <a:ln w="12700">
            <a:solidFill>
              <a:srgbClr val="C2410C"/>
            </a:solidFill>
            <a:prstDash val="dash"/>
          </a:ln>
        </p:spPr>
      </p:sp>
      <p:sp>
        <p:nvSpPr>
          <p:cNvPr id="29" name="text-136"/>
          <p:cNvSpPr txBox="1"/>
          <p:nvPr/>
        </p:nvSpPr>
        <p:spPr>
          <a:xfrm>
            <a:off x="10220706" y="1828800"/>
            <a:ext cx="1239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planned</a:t>
            </a:r>
            <a:endParaRPr lang="en-US" sz="1100" dirty="0"/>
          </a:p>
        </p:txBody>
      </p:sp>
      <p:sp>
        <p:nvSpPr>
          <p:cNvPr id="30" name="text-137"/>
          <p:cNvSpPr txBox="1"/>
          <p:nvPr/>
        </p:nvSpPr>
        <p:spPr>
          <a:xfrm>
            <a:off x="10220706" y="2194560"/>
            <a:ext cx="1239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</a:t>
            </a:r>
            <a:endParaRPr lang="en-US" sz="1700" dirty="0"/>
          </a:p>
        </p:txBody>
      </p:sp>
      <p:sp>
        <p:nvSpPr>
          <p:cNvPr id="31" name="text-138"/>
          <p:cNvSpPr txBox="1"/>
          <p:nvPr/>
        </p:nvSpPr>
        <p:spPr>
          <a:xfrm>
            <a:off x="10220706" y="2926080"/>
            <a:ext cx="123946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value per focal asset; fall back to net score, then 0.5</a:t>
            </a:r>
            <a:endParaRPr lang="en-US" sz="1300" dirty="0"/>
          </a:p>
        </p:txBody>
      </p:sp>
      <p:sp>
        <p:nvSpPr>
          <p:cNvPr id="32" name="text-139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Steps 2-3 reuse the discovery pipeline exactly, so live features are produced the same way as training features. Not yet wired into predict.py, which still runs the earlier proposer/critic agent.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changes before building the model step</a:t>
            </a:r>
            <a:endParaRPr lang="en-US" sz="3200" dirty="0"/>
          </a:p>
        </p:txBody>
      </p:sp>
      <p:sp>
        <p:nvSpPr>
          <p:cNvPr id="3" name="card-14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4" name="dot-141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-142"/>
          <p:cNvSpPr txBox="1"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143"/>
          <p:cNvSpPr txBox="1"/>
          <p:nvPr/>
        </p:nvSpPr>
        <p:spPr>
          <a:xfrm>
            <a:off x="1371600" y="160020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vector</a:t>
            </a:r>
            <a:endParaRPr lang="en-US" sz="1800" dirty="0"/>
          </a:p>
        </p:txBody>
      </p:sp>
      <p:sp>
        <p:nvSpPr>
          <p:cNvPr id="7" name="text-144"/>
          <p:cNvSpPr txBox="1"/>
          <p:nvPr/>
        </p:nvSpPr>
        <p:spPr>
          <a:xfrm>
            <a:off x="822960" y="21945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192 combinations, 95% zeros. Use about 20-35 dense features: weighted net per dimension, totals, first-3 net, option-implied move.</a:t>
            </a:r>
            <a:endParaRPr lang="en-US" sz="1400" dirty="0"/>
          </a:p>
        </p:txBody>
      </p:sp>
      <p:sp>
        <p:nvSpPr>
          <p:cNvPr id="8" name="card-145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dot-146"/>
          <p:cNvSpPr/>
          <p:nvPr/>
        </p:nvSpPr>
        <p:spPr>
          <a:xfrm>
            <a:off x="4612538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-147"/>
          <p:cNvSpPr txBox="1"/>
          <p:nvPr/>
        </p:nvSpPr>
        <p:spPr>
          <a:xfrm>
            <a:off x="461253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148"/>
          <p:cNvSpPr txBox="1"/>
          <p:nvPr/>
        </p:nvSpPr>
        <p:spPr>
          <a:xfrm>
            <a:off x="5161178" y="160020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</a:t>
            </a:r>
            <a:endParaRPr lang="en-US" sz="1800" dirty="0"/>
          </a:p>
        </p:txBody>
      </p:sp>
      <p:sp>
        <p:nvSpPr>
          <p:cNvPr id="12" name="text-149"/>
          <p:cNvSpPr txBox="1"/>
          <p:nvPr/>
        </p:nvSpPr>
        <p:spPr>
          <a:xfrm>
            <a:off x="4612538" y="21945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500 events is small and built the taxonomy. Add the 576 train_rest events; train on all 1,076 with time-ordered CV.</a:t>
            </a:r>
            <a:endParaRPr lang="en-US" sz="1400" dirty="0"/>
          </a:p>
        </p:txBody>
      </p:sp>
      <p:sp>
        <p:nvSpPr>
          <p:cNvPr id="13" name="card-150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4" name="dot-151"/>
          <p:cNvSpPr/>
          <p:nvPr/>
        </p:nvSpPr>
        <p:spPr>
          <a:xfrm>
            <a:off x="8402117" y="16002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-152"/>
          <p:cNvSpPr txBox="1"/>
          <p:nvPr/>
        </p:nvSpPr>
        <p:spPr>
          <a:xfrm>
            <a:off x="8402117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153"/>
          <p:cNvSpPr txBox="1"/>
          <p:nvPr/>
        </p:nvSpPr>
        <p:spPr>
          <a:xfrm>
            <a:off x="8950757" y="160020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800" dirty="0"/>
          </a:p>
        </p:txBody>
      </p:sp>
      <p:sp>
        <p:nvSpPr>
          <p:cNvPr id="17" name="text-154"/>
          <p:cNvSpPr txBox="1"/>
          <p:nvPr/>
        </p:nvSpPr>
        <p:spPr>
          <a:xfrm>
            <a:off x="8402117" y="21945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R2 is a fit measure, not a target. Use car1's within-quarter rank scaled to [0, 1]; evaluate with Spearman.</a:t>
            </a:r>
            <a:endParaRPr lang="en-US" sz="1400" dirty="0"/>
          </a:p>
        </p:txBody>
      </p:sp>
      <p:sp>
        <p:nvSpPr>
          <p:cNvPr id="18" name="card-155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9" name="dot-156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-157"/>
          <p:cNvSpPr txBox="1"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158"/>
          <p:cNvSpPr txBox="1"/>
          <p:nvPr/>
        </p:nvSpPr>
        <p:spPr>
          <a:xfrm>
            <a:off x="1371600" y="416052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2" name="text-159"/>
          <p:cNvSpPr txBox="1"/>
          <p:nvPr/>
        </p:nvSpPr>
        <p:spPr>
          <a:xfrm>
            <a:off x="822960" y="475488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Ridge first. GBM only shallow and monotone, and only if it beats ridge. Both must beat net (0.465).</a:t>
            </a:r>
            <a:endParaRPr lang="en-US" sz="1400" dirty="0"/>
          </a:p>
        </p:txBody>
      </p:sp>
      <p:sp>
        <p:nvSpPr>
          <p:cNvPr id="23" name="card-160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4" name="dot-161"/>
          <p:cNvSpPr/>
          <p:nvPr/>
        </p:nvSpPr>
        <p:spPr>
          <a:xfrm>
            <a:off x="4612538" y="4160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-162"/>
          <p:cNvSpPr txBox="1"/>
          <p:nvPr/>
        </p:nvSpPr>
        <p:spPr>
          <a:xfrm>
            <a:off x="461253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-163"/>
          <p:cNvSpPr txBox="1"/>
          <p:nvPr/>
        </p:nvSpPr>
        <p:spPr>
          <a:xfrm>
            <a:off x="5161178" y="416052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preview</a:t>
            </a:r>
            <a:endParaRPr lang="en-US" sz="1800" dirty="0"/>
          </a:p>
        </p:txBody>
      </p:sp>
      <p:sp>
        <p:nvSpPr>
          <p:cNvPr id="27" name="text-164"/>
          <p:cNvSpPr txBox="1"/>
          <p:nvPr/>
        </p:nvSpPr>
        <p:spPr>
          <a:xfrm>
            <a:off x="4612538" y="475488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42% of Q3 events lack a preview and the prompt would fail. Add a no-preview variant and a has-preview flag.</a:t>
            </a:r>
            <a:endParaRPr lang="en-US" sz="1400" dirty="0"/>
          </a:p>
        </p:txBody>
      </p:sp>
      <p:sp>
        <p:nvSpPr>
          <p:cNvPr id="28" name="card-16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9" name="dot-166"/>
          <p:cNvSpPr/>
          <p:nvPr/>
        </p:nvSpPr>
        <p:spPr>
          <a:xfrm>
            <a:off x="8402117" y="4160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-167"/>
          <p:cNvSpPr txBox="1"/>
          <p:nvPr/>
        </p:nvSpPr>
        <p:spPr>
          <a:xfrm>
            <a:off x="8402117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-168"/>
          <p:cNvSpPr txBox="1"/>
          <p:nvPr/>
        </p:nvSpPr>
        <p:spPr>
          <a:xfrm>
            <a:off x="8950757" y="4160520"/>
            <a:ext cx="2417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800" dirty="0"/>
          </a:p>
        </p:txBody>
      </p:sp>
      <p:sp>
        <p:nvSpPr>
          <p:cNvPr id="32" name="text-169"/>
          <p:cNvSpPr txBox="1"/>
          <p:nvPr/>
        </p:nvSpPr>
        <p:spPr>
          <a:xfrm>
            <a:off x="8402117" y="475488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Pin gpt-6-luna and the prompts once training starts; dense scores absorb the 10% label noise.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Settings and files</a:t>
            </a:r>
            <a:endParaRPr lang="en-US" sz="3200" dirty="0"/>
          </a:p>
        </p:txBody>
      </p:sp>
      <p:graphicFrame>
        <p:nvGraphicFramePr>
          <p:cNvPr id="11" name="table-1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914400"/>
                <a:gridCol w="2377440"/>
                <a:gridCol w="396209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 / workers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gpt-6-luna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event per call, 8 workers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data/surprise/&lt;set&gt;_extractions.jsonl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proposal / refinement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gpt-6.1-sol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call per 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data/surprise/taxonomy/taxonomy_&lt;version&gt;.json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gpt-6-luna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items per call, 8 workers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taxonomy/assignments_&lt;version&gt;[_&lt;set&gt;].jsonl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data/surprise/surprises_v2.csv (one row per surprise)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-171"/>
          <p:cNvSpPr/>
          <p:nvPr/>
        </p:nvSpPr>
        <p:spPr>
          <a:xfrm>
            <a:off x="548640" y="470916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text-172"/>
          <p:cNvSpPr txBox="1"/>
          <p:nvPr/>
        </p:nvSpPr>
        <p:spPr>
          <a:xfrm>
            <a:off x="868680" y="489204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Code 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src/suprise_dim/: data, extraction, grouping, dataset, prompts, schemas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Driver 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script/suprise_dim_discovery.ipynb (sections 1-5)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3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card-174"/>
          <p:cNvSpPr/>
          <p:nvPr/>
        </p:nvSpPr>
        <p:spPr>
          <a:xfrm>
            <a:off x="548640" y="1920240"/>
            <a:ext cx="2567864" cy="3566160"/>
          </a:xfrm>
          <a:prstGeom prst="roundRect">
            <a:avLst>
              <a:gd name="adj" fmla="val 2849"/>
            </a:avLst>
          </a:prstGeom>
          <a:solidFill>
            <a:schemeClr val="tx2"/>
          </a:solidFill>
          <a:ln/>
        </p:spPr>
      </p:sp>
      <p:sp>
        <p:nvSpPr>
          <p:cNvPr id="4" name="text-175"/>
          <p:cNvSpPr txBox="1"/>
          <p:nvPr/>
        </p:nvSpPr>
        <p:spPr>
          <a:xfrm>
            <a:off x="822960" y="21488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-176"/>
          <p:cNvSpPr txBox="1"/>
          <p:nvPr/>
        </p:nvSpPr>
        <p:spPr>
          <a:xfrm>
            <a:off x="822960" y="2926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Extend</a:t>
            </a:r>
            <a:endParaRPr lang="en-US" sz="2000" dirty="0"/>
          </a:p>
        </p:txBody>
      </p:sp>
      <p:sp>
        <p:nvSpPr>
          <p:cNvPr id="6" name="text-177"/>
          <p:cNvSpPr txBox="1"/>
          <p:nvPr/>
        </p:nvSpPr>
        <p:spPr>
          <a:xfrm>
            <a:off x="822960" y="3474720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Run notebook section 5: extract and classify train_rest (576) and test (289); build surprises_v2.csv.</a:t>
            </a:r>
            <a:endParaRPr lang="en-US" sz="1500" dirty="0"/>
          </a:p>
        </p:txBody>
      </p:sp>
      <p:sp>
        <p:nvSpPr>
          <p:cNvPr id="7" name="card-178"/>
          <p:cNvSpPr/>
          <p:nvPr/>
        </p:nvSpPr>
        <p:spPr>
          <a:xfrm>
            <a:off x="3390824" y="1920240"/>
            <a:ext cx="2567864" cy="3566160"/>
          </a:xfrm>
          <a:prstGeom prst="roundRect">
            <a:avLst>
              <a:gd name="adj" fmla="val 2849"/>
            </a:avLst>
          </a:prstGeom>
          <a:solidFill>
            <a:schemeClr val="tx2"/>
          </a:solidFill>
          <a:ln/>
        </p:spPr>
      </p:sp>
      <p:sp>
        <p:nvSpPr>
          <p:cNvPr id="8" name="text-179"/>
          <p:cNvSpPr txBox="1"/>
          <p:nvPr/>
        </p:nvSpPr>
        <p:spPr>
          <a:xfrm>
            <a:off x="3665144" y="21488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-180"/>
          <p:cNvSpPr txBox="1"/>
          <p:nvPr/>
        </p:nvSpPr>
        <p:spPr>
          <a:xfrm>
            <a:off x="3665144" y="2926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Model</a:t>
            </a:r>
            <a:endParaRPr lang="en-US" sz="2000" dirty="0"/>
          </a:p>
        </p:txBody>
      </p:sp>
      <p:sp>
        <p:nvSpPr>
          <p:cNvPr id="10" name="text-181"/>
          <p:cNvSpPr txBox="1"/>
          <p:nvPr/>
        </p:nvSpPr>
        <p:spPr>
          <a:xfrm>
            <a:off x="3665144" y="3474720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Build dense features; fit ridge (and constrained GBM) on 1,076 train events with time-ordered CV.</a:t>
            </a:r>
            <a:endParaRPr lang="en-US" sz="1500" dirty="0"/>
          </a:p>
        </p:txBody>
      </p:sp>
      <p:sp>
        <p:nvSpPr>
          <p:cNvPr id="11" name="card-182"/>
          <p:cNvSpPr/>
          <p:nvPr/>
        </p:nvSpPr>
        <p:spPr>
          <a:xfrm>
            <a:off x="6233008" y="1920240"/>
            <a:ext cx="2567864" cy="3566160"/>
          </a:xfrm>
          <a:prstGeom prst="roundRect">
            <a:avLst>
              <a:gd name="adj" fmla="val 2849"/>
            </a:avLst>
          </a:prstGeom>
          <a:solidFill>
            <a:schemeClr val="tx2"/>
          </a:solidFill>
          <a:ln/>
        </p:spPr>
      </p:sp>
      <p:sp>
        <p:nvSpPr>
          <p:cNvPr id="12" name="text-183"/>
          <p:cNvSpPr txBox="1"/>
          <p:nvPr/>
        </p:nvSpPr>
        <p:spPr>
          <a:xfrm>
            <a:off x="6507328" y="21488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-184"/>
          <p:cNvSpPr txBox="1"/>
          <p:nvPr/>
        </p:nvSpPr>
        <p:spPr>
          <a:xfrm>
            <a:off x="6507328" y="2926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Test once</a:t>
            </a:r>
            <a:endParaRPr lang="en-US" sz="2000" dirty="0"/>
          </a:p>
        </p:txBody>
      </p:sp>
      <p:sp>
        <p:nvSpPr>
          <p:cNvPr id="14" name="text-185"/>
          <p:cNvSpPr txBox="1"/>
          <p:nvPr/>
        </p:nvSpPr>
        <p:spPr>
          <a:xfrm>
            <a:off x="6507328" y="3474720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Freeze the model, then score the 289 test events against the baselines.</a:t>
            </a:r>
            <a:endParaRPr lang="en-US" sz="1500" dirty="0"/>
          </a:p>
        </p:txBody>
      </p:sp>
      <p:sp>
        <p:nvSpPr>
          <p:cNvPr id="15" name="card-186"/>
          <p:cNvSpPr/>
          <p:nvPr/>
        </p:nvSpPr>
        <p:spPr>
          <a:xfrm>
            <a:off x="9075191" y="1920240"/>
            <a:ext cx="2567864" cy="3566160"/>
          </a:xfrm>
          <a:prstGeom prst="roundRect">
            <a:avLst>
              <a:gd name="adj" fmla="val 2849"/>
            </a:avLst>
          </a:prstGeom>
          <a:solidFill>
            <a:schemeClr val="tx2"/>
          </a:solidFill>
          <a:ln/>
        </p:spPr>
      </p:sp>
      <p:sp>
        <p:nvSpPr>
          <p:cNvPr id="16" name="text-187"/>
          <p:cNvSpPr txBox="1"/>
          <p:nvPr/>
        </p:nvSpPr>
        <p:spPr>
          <a:xfrm>
            <a:off x="9349511" y="21488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-188"/>
          <p:cNvSpPr txBox="1"/>
          <p:nvPr/>
        </p:nvSpPr>
        <p:spPr>
          <a:xfrm>
            <a:off x="9349511" y="29260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Deploy</a:t>
            </a:r>
            <a:endParaRPr lang="en-US" sz="2000" dirty="0"/>
          </a:p>
        </p:txBody>
      </p:sp>
      <p:sp>
        <p:nvSpPr>
          <p:cNvPr id="18" name="text-189"/>
          <p:cNvSpPr txBox="1"/>
          <p:nvPr/>
        </p:nvSpPr>
        <p:spPr>
          <a:xfrm>
            <a:off x="9349511" y="3474720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Add the no-preview path and wire extraction, classification, features and model into predict.py.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548640" y="21031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54864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rprise Pipeline">
  <a:themeElements>
    <a:clrScheme name="Surprise Pipeline">
      <a:dk1>
        <a:srgbClr val="1B2430"/>
      </a:dk1>
      <a:lt1>
        <a:srgbClr val="FFFFFF"/>
      </a:lt1>
      <a:dk2>
        <a:srgbClr val="3E4C5E"/>
      </a:dk2>
      <a:lt2>
        <a:srgbClr val="EEF2F6"/>
      </a:lt2>
      <a:accent1>
        <a:srgbClr val="0F766E"/>
      </a:accent1>
      <a:accent2>
        <a:srgbClr val="C2410C"/>
      </a:accent2>
      <a:accent3>
        <a:srgbClr val="64748B"/>
      </a:accent3>
      <a:accent4>
        <a:srgbClr val="B91C1C"/>
      </a:accent4>
      <a:accent5>
        <a:srgbClr val="CCE7E4"/>
      </a:accent5>
      <a:accent6>
        <a:srgbClr val="FCE7D6"/>
      </a:accent6>
      <a:hlink>
        <a:srgbClr val="0F766E"/>
      </a:hlink>
      <a:folHlink>
        <a:srgbClr val="64748B"/>
      </a:folHlink>
    </a:clrScheme>
    <a:fontScheme name="Surprise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Surprise-Taxonomy Pipeline and Agent Workflow</dc:title>
  <dc:subject>PptxGenJS Presentation</dc:subject>
  <dc:creator>Yuhao Huo</dc:creator>
  <cp:lastModifiedBy>Yuhao Huo</cp:lastModifiedBy>
  <cp:revision>1</cp:revision>
  <dcterms:created xsi:type="dcterms:W3CDTF">2026-10-24T05:20:56Z</dcterms:created>
  <dcterms:modified xsi:type="dcterms:W3CDTF">2026-10-24T05:20:56Z</dcterms:modified>
</cp:coreProperties>
</file>
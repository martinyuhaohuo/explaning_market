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2" r:id="rId1"/>
  </p:sldMasterIdLst>
  <p:notesMasterIdLst>
    <p:notesMasterId r:id="rId7"/>
  </p:notesMasterIdLst>
  <p:sldIdLst>
    <p:sldId id="258" r:id="rId2"/>
    <p:sldId id="260" r:id="rId3"/>
    <p:sldId id="261" r:id="rId4"/>
    <p:sldId id="262" r:id="rId5"/>
    <p:sldId id="263" r:id="rId12"/>
    <p:sldId id="259" r:id="rId6"/>
  </p:sldIdLst>
  <p:sldSz cx="12801600" cy="9601200" type="A3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t Pipeline" id="{E011FA80-4ACE-2B68-A981-E4167B8791B1}">
          <p14:sldIdLst>
            <p14:sldId id="258"/>
            <p14:sldId id="260"/>
            <p14:sldId id="261"/>
            <p14:sldId id="262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98"/>
    <p:restoredTop sz="94610"/>
  </p:normalViewPr>
  <p:slideViewPr>
    <p:cSldViewPr snapToGrid="0" snapToObjects="1">
      <p:cViewPr>
        <p:scale>
          <a:sx n="88" d="100"/>
          <a:sy n="88" d="100"/>
        </p:scale>
        <p:origin x="13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  <Relationship Id="rId12" Type="http://schemas.openxmlformats.org/officeDocument/2006/relationships/slide" Target="slides/slide6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2980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1pPr>
    <a:lvl2pPr marL="537667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2pPr>
    <a:lvl3pPr marL="1075334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3pPr>
    <a:lvl4pPr marL="1613002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4pPr>
    <a:lvl5pPr marL="2150669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5pPr>
    <a:lvl6pPr marL="2688336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6pPr>
    <a:lvl7pPr marL="3226003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7pPr>
    <a:lvl8pPr marL="376367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8pPr>
    <a:lvl9pPr marL="4301338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435528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62030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007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94974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90915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704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56775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1951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9728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7558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19635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76072" y="448056"/>
            <a:ext cx="11649136" cy="108813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49136" y="9025128"/>
            <a:ext cx="576072" cy="38404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324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137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</p:sldLayoutIdLst>
  <p:hf sldNum="0" hdr="0" ftr="0" dt="0"/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ard-115">
            <a:extLst>
              <a:ext uri="{FF2B5EF4-FFF2-40B4-BE49-F238E27FC236}">
                <a16:creationId xmlns:a16="http://schemas.microsoft.com/office/drawing/2014/main" id="{1C6191E8-860F-2A5C-2983-80E99F391BEE}"/>
              </a:ext>
            </a:extLst>
          </p:cNvPr>
          <p:cNvSpPr/>
          <p:nvPr/>
        </p:nvSpPr>
        <p:spPr>
          <a:xfrm>
            <a:off x="326071" y="3043952"/>
            <a:ext cx="1605229" cy="2254950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-117">
            <a:extLst>
              <a:ext uri="{FF2B5EF4-FFF2-40B4-BE49-F238E27FC236}">
                <a16:creationId xmlns:a16="http://schemas.microsoft.com/office/drawing/2014/main" id="{71D06F9A-A115-2AD1-7BF3-DAD4A73056FC}"/>
              </a:ext>
            </a:extLst>
          </p:cNvPr>
          <p:cNvSpPr txBox="1"/>
          <p:nvPr/>
        </p:nvSpPr>
        <p:spPr>
          <a:xfrm>
            <a:off x="508951" y="3160332"/>
            <a:ext cx="1239469" cy="685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Extract surprises</a:t>
            </a:r>
            <a:endParaRPr lang="en-US" sz="1700" dirty="0"/>
          </a:p>
        </p:txBody>
      </p:sp>
      <p:sp>
        <p:nvSpPr>
          <p:cNvPr id="32" name="text-118">
            <a:extLst>
              <a:ext uri="{FF2B5EF4-FFF2-40B4-BE49-F238E27FC236}">
                <a16:creationId xmlns:a16="http://schemas.microsoft.com/office/drawing/2014/main" id="{8B8403AD-463A-9092-940A-3EF266A07896}"/>
              </a:ext>
            </a:extLst>
          </p:cNvPr>
          <p:cNvSpPr txBox="1"/>
          <p:nvPr/>
        </p:nvSpPr>
        <p:spPr>
          <a:xfrm>
            <a:off x="508951" y="3795442"/>
            <a:ext cx="1239469" cy="825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gpt-6-luna, medium effort, extract and label </a:t>
            </a:r>
            <a:r>
              <a:rPr lang="en-US" altLang="zh-CN" sz="1300" dirty="0">
                <a:solidFill>
                  <a:schemeClr val="tx2"/>
                </a:solidFill>
              </a:rPr>
              <a:t>the direction, magnitude, and sentiment of the surprise </a:t>
            </a:r>
            <a:endParaRPr lang="en-US" sz="1300" dirty="0"/>
          </a:p>
        </p:txBody>
      </p:sp>
      <p:sp>
        <p:nvSpPr>
          <p:cNvPr id="35" name="card-115">
            <a:extLst>
              <a:ext uri="{FF2B5EF4-FFF2-40B4-BE49-F238E27FC236}">
                <a16:creationId xmlns:a16="http://schemas.microsoft.com/office/drawing/2014/main" id="{F200C82F-F0CE-00FB-C73A-0F747FB15819}"/>
              </a:ext>
            </a:extLst>
          </p:cNvPr>
          <p:cNvSpPr/>
          <p:nvPr/>
        </p:nvSpPr>
        <p:spPr>
          <a:xfrm>
            <a:off x="5171723" y="3051248"/>
            <a:ext cx="1605229" cy="2254950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-117">
            <a:extLst>
              <a:ext uri="{FF2B5EF4-FFF2-40B4-BE49-F238E27FC236}">
                <a16:creationId xmlns:a16="http://schemas.microsoft.com/office/drawing/2014/main" id="{358E4AE3-D4B3-7399-B6E7-F35001BE8FFC}"/>
              </a:ext>
            </a:extLst>
          </p:cNvPr>
          <p:cNvSpPr txBox="1"/>
          <p:nvPr/>
        </p:nvSpPr>
        <p:spPr>
          <a:xfrm>
            <a:off x="5354603" y="3167628"/>
            <a:ext cx="1239469" cy="685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Classify surprises</a:t>
            </a:r>
            <a:endParaRPr lang="en-US" sz="1700" dirty="0"/>
          </a:p>
        </p:txBody>
      </p:sp>
      <p:sp>
        <p:nvSpPr>
          <p:cNvPr id="37" name="text-118">
            <a:extLst>
              <a:ext uri="{FF2B5EF4-FFF2-40B4-BE49-F238E27FC236}">
                <a16:creationId xmlns:a16="http://schemas.microsoft.com/office/drawing/2014/main" id="{839A60A2-4288-5951-A1A7-F6547D665693}"/>
              </a:ext>
            </a:extLst>
          </p:cNvPr>
          <p:cNvSpPr txBox="1"/>
          <p:nvPr/>
        </p:nvSpPr>
        <p:spPr>
          <a:xfrm>
            <a:off x="5354603" y="3853428"/>
            <a:ext cx="1239469" cy="825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gpt-6-luna, </a:t>
            </a:r>
          </a:p>
          <a:p>
            <a:r>
              <a:rPr lang="en-US" sz="1300" dirty="0">
                <a:solidFill>
                  <a:schemeClr val="tx2"/>
                </a:solidFill>
              </a:rPr>
              <a:t>low effort, </a:t>
            </a:r>
          </a:p>
          <a:p>
            <a:r>
              <a:rPr lang="en-US" sz="1300" dirty="0">
                <a:solidFill>
                  <a:schemeClr val="tx2"/>
                </a:solidFill>
              </a:rPr>
              <a:t>classify each surprise into a category based on the taxonomy</a:t>
            </a:r>
            <a:endParaRPr lang="en-US" sz="1300" dirty="0"/>
          </a:p>
        </p:txBody>
      </p:sp>
      <p:sp>
        <p:nvSpPr>
          <p:cNvPr id="41" name="card-115">
            <a:extLst>
              <a:ext uri="{FF2B5EF4-FFF2-40B4-BE49-F238E27FC236}">
                <a16:creationId xmlns:a16="http://schemas.microsoft.com/office/drawing/2014/main" id="{A51CF2B9-5316-9873-DC38-0336037815D6}"/>
              </a:ext>
            </a:extLst>
          </p:cNvPr>
          <p:cNvSpPr/>
          <p:nvPr/>
        </p:nvSpPr>
        <p:spPr>
          <a:xfrm>
            <a:off x="326071" y="273806"/>
            <a:ext cx="3664488" cy="9764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-117">
            <a:extLst>
              <a:ext uri="{FF2B5EF4-FFF2-40B4-BE49-F238E27FC236}">
                <a16:creationId xmlns:a16="http://schemas.microsoft.com/office/drawing/2014/main" id="{D3AE7D1E-8318-73BF-CD80-CF3B3D90C66E}"/>
              </a:ext>
            </a:extLst>
          </p:cNvPr>
          <p:cNvSpPr txBox="1"/>
          <p:nvPr/>
        </p:nvSpPr>
        <p:spPr>
          <a:xfrm>
            <a:off x="508951" y="419106"/>
            <a:ext cx="1876379" cy="6858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One Earning Event</a:t>
            </a:r>
            <a:endParaRPr lang="en-US" sz="1700" dirty="0"/>
          </a:p>
        </p:txBody>
      </p:sp>
      <p:sp>
        <p:nvSpPr>
          <p:cNvPr id="43" name="text-118">
            <a:extLst>
              <a:ext uri="{FF2B5EF4-FFF2-40B4-BE49-F238E27FC236}">
                <a16:creationId xmlns:a16="http://schemas.microsoft.com/office/drawing/2014/main" id="{08B70814-DF8F-669C-40F8-A01F5E836F62}"/>
              </a:ext>
            </a:extLst>
          </p:cNvPr>
          <p:cNvSpPr txBox="1"/>
          <p:nvPr/>
        </p:nvSpPr>
        <p:spPr>
          <a:xfrm>
            <a:off x="508950" y="764380"/>
            <a:ext cx="3298729" cy="4569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Event date, earning call summary, earnings preview, option statistics</a:t>
            </a:r>
            <a:endParaRPr lang="en-US" sz="1300" dirty="0"/>
          </a:p>
        </p:txBody>
      </p:sp>
      <p:sp>
        <p:nvSpPr>
          <p:cNvPr id="44" name="card-115">
            <a:extLst>
              <a:ext uri="{FF2B5EF4-FFF2-40B4-BE49-F238E27FC236}">
                <a16:creationId xmlns:a16="http://schemas.microsoft.com/office/drawing/2014/main" id="{EBB3251E-7DA0-8061-6F5B-1AF5B7F5B721}"/>
              </a:ext>
            </a:extLst>
          </p:cNvPr>
          <p:cNvSpPr/>
          <p:nvPr/>
        </p:nvSpPr>
        <p:spPr>
          <a:xfrm>
            <a:off x="326071" y="1595479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-117">
            <a:extLst>
              <a:ext uri="{FF2B5EF4-FFF2-40B4-BE49-F238E27FC236}">
                <a16:creationId xmlns:a16="http://schemas.microsoft.com/office/drawing/2014/main" id="{9A360662-A1D4-0960-1811-87244C2C2F20}"/>
              </a:ext>
            </a:extLst>
          </p:cNvPr>
          <p:cNvSpPr txBox="1"/>
          <p:nvPr/>
        </p:nvSpPr>
        <p:spPr>
          <a:xfrm>
            <a:off x="508951" y="1740779"/>
            <a:ext cx="1239469" cy="6858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Earning Call Summary</a:t>
            </a:r>
            <a:endParaRPr lang="en-US" sz="1700" dirty="0"/>
          </a:p>
        </p:txBody>
      </p:sp>
      <p:sp>
        <p:nvSpPr>
          <p:cNvPr id="47" name="card-115">
            <a:extLst>
              <a:ext uri="{FF2B5EF4-FFF2-40B4-BE49-F238E27FC236}">
                <a16:creationId xmlns:a16="http://schemas.microsoft.com/office/drawing/2014/main" id="{577C2A4F-318A-9BBF-F239-B16078883F80}"/>
              </a:ext>
            </a:extLst>
          </p:cNvPr>
          <p:cNvSpPr/>
          <p:nvPr/>
        </p:nvSpPr>
        <p:spPr>
          <a:xfrm>
            <a:off x="2385330" y="1595479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-117">
            <a:extLst>
              <a:ext uri="{FF2B5EF4-FFF2-40B4-BE49-F238E27FC236}">
                <a16:creationId xmlns:a16="http://schemas.microsoft.com/office/drawing/2014/main" id="{8361F18B-4CFC-852A-CF93-1366DB0B4466}"/>
              </a:ext>
            </a:extLst>
          </p:cNvPr>
          <p:cNvSpPr txBox="1"/>
          <p:nvPr/>
        </p:nvSpPr>
        <p:spPr>
          <a:xfrm>
            <a:off x="2568210" y="1740779"/>
            <a:ext cx="1239469" cy="6858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Earnings Preview</a:t>
            </a:r>
            <a:endParaRPr lang="en-US" sz="1700" dirty="0"/>
          </a:p>
        </p:txBody>
      </p:sp>
      <p:cxnSp>
        <p:nvCxnSpPr>
          <p:cNvPr id="50" name="直线箭头连接符 49">
            <a:extLst>
              <a:ext uri="{FF2B5EF4-FFF2-40B4-BE49-F238E27FC236}">
                <a16:creationId xmlns:a16="http://schemas.microsoft.com/office/drawing/2014/main" id="{45ED6426-190E-53ED-9B6C-A79A77BE79D8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128685" y="1250207"/>
            <a:ext cx="0" cy="34527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线箭头连接符 51">
            <a:extLst>
              <a:ext uri="{FF2B5EF4-FFF2-40B4-BE49-F238E27FC236}">
                <a16:creationId xmlns:a16="http://schemas.microsoft.com/office/drawing/2014/main" id="{0CAB3D4D-DD16-DAD9-4010-8943FA755C21}"/>
              </a:ext>
            </a:extLst>
          </p:cNvPr>
          <p:cNvCxnSpPr>
            <a:cxnSpLocks/>
          </p:cNvCxnSpPr>
          <p:nvPr/>
        </p:nvCxnSpPr>
        <p:spPr>
          <a:xfrm>
            <a:off x="3192206" y="1250207"/>
            <a:ext cx="0" cy="34527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线箭头连接符 52">
            <a:extLst>
              <a:ext uri="{FF2B5EF4-FFF2-40B4-BE49-F238E27FC236}">
                <a16:creationId xmlns:a16="http://schemas.microsoft.com/office/drawing/2014/main" id="{5D1AE89C-2F11-CB30-4F5E-28B0C2C1ED7D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1128685" y="2426580"/>
            <a:ext cx="0" cy="61737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肘形连接符 55">
            <a:extLst>
              <a:ext uri="{FF2B5EF4-FFF2-40B4-BE49-F238E27FC236}">
                <a16:creationId xmlns:a16="http://schemas.microsoft.com/office/drawing/2014/main" id="{710DF9B6-9AE4-D8BD-1BE1-6DAB103A67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28684" y="2425122"/>
            <a:ext cx="2059260" cy="310143"/>
          </a:xfrm>
          <a:prstGeom prst="bentConnector3">
            <a:avLst>
              <a:gd name="adj1" fmla="val 45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card-115">
            <a:extLst>
              <a:ext uri="{FF2B5EF4-FFF2-40B4-BE49-F238E27FC236}">
                <a16:creationId xmlns:a16="http://schemas.microsoft.com/office/drawing/2014/main" id="{32F37B5B-9094-49DB-2BF4-3FB23983D9AB}"/>
              </a:ext>
            </a:extLst>
          </p:cNvPr>
          <p:cNvSpPr/>
          <p:nvPr/>
        </p:nvSpPr>
        <p:spPr>
          <a:xfrm>
            <a:off x="326071" y="5934012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dirty="0"/>
          </a:p>
        </p:txBody>
      </p:sp>
      <p:cxnSp>
        <p:nvCxnSpPr>
          <p:cNvPr id="61" name="直线箭头连接符 60">
            <a:extLst>
              <a:ext uri="{FF2B5EF4-FFF2-40B4-BE49-F238E27FC236}">
                <a16:creationId xmlns:a16="http://schemas.microsoft.com/office/drawing/2014/main" id="{72825679-30C6-C349-7116-AD6EFE96CE6A}"/>
              </a:ext>
            </a:extLst>
          </p:cNvPr>
          <p:cNvCxnSpPr>
            <a:cxnSpLocks/>
          </p:cNvCxnSpPr>
          <p:nvPr/>
        </p:nvCxnSpPr>
        <p:spPr>
          <a:xfrm>
            <a:off x="1094535" y="5298902"/>
            <a:ext cx="0" cy="61737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-117">
            <a:extLst>
              <a:ext uri="{FF2B5EF4-FFF2-40B4-BE49-F238E27FC236}">
                <a16:creationId xmlns:a16="http://schemas.microsoft.com/office/drawing/2014/main" id="{2B3405AF-9D01-755A-554F-FE2F20B8166F}"/>
              </a:ext>
            </a:extLst>
          </p:cNvPr>
          <p:cNvSpPr txBox="1"/>
          <p:nvPr/>
        </p:nvSpPr>
        <p:spPr>
          <a:xfrm>
            <a:off x="508948" y="6028485"/>
            <a:ext cx="1239469" cy="6858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List of Surprises</a:t>
            </a:r>
            <a:endParaRPr lang="en-US" sz="1700" dirty="0"/>
          </a:p>
        </p:txBody>
      </p:sp>
      <p:sp>
        <p:nvSpPr>
          <p:cNvPr id="64" name="card-115">
            <a:extLst>
              <a:ext uri="{FF2B5EF4-FFF2-40B4-BE49-F238E27FC236}">
                <a16:creationId xmlns:a16="http://schemas.microsoft.com/office/drawing/2014/main" id="{77DF5E54-B154-510D-8079-AFF716044B42}"/>
              </a:ext>
            </a:extLst>
          </p:cNvPr>
          <p:cNvSpPr/>
          <p:nvPr/>
        </p:nvSpPr>
        <p:spPr>
          <a:xfrm>
            <a:off x="326071" y="7081720"/>
            <a:ext cx="4778655" cy="2435355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dirty="0"/>
          </a:p>
        </p:txBody>
      </p:sp>
      <p:cxnSp>
        <p:nvCxnSpPr>
          <p:cNvPr id="65" name="直线箭头连接符 64">
            <a:extLst>
              <a:ext uri="{FF2B5EF4-FFF2-40B4-BE49-F238E27FC236}">
                <a16:creationId xmlns:a16="http://schemas.microsoft.com/office/drawing/2014/main" id="{2EF5F106-7F18-AF03-381A-74CB9632AADF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1128686" y="6765112"/>
            <a:ext cx="0" cy="316608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-117">
            <a:extLst>
              <a:ext uri="{FF2B5EF4-FFF2-40B4-BE49-F238E27FC236}">
                <a16:creationId xmlns:a16="http://schemas.microsoft.com/office/drawing/2014/main" id="{5CA505AB-572D-A277-BD40-AFA52D0C3798}"/>
              </a:ext>
            </a:extLst>
          </p:cNvPr>
          <p:cNvSpPr txBox="1"/>
          <p:nvPr/>
        </p:nvSpPr>
        <p:spPr>
          <a:xfrm>
            <a:off x="508949" y="7157182"/>
            <a:ext cx="1239469" cy="29252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Surprise</a:t>
            </a:r>
          </a:p>
        </p:txBody>
      </p:sp>
      <p:sp>
        <p:nvSpPr>
          <p:cNvPr id="63" name="text-118">
            <a:extLst>
              <a:ext uri="{FF2B5EF4-FFF2-40B4-BE49-F238E27FC236}">
                <a16:creationId xmlns:a16="http://schemas.microsoft.com/office/drawing/2014/main" id="{12F3F0C1-A39B-1D52-309F-621EB0A856A1}"/>
              </a:ext>
            </a:extLst>
          </p:cNvPr>
          <p:cNvSpPr txBox="1"/>
          <p:nvPr/>
        </p:nvSpPr>
        <p:spPr>
          <a:xfrm>
            <a:off x="508948" y="7541919"/>
            <a:ext cx="4778669" cy="15424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/>
              <a:t>One thing that the earning call deviate from market expectation</a:t>
            </a:r>
          </a:p>
          <a:p>
            <a:r>
              <a:rPr lang="en-US" sz="1300" dirty="0"/>
              <a:t>- description</a:t>
            </a:r>
          </a:p>
          <a:p>
            <a:r>
              <a:rPr lang="en-US" sz="1300" dirty="0"/>
              <a:t>- earning call evidence</a:t>
            </a:r>
          </a:p>
          <a:p>
            <a:r>
              <a:rPr lang="en-US" sz="1300" dirty="0"/>
              <a:t>- earning preview evidence</a:t>
            </a:r>
          </a:p>
          <a:p>
            <a:r>
              <a:rPr lang="en-US" sz="1300" dirty="0"/>
              <a:t>- expectation source</a:t>
            </a:r>
          </a:p>
          <a:p>
            <a:r>
              <a:rPr lang="en-US" altLang="zh-CN" sz="1300" dirty="0"/>
              <a:t>- category: cat</a:t>
            </a:r>
          </a:p>
          <a:p>
            <a:r>
              <a:rPr lang="en-US" altLang="zh-CN" sz="1300" dirty="0"/>
              <a:t>- direction: {-1, 0, 1, null}</a:t>
            </a:r>
          </a:p>
          <a:p>
            <a:r>
              <a:rPr lang="en-US" altLang="zh-CN" sz="1300" dirty="0"/>
              <a:t>- magnitude: {1, 2, 3}</a:t>
            </a:r>
          </a:p>
          <a:p>
            <a:r>
              <a:rPr lang="en-US" altLang="zh-CN" sz="1300" dirty="0"/>
              <a:t>- expectation source: cat</a:t>
            </a:r>
            <a:endParaRPr lang="en-US" sz="1300" dirty="0"/>
          </a:p>
          <a:p>
            <a:endParaRPr lang="en-US" sz="1300" dirty="0"/>
          </a:p>
        </p:txBody>
      </p:sp>
      <p:cxnSp>
        <p:nvCxnSpPr>
          <p:cNvPr id="68" name="肘形连接符 67">
            <a:extLst>
              <a:ext uri="{FF2B5EF4-FFF2-40B4-BE49-F238E27FC236}">
                <a16:creationId xmlns:a16="http://schemas.microsoft.com/office/drawing/2014/main" id="{774D8AF4-BC1B-D85A-4AEE-0F60E207F57D}"/>
              </a:ext>
            </a:extLst>
          </p:cNvPr>
          <p:cNvCxnSpPr>
            <a:cxnSpLocks/>
            <a:stCxn id="60" idx="3"/>
            <a:endCxn id="35" idx="2"/>
          </p:cNvCxnSpPr>
          <p:nvPr/>
        </p:nvCxnSpPr>
        <p:spPr>
          <a:xfrm flipV="1">
            <a:off x="1931300" y="5306198"/>
            <a:ext cx="4043038" cy="1043364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线箭头连接符 68">
            <a:extLst>
              <a:ext uri="{FF2B5EF4-FFF2-40B4-BE49-F238E27FC236}">
                <a16:creationId xmlns:a16="http://schemas.microsoft.com/office/drawing/2014/main" id="{4B71220A-18D8-3F4B-3D28-9A6B5EFC6ECF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6776952" y="4178723"/>
            <a:ext cx="454030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线箭头连接符 73">
            <a:extLst>
              <a:ext uri="{FF2B5EF4-FFF2-40B4-BE49-F238E27FC236}">
                <a16:creationId xmlns:a16="http://schemas.microsoft.com/office/drawing/2014/main" id="{4EC20669-2B00-9820-61CB-4036F092AF51}"/>
              </a:ext>
            </a:extLst>
          </p:cNvPr>
          <p:cNvCxnSpPr>
            <a:cxnSpLocks/>
          </p:cNvCxnSpPr>
          <p:nvPr/>
        </p:nvCxnSpPr>
        <p:spPr>
          <a:xfrm flipV="1">
            <a:off x="6243540" y="5314577"/>
            <a:ext cx="0" cy="1448474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card-115">
            <a:extLst>
              <a:ext uri="{FF2B5EF4-FFF2-40B4-BE49-F238E27FC236}">
                <a16:creationId xmlns:a16="http://schemas.microsoft.com/office/drawing/2014/main" id="{2527B032-9851-F155-8274-E8BB1AE03E4F}"/>
              </a:ext>
            </a:extLst>
          </p:cNvPr>
          <p:cNvSpPr/>
          <p:nvPr/>
        </p:nvSpPr>
        <p:spPr>
          <a:xfrm>
            <a:off x="5591238" y="6760095"/>
            <a:ext cx="1605229" cy="1332957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8" name="text-117">
            <a:extLst>
              <a:ext uri="{FF2B5EF4-FFF2-40B4-BE49-F238E27FC236}">
                <a16:creationId xmlns:a16="http://schemas.microsoft.com/office/drawing/2014/main" id="{273D3C65-8B60-8945-FA02-45BD984FF782}"/>
              </a:ext>
            </a:extLst>
          </p:cNvPr>
          <p:cNvSpPr txBox="1"/>
          <p:nvPr/>
        </p:nvSpPr>
        <p:spPr>
          <a:xfrm>
            <a:off x="5774115" y="6854569"/>
            <a:ext cx="1239469" cy="3210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Taxonomy</a:t>
            </a:r>
            <a:endParaRPr lang="en-US" sz="1700" dirty="0"/>
          </a:p>
        </p:txBody>
      </p:sp>
      <p:sp>
        <p:nvSpPr>
          <p:cNvPr id="79" name="text-118">
            <a:extLst>
              <a:ext uri="{FF2B5EF4-FFF2-40B4-BE49-F238E27FC236}">
                <a16:creationId xmlns:a16="http://schemas.microsoft.com/office/drawing/2014/main" id="{F2CC19E2-5505-2765-6422-B6D4D00E9CF0}"/>
              </a:ext>
            </a:extLst>
          </p:cNvPr>
          <p:cNvSpPr txBox="1"/>
          <p:nvPr/>
        </p:nvSpPr>
        <p:spPr>
          <a:xfrm>
            <a:off x="5774115" y="7178677"/>
            <a:ext cx="1239469" cy="8250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/>
              <a:t>A rule on how surprises are categorized into groups</a:t>
            </a:r>
          </a:p>
        </p:txBody>
      </p:sp>
      <p:sp>
        <p:nvSpPr>
          <p:cNvPr id="93" name="card-115">
            <a:extLst>
              <a:ext uri="{FF2B5EF4-FFF2-40B4-BE49-F238E27FC236}">
                <a16:creationId xmlns:a16="http://schemas.microsoft.com/office/drawing/2014/main" id="{647C93C1-1E34-C4B0-605C-081B0D3D756C}"/>
              </a:ext>
            </a:extLst>
          </p:cNvPr>
          <p:cNvSpPr/>
          <p:nvPr/>
        </p:nvSpPr>
        <p:spPr>
          <a:xfrm>
            <a:off x="7213722" y="2768524"/>
            <a:ext cx="2064642" cy="2663708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text-117">
            <a:extLst>
              <a:ext uri="{FF2B5EF4-FFF2-40B4-BE49-F238E27FC236}">
                <a16:creationId xmlns:a16="http://schemas.microsoft.com/office/drawing/2014/main" id="{0BD5B5A2-F15A-527D-762D-DC0BC286E11B}"/>
              </a:ext>
            </a:extLst>
          </p:cNvPr>
          <p:cNvSpPr txBox="1"/>
          <p:nvPr/>
        </p:nvSpPr>
        <p:spPr>
          <a:xfrm>
            <a:off x="7396602" y="2884904"/>
            <a:ext cx="1239469" cy="685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Aggregate surprises</a:t>
            </a:r>
            <a:endParaRPr lang="en-US" sz="1700" dirty="0"/>
          </a:p>
        </p:txBody>
      </p:sp>
      <p:sp>
        <p:nvSpPr>
          <p:cNvPr id="95" name="text-118">
            <a:extLst>
              <a:ext uri="{FF2B5EF4-FFF2-40B4-BE49-F238E27FC236}">
                <a16:creationId xmlns:a16="http://schemas.microsoft.com/office/drawing/2014/main" id="{B67CFA38-A854-F26E-088B-096C37F376D4}"/>
              </a:ext>
            </a:extLst>
          </p:cNvPr>
          <p:cNvSpPr txBox="1"/>
          <p:nvPr/>
        </p:nvSpPr>
        <p:spPr>
          <a:xfrm>
            <a:off x="7396602" y="3520819"/>
            <a:ext cx="1776682" cy="825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/>
              <a:t>At event level, create features:</a:t>
            </a:r>
          </a:p>
          <a:p>
            <a:r>
              <a:rPr lang="en-US" sz="1300" dirty="0"/>
              <a:t>- surprise num per category</a:t>
            </a:r>
          </a:p>
          <a:p>
            <a:r>
              <a:rPr lang="en-US" sz="1300" dirty="0"/>
              <a:t>- net surprise direction per category</a:t>
            </a:r>
          </a:p>
          <a:p>
            <a:r>
              <a:rPr lang="en-US" sz="1300" dirty="0"/>
              <a:t>- net surprise sentiment per category</a:t>
            </a:r>
          </a:p>
          <a:p>
            <a:r>
              <a:rPr lang="en-US" sz="1300" dirty="0"/>
              <a:t>- etc.</a:t>
            </a:r>
          </a:p>
        </p:txBody>
      </p:sp>
      <p:sp>
        <p:nvSpPr>
          <p:cNvPr id="99" name="card-115">
            <a:extLst>
              <a:ext uri="{FF2B5EF4-FFF2-40B4-BE49-F238E27FC236}">
                <a16:creationId xmlns:a16="http://schemas.microsoft.com/office/drawing/2014/main" id="{48B132A9-8352-F3AC-0C7E-2D6107157EAF}"/>
              </a:ext>
            </a:extLst>
          </p:cNvPr>
          <p:cNvSpPr/>
          <p:nvPr/>
        </p:nvSpPr>
        <p:spPr>
          <a:xfrm>
            <a:off x="9552877" y="3059627"/>
            <a:ext cx="1605229" cy="2254950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text-117">
            <a:extLst>
              <a:ext uri="{FF2B5EF4-FFF2-40B4-BE49-F238E27FC236}">
                <a16:creationId xmlns:a16="http://schemas.microsoft.com/office/drawing/2014/main" id="{218AE695-516C-5459-4BB9-29E4F58B9E85}"/>
              </a:ext>
            </a:extLst>
          </p:cNvPr>
          <p:cNvSpPr txBox="1"/>
          <p:nvPr/>
        </p:nvSpPr>
        <p:spPr>
          <a:xfrm>
            <a:off x="9735757" y="3176007"/>
            <a:ext cx="1239469" cy="685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Prediction</a:t>
            </a:r>
            <a:endParaRPr lang="en-US" sz="1700" dirty="0"/>
          </a:p>
        </p:txBody>
      </p:sp>
      <p:sp>
        <p:nvSpPr>
          <p:cNvPr id="101" name="text-118">
            <a:extLst>
              <a:ext uri="{FF2B5EF4-FFF2-40B4-BE49-F238E27FC236}">
                <a16:creationId xmlns:a16="http://schemas.microsoft.com/office/drawing/2014/main" id="{CC754527-7003-636A-CC98-7A43310B930A}"/>
              </a:ext>
            </a:extLst>
          </p:cNvPr>
          <p:cNvSpPr txBox="1"/>
          <p:nvPr/>
        </p:nvSpPr>
        <p:spPr>
          <a:xfrm>
            <a:off x="9727011" y="3554411"/>
            <a:ext cx="1239469" cy="825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Ridge regression / GBM etc. trained on the training set, output a prediction in the range [0, 1]</a:t>
            </a:r>
            <a:endParaRPr lang="en-US" sz="1300" dirty="0"/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4CB25D3E-9389-22CF-B754-79C21D428D52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9278364" y="4187102"/>
            <a:ext cx="274513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card-115">
            <a:extLst>
              <a:ext uri="{FF2B5EF4-FFF2-40B4-BE49-F238E27FC236}">
                <a16:creationId xmlns:a16="http://schemas.microsoft.com/office/drawing/2014/main" id="{033F2C29-629A-722C-9849-EBC506A20806}"/>
              </a:ext>
            </a:extLst>
          </p:cNvPr>
          <p:cNvSpPr/>
          <p:nvPr/>
        </p:nvSpPr>
        <p:spPr>
          <a:xfrm>
            <a:off x="4614555" y="1594022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text-117">
            <a:extLst>
              <a:ext uri="{FF2B5EF4-FFF2-40B4-BE49-F238E27FC236}">
                <a16:creationId xmlns:a16="http://schemas.microsoft.com/office/drawing/2014/main" id="{F0AEFD9F-DF62-D465-FA99-48B3EBED52A6}"/>
              </a:ext>
            </a:extLst>
          </p:cNvPr>
          <p:cNvSpPr txBox="1"/>
          <p:nvPr/>
        </p:nvSpPr>
        <p:spPr>
          <a:xfrm>
            <a:off x="4797435" y="1739322"/>
            <a:ext cx="1239469" cy="6858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Option Statistics</a:t>
            </a:r>
            <a:endParaRPr lang="en-US" sz="1700" dirty="0"/>
          </a:p>
        </p:txBody>
      </p:sp>
      <p:cxnSp>
        <p:nvCxnSpPr>
          <p:cNvPr id="107" name="肘形连接符 106">
            <a:extLst>
              <a:ext uri="{FF2B5EF4-FFF2-40B4-BE49-F238E27FC236}">
                <a16:creationId xmlns:a16="http://schemas.microsoft.com/office/drawing/2014/main" id="{766A03CD-FB9C-B42F-9624-51D9BF55F3EB}"/>
              </a:ext>
            </a:extLst>
          </p:cNvPr>
          <p:cNvCxnSpPr>
            <a:cxnSpLocks/>
            <a:endCxn id="104" idx="0"/>
          </p:cNvCxnSpPr>
          <p:nvPr/>
        </p:nvCxnSpPr>
        <p:spPr>
          <a:xfrm>
            <a:off x="3988428" y="1061705"/>
            <a:ext cx="1428742" cy="532317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肘形连接符 109">
            <a:extLst>
              <a:ext uri="{FF2B5EF4-FFF2-40B4-BE49-F238E27FC236}">
                <a16:creationId xmlns:a16="http://schemas.microsoft.com/office/drawing/2014/main" id="{850577DB-04C0-F02E-100C-5D0ED96ADDB1}"/>
              </a:ext>
            </a:extLst>
          </p:cNvPr>
          <p:cNvCxnSpPr>
            <a:cxnSpLocks/>
            <a:stCxn id="104" idx="3"/>
            <a:endCxn id="99" idx="0"/>
          </p:cNvCxnSpPr>
          <p:nvPr/>
        </p:nvCxnSpPr>
        <p:spPr>
          <a:xfrm>
            <a:off x="6219784" y="2009572"/>
            <a:ext cx="4135708" cy="1050055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线箭头连接符 117">
            <a:extLst>
              <a:ext uri="{FF2B5EF4-FFF2-40B4-BE49-F238E27FC236}">
                <a16:creationId xmlns:a16="http://schemas.microsoft.com/office/drawing/2014/main" id="{1B354723-25BF-9879-CEBD-8643F2E86C68}"/>
              </a:ext>
            </a:extLst>
          </p:cNvPr>
          <p:cNvCxnSpPr>
            <a:cxnSpLocks/>
          </p:cNvCxnSpPr>
          <p:nvPr/>
        </p:nvCxnSpPr>
        <p:spPr>
          <a:xfrm>
            <a:off x="10355491" y="5314577"/>
            <a:ext cx="0" cy="34527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card-115">
            <a:extLst>
              <a:ext uri="{FF2B5EF4-FFF2-40B4-BE49-F238E27FC236}">
                <a16:creationId xmlns:a16="http://schemas.microsoft.com/office/drawing/2014/main" id="{CAD6A282-39C2-2E14-EE5E-D0182C604D11}"/>
              </a:ext>
            </a:extLst>
          </p:cNvPr>
          <p:cNvSpPr/>
          <p:nvPr/>
        </p:nvSpPr>
        <p:spPr>
          <a:xfrm>
            <a:off x="9552876" y="5692981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text-117">
            <a:extLst>
              <a:ext uri="{FF2B5EF4-FFF2-40B4-BE49-F238E27FC236}">
                <a16:creationId xmlns:a16="http://schemas.microsoft.com/office/drawing/2014/main" id="{0CE048F3-088F-640C-E379-3F5BFA93A0F4}"/>
              </a:ext>
            </a:extLst>
          </p:cNvPr>
          <p:cNvSpPr txBox="1"/>
          <p:nvPr/>
        </p:nvSpPr>
        <p:spPr>
          <a:xfrm>
            <a:off x="9735756" y="5838281"/>
            <a:ext cx="1239469" cy="6858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Final Prediction</a:t>
            </a:r>
            <a:endParaRPr lang="en-US" sz="1700" dirty="0"/>
          </a:p>
        </p:txBody>
      </p:sp>
      <p:sp>
        <p:nvSpPr>
          <p:cNvPr id="123" name="card-115">
            <a:extLst>
              <a:ext uri="{FF2B5EF4-FFF2-40B4-BE49-F238E27FC236}">
                <a16:creationId xmlns:a16="http://schemas.microsoft.com/office/drawing/2014/main" id="{6717059D-EBD9-620A-9808-A98847277242}"/>
              </a:ext>
            </a:extLst>
          </p:cNvPr>
          <p:cNvSpPr/>
          <p:nvPr/>
        </p:nvSpPr>
        <p:spPr>
          <a:xfrm>
            <a:off x="2768064" y="2953749"/>
            <a:ext cx="1667792" cy="2435355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24" name="text-117">
            <a:extLst>
              <a:ext uri="{FF2B5EF4-FFF2-40B4-BE49-F238E27FC236}">
                <a16:creationId xmlns:a16="http://schemas.microsoft.com/office/drawing/2014/main" id="{A56E2FC1-208C-A091-4121-4BBD7E172EE5}"/>
              </a:ext>
            </a:extLst>
          </p:cNvPr>
          <p:cNvSpPr txBox="1"/>
          <p:nvPr/>
        </p:nvSpPr>
        <p:spPr>
          <a:xfrm>
            <a:off x="2950941" y="3138427"/>
            <a:ext cx="1239469" cy="3210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Prompt</a:t>
            </a:r>
            <a:endParaRPr lang="en-US" sz="1700" dirty="0"/>
          </a:p>
        </p:txBody>
      </p:sp>
      <p:sp>
        <p:nvSpPr>
          <p:cNvPr id="125" name="text-118">
            <a:extLst>
              <a:ext uri="{FF2B5EF4-FFF2-40B4-BE49-F238E27FC236}">
                <a16:creationId xmlns:a16="http://schemas.microsoft.com/office/drawing/2014/main" id="{49C6F46B-9C92-945D-953F-E6E8644C0326}"/>
              </a:ext>
            </a:extLst>
          </p:cNvPr>
          <p:cNvSpPr txBox="1"/>
          <p:nvPr/>
        </p:nvSpPr>
        <p:spPr>
          <a:xfrm>
            <a:off x="2950941" y="3462535"/>
            <a:ext cx="1422351" cy="8250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/>
              <a:t>Should be tuned based on Agentic Context Engineering (ACE), objective function: Spearman correlation between net weighted surprise and prediction target</a:t>
            </a:r>
          </a:p>
        </p:txBody>
      </p:sp>
      <p:cxnSp>
        <p:nvCxnSpPr>
          <p:cNvPr id="131" name="直线箭头连接符 130">
            <a:extLst>
              <a:ext uri="{FF2B5EF4-FFF2-40B4-BE49-F238E27FC236}">
                <a16:creationId xmlns:a16="http://schemas.microsoft.com/office/drawing/2014/main" id="{D22AEE4E-7E70-5BCF-7940-8962D44C45F7}"/>
              </a:ext>
            </a:extLst>
          </p:cNvPr>
          <p:cNvCxnSpPr>
            <a:cxnSpLocks/>
          </p:cNvCxnSpPr>
          <p:nvPr/>
        </p:nvCxnSpPr>
        <p:spPr>
          <a:xfrm>
            <a:off x="3990559" y="611798"/>
            <a:ext cx="1876379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card-115">
            <a:extLst>
              <a:ext uri="{FF2B5EF4-FFF2-40B4-BE49-F238E27FC236}">
                <a16:creationId xmlns:a16="http://schemas.microsoft.com/office/drawing/2014/main" id="{A086CEAD-FD58-8176-0E94-57F9361310F0}"/>
              </a:ext>
            </a:extLst>
          </p:cNvPr>
          <p:cNvSpPr/>
          <p:nvPr/>
        </p:nvSpPr>
        <p:spPr>
          <a:xfrm>
            <a:off x="5866938" y="268833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text-117">
            <a:extLst>
              <a:ext uri="{FF2B5EF4-FFF2-40B4-BE49-F238E27FC236}">
                <a16:creationId xmlns:a16="http://schemas.microsoft.com/office/drawing/2014/main" id="{947E2278-4112-6BCC-2672-E6C8847E22AD}"/>
              </a:ext>
            </a:extLst>
          </p:cNvPr>
          <p:cNvSpPr txBox="1"/>
          <p:nvPr/>
        </p:nvSpPr>
        <p:spPr>
          <a:xfrm>
            <a:off x="6049818" y="414133"/>
            <a:ext cx="1239469" cy="3360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Event Date</a:t>
            </a:r>
          </a:p>
          <a:p>
            <a:endParaRPr lang="en-US" sz="1700" dirty="0"/>
          </a:p>
        </p:txBody>
      </p:sp>
      <p:sp>
        <p:nvSpPr>
          <p:cNvPr id="135" name="text-118">
            <a:extLst>
              <a:ext uri="{FF2B5EF4-FFF2-40B4-BE49-F238E27FC236}">
                <a16:creationId xmlns:a16="http://schemas.microsoft.com/office/drawing/2014/main" id="{435D245A-3C33-CE9F-295E-DC37B61F3087}"/>
              </a:ext>
            </a:extLst>
          </p:cNvPr>
          <p:cNvSpPr txBox="1"/>
          <p:nvPr/>
        </p:nvSpPr>
        <p:spPr>
          <a:xfrm>
            <a:off x="6049818" y="692387"/>
            <a:ext cx="1239469" cy="2583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Knowledge cut-off</a:t>
            </a:r>
            <a:endParaRPr lang="en-US" sz="1300" dirty="0"/>
          </a:p>
        </p:txBody>
      </p:sp>
      <p:sp>
        <p:nvSpPr>
          <p:cNvPr id="136" name="card-115">
            <a:extLst>
              <a:ext uri="{FF2B5EF4-FFF2-40B4-BE49-F238E27FC236}">
                <a16:creationId xmlns:a16="http://schemas.microsoft.com/office/drawing/2014/main" id="{8858DE2F-2CBA-797D-056A-57AE6005812B}"/>
              </a:ext>
            </a:extLst>
          </p:cNvPr>
          <p:cNvSpPr/>
          <p:nvPr/>
        </p:nvSpPr>
        <p:spPr>
          <a:xfrm>
            <a:off x="7749534" y="268833"/>
            <a:ext cx="2405886" cy="1470489"/>
          </a:xfrm>
          <a:prstGeom prst="roundRect">
            <a:avLst>
              <a:gd name="adj" fmla="val 4557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37" name="text-117">
            <a:extLst>
              <a:ext uri="{FF2B5EF4-FFF2-40B4-BE49-F238E27FC236}">
                <a16:creationId xmlns:a16="http://schemas.microsoft.com/office/drawing/2014/main" id="{D7377A92-A804-3AB4-7C62-7B3FFA03DD46}"/>
              </a:ext>
            </a:extLst>
          </p:cNvPr>
          <p:cNvSpPr txBox="1"/>
          <p:nvPr/>
        </p:nvSpPr>
        <p:spPr>
          <a:xfrm>
            <a:off x="7921936" y="381299"/>
            <a:ext cx="1239469" cy="3210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Stock Prices</a:t>
            </a:r>
            <a:endParaRPr lang="en-US" sz="1700" dirty="0"/>
          </a:p>
        </p:txBody>
      </p:sp>
      <p:sp>
        <p:nvSpPr>
          <p:cNvPr id="138" name="text-118">
            <a:extLst>
              <a:ext uri="{FF2B5EF4-FFF2-40B4-BE49-F238E27FC236}">
                <a16:creationId xmlns:a16="http://schemas.microsoft.com/office/drawing/2014/main" id="{A931E86A-5B95-79C7-A27D-3E562F8F3C4D}"/>
              </a:ext>
            </a:extLst>
          </p:cNvPr>
          <p:cNvSpPr txBox="1"/>
          <p:nvPr/>
        </p:nvSpPr>
        <p:spPr>
          <a:xfrm>
            <a:off x="7921935" y="705407"/>
            <a:ext cx="2050609" cy="8250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/>
              <a:t>- Stock price fluctuation of the event firm before event date</a:t>
            </a:r>
          </a:p>
          <a:p>
            <a:r>
              <a:rPr lang="en-US" sz="1300" dirty="0"/>
              <a:t>- Overall market fluctuation in the week before the firm’s event</a:t>
            </a:r>
          </a:p>
        </p:txBody>
      </p:sp>
      <p:cxnSp>
        <p:nvCxnSpPr>
          <p:cNvPr id="139" name="直线箭头连接符 138">
            <a:extLst>
              <a:ext uri="{FF2B5EF4-FFF2-40B4-BE49-F238E27FC236}">
                <a16:creationId xmlns:a16="http://schemas.microsoft.com/office/drawing/2014/main" id="{7B10E1E5-B686-AB54-D7A6-2AD44F9D9060}"/>
              </a:ext>
            </a:extLst>
          </p:cNvPr>
          <p:cNvCxnSpPr>
            <a:cxnSpLocks/>
          </p:cNvCxnSpPr>
          <p:nvPr/>
        </p:nvCxnSpPr>
        <p:spPr>
          <a:xfrm>
            <a:off x="7467902" y="597063"/>
            <a:ext cx="281632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肘形连接符 140">
            <a:extLst>
              <a:ext uri="{FF2B5EF4-FFF2-40B4-BE49-F238E27FC236}">
                <a16:creationId xmlns:a16="http://schemas.microsoft.com/office/drawing/2014/main" id="{533CC7BE-AA39-0D97-2A55-51168B7AF0E7}"/>
              </a:ext>
            </a:extLst>
          </p:cNvPr>
          <p:cNvCxnSpPr>
            <a:cxnSpLocks/>
            <a:stCxn id="136" idx="3"/>
            <a:endCxn id="99" idx="0"/>
          </p:cNvCxnSpPr>
          <p:nvPr/>
        </p:nvCxnSpPr>
        <p:spPr>
          <a:xfrm>
            <a:off x="10155420" y="1004078"/>
            <a:ext cx="200072" cy="2055549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直线箭头连接符 216">
            <a:extLst>
              <a:ext uri="{FF2B5EF4-FFF2-40B4-BE49-F238E27FC236}">
                <a16:creationId xmlns:a16="http://schemas.microsoft.com/office/drawing/2014/main" id="{9C70EC70-50D6-1893-17DE-DA7627CC8210}"/>
              </a:ext>
            </a:extLst>
          </p:cNvPr>
          <p:cNvCxnSpPr>
            <a:cxnSpLocks/>
            <a:stCxn id="123" idx="1"/>
            <a:endCxn id="29" idx="3"/>
          </p:cNvCxnSpPr>
          <p:nvPr/>
        </p:nvCxnSpPr>
        <p:spPr>
          <a:xfrm flipH="1">
            <a:off x="1931300" y="4171427"/>
            <a:ext cx="836764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card-115">
            <a:extLst>
              <a:ext uri="{FF2B5EF4-FFF2-40B4-BE49-F238E27FC236}">
                <a16:creationId xmlns:a16="http://schemas.microsoft.com/office/drawing/2014/main" id="{27633E0A-EBF0-A9CF-12BA-EC082FE79432}"/>
              </a:ext>
            </a:extLst>
          </p:cNvPr>
          <p:cNvSpPr/>
          <p:nvPr/>
        </p:nvSpPr>
        <p:spPr>
          <a:xfrm>
            <a:off x="8246043" y="7371519"/>
            <a:ext cx="1614335" cy="440217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text-118">
            <a:extLst>
              <a:ext uri="{FF2B5EF4-FFF2-40B4-BE49-F238E27FC236}">
                <a16:creationId xmlns:a16="http://schemas.microsoft.com/office/drawing/2014/main" id="{6DCD7455-1BC5-346B-CB96-75CFBF9D7894}"/>
              </a:ext>
            </a:extLst>
          </p:cNvPr>
          <p:cNvSpPr txBox="1"/>
          <p:nvPr/>
        </p:nvSpPr>
        <p:spPr>
          <a:xfrm>
            <a:off x="8313407" y="7489174"/>
            <a:ext cx="1239469" cy="2159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Data</a:t>
            </a:r>
          </a:p>
        </p:txBody>
      </p:sp>
      <p:sp>
        <p:nvSpPr>
          <p:cNvPr id="240" name="card-115">
            <a:extLst>
              <a:ext uri="{FF2B5EF4-FFF2-40B4-BE49-F238E27FC236}">
                <a16:creationId xmlns:a16="http://schemas.microsoft.com/office/drawing/2014/main" id="{25DF5750-BAA7-B04D-47EA-F37DABD0958C}"/>
              </a:ext>
            </a:extLst>
          </p:cNvPr>
          <p:cNvSpPr/>
          <p:nvPr/>
        </p:nvSpPr>
        <p:spPr>
          <a:xfrm>
            <a:off x="8246043" y="8023151"/>
            <a:ext cx="1614335" cy="440217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text-118">
            <a:extLst>
              <a:ext uri="{FF2B5EF4-FFF2-40B4-BE49-F238E27FC236}">
                <a16:creationId xmlns:a16="http://schemas.microsoft.com/office/drawing/2014/main" id="{59898216-31A4-3025-4071-74993D4BDF09}"/>
              </a:ext>
            </a:extLst>
          </p:cNvPr>
          <p:cNvSpPr txBox="1"/>
          <p:nvPr/>
        </p:nvSpPr>
        <p:spPr>
          <a:xfrm>
            <a:off x="8313407" y="8140806"/>
            <a:ext cx="1239469" cy="2159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Node</a:t>
            </a:r>
          </a:p>
        </p:txBody>
      </p:sp>
      <p:sp>
        <p:nvSpPr>
          <p:cNvPr id="247" name="card-115">
            <a:extLst>
              <a:ext uri="{FF2B5EF4-FFF2-40B4-BE49-F238E27FC236}">
                <a16:creationId xmlns:a16="http://schemas.microsoft.com/office/drawing/2014/main" id="{78405A8E-35D8-8CA0-8413-E486991A8684}"/>
              </a:ext>
            </a:extLst>
          </p:cNvPr>
          <p:cNvSpPr/>
          <p:nvPr/>
        </p:nvSpPr>
        <p:spPr>
          <a:xfrm>
            <a:off x="8246043" y="8674783"/>
            <a:ext cx="1614335" cy="440217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text-118">
            <a:extLst>
              <a:ext uri="{FF2B5EF4-FFF2-40B4-BE49-F238E27FC236}">
                <a16:creationId xmlns:a16="http://schemas.microsoft.com/office/drawing/2014/main" id="{61862099-B2FD-0ABA-8DA5-2801EF464001}"/>
              </a:ext>
            </a:extLst>
          </p:cNvPr>
          <p:cNvSpPr txBox="1"/>
          <p:nvPr/>
        </p:nvSpPr>
        <p:spPr>
          <a:xfrm>
            <a:off x="8313407" y="8792438"/>
            <a:ext cx="1239469" cy="2159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Prompt</a:t>
            </a:r>
          </a:p>
        </p:txBody>
      </p:sp>
      <p:sp>
        <p:nvSpPr>
          <p:cNvPr id="249" name="card-115">
            <a:extLst>
              <a:ext uri="{FF2B5EF4-FFF2-40B4-BE49-F238E27FC236}">
                <a16:creationId xmlns:a16="http://schemas.microsoft.com/office/drawing/2014/main" id="{6CFB6EFF-8EF3-0D54-376B-B1FD04739689}"/>
              </a:ext>
            </a:extLst>
          </p:cNvPr>
          <p:cNvSpPr/>
          <p:nvPr/>
        </p:nvSpPr>
        <p:spPr>
          <a:xfrm>
            <a:off x="10102786" y="7370126"/>
            <a:ext cx="1614335" cy="440217"/>
          </a:xfrm>
          <a:prstGeom prst="roundRect">
            <a:avLst>
              <a:gd name="adj" fmla="val 4557"/>
            </a:avLst>
          </a:prstGeom>
          <a:noFill/>
          <a:ln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text-118">
            <a:extLst>
              <a:ext uri="{FF2B5EF4-FFF2-40B4-BE49-F238E27FC236}">
                <a16:creationId xmlns:a16="http://schemas.microsoft.com/office/drawing/2014/main" id="{11C6E763-4358-1573-D419-2EBBE815115B}"/>
              </a:ext>
            </a:extLst>
          </p:cNvPr>
          <p:cNvSpPr txBox="1"/>
          <p:nvPr/>
        </p:nvSpPr>
        <p:spPr>
          <a:xfrm>
            <a:off x="10170150" y="7487781"/>
            <a:ext cx="1239469" cy="2159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Implemented</a:t>
            </a:r>
          </a:p>
        </p:txBody>
      </p:sp>
      <p:sp>
        <p:nvSpPr>
          <p:cNvPr id="251" name="card-115">
            <a:extLst>
              <a:ext uri="{FF2B5EF4-FFF2-40B4-BE49-F238E27FC236}">
                <a16:creationId xmlns:a16="http://schemas.microsoft.com/office/drawing/2014/main" id="{9DF52077-3791-DB55-9EFE-F29E4F942F6B}"/>
              </a:ext>
            </a:extLst>
          </p:cNvPr>
          <p:cNvSpPr/>
          <p:nvPr/>
        </p:nvSpPr>
        <p:spPr>
          <a:xfrm>
            <a:off x="10102786" y="8021912"/>
            <a:ext cx="1614335" cy="440217"/>
          </a:xfrm>
          <a:prstGeom prst="roundRect">
            <a:avLst>
              <a:gd name="adj" fmla="val 4557"/>
            </a:avLst>
          </a:prstGeom>
          <a:noFill/>
          <a:ln>
            <a:solidFill>
              <a:schemeClr val="accent6">
                <a:lumMod val="50000"/>
              </a:schemeClr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text-118">
            <a:extLst>
              <a:ext uri="{FF2B5EF4-FFF2-40B4-BE49-F238E27FC236}">
                <a16:creationId xmlns:a16="http://schemas.microsoft.com/office/drawing/2014/main" id="{67B528A3-50CA-FE07-E8CB-3FB21DCFBFD0}"/>
              </a:ext>
            </a:extLst>
          </p:cNvPr>
          <p:cNvSpPr txBox="1"/>
          <p:nvPr/>
        </p:nvSpPr>
        <p:spPr>
          <a:xfrm>
            <a:off x="10170150" y="8139567"/>
            <a:ext cx="1239469" cy="2159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Unimplemented</a:t>
            </a:r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7356B573-0914-5CB0-0180-C23538A2ED55}"/>
              </a:ext>
            </a:extLst>
          </p:cNvPr>
          <p:cNvSpPr txBox="1"/>
          <p:nvPr/>
        </p:nvSpPr>
        <p:spPr>
          <a:xfrm>
            <a:off x="11158105" y="357171"/>
            <a:ext cx="11296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zh-CN" dirty="0" err="1"/>
              <a:t>em_agent</a:t>
            </a:r>
            <a:endParaRPr kumimoji="1" lang="en-US" altLang="zh-CN" dirty="0"/>
          </a:p>
          <a:p>
            <a:r>
              <a:rPr kumimoji="1" lang="en-US" altLang="zh-CN" dirty="0"/>
              <a:t>Version 1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ard-115">
            <a:extLst>
              <a:ext uri="{FF2B5EF4-FFF2-40B4-BE49-F238E27FC236}">
                <a16:creationId xmlns:a16="http://schemas.microsoft.com/office/drawing/2014/main" id="{1C6191E8-860F-2A5C-2983-80E99F391BEE}"/>
              </a:ext>
            </a:extLst>
          </p:cNvPr>
          <p:cNvSpPr/>
          <p:nvPr/>
        </p:nvSpPr>
        <p:spPr>
          <a:xfrm>
            <a:off x="326071" y="2978168"/>
            <a:ext cx="1605229" cy="2254950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-117">
            <a:extLst>
              <a:ext uri="{FF2B5EF4-FFF2-40B4-BE49-F238E27FC236}">
                <a16:creationId xmlns:a16="http://schemas.microsoft.com/office/drawing/2014/main" id="{71D06F9A-A115-2AD1-7BF3-DAD4A73056FC}"/>
              </a:ext>
            </a:extLst>
          </p:cNvPr>
          <p:cNvSpPr txBox="1"/>
          <p:nvPr/>
        </p:nvSpPr>
        <p:spPr>
          <a:xfrm>
            <a:off x="508951" y="3094548"/>
            <a:ext cx="1239469" cy="685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Extract surprises</a:t>
            </a:r>
            <a:endParaRPr lang="en-US" sz="1700" dirty="0"/>
          </a:p>
        </p:txBody>
      </p:sp>
      <p:sp>
        <p:nvSpPr>
          <p:cNvPr id="32" name="text-118">
            <a:extLst>
              <a:ext uri="{FF2B5EF4-FFF2-40B4-BE49-F238E27FC236}">
                <a16:creationId xmlns:a16="http://schemas.microsoft.com/office/drawing/2014/main" id="{8B8403AD-463A-9092-940A-3EF266A07896}"/>
              </a:ext>
            </a:extLst>
          </p:cNvPr>
          <p:cNvSpPr txBox="1"/>
          <p:nvPr/>
        </p:nvSpPr>
        <p:spPr>
          <a:xfrm>
            <a:off x="508951" y="3729658"/>
            <a:ext cx="1239469" cy="825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gpt-6-luna, medium effort: list surprises, most important first, with direction and magnitude</a:t>
            </a:r>
            <a:endParaRPr lang="en-US" sz="1300" dirty="0"/>
          </a:p>
        </p:txBody>
      </p:sp>
      <p:sp>
        <p:nvSpPr>
          <p:cNvPr id="35" name="card-115">
            <a:extLst>
              <a:ext uri="{FF2B5EF4-FFF2-40B4-BE49-F238E27FC236}">
                <a16:creationId xmlns:a16="http://schemas.microsoft.com/office/drawing/2014/main" id="{F200C82F-F0CE-00FB-C73A-0F747FB15819}"/>
              </a:ext>
            </a:extLst>
          </p:cNvPr>
          <p:cNvSpPr/>
          <p:nvPr/>
        </p:nvSpPr>
        <p:spPr>
          <a:xfrm>
            <a:off x="5171723" y="2985464"/>
            <a:ext cx="1605229" cy="2254950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-117">
            <a:extLst>
              <a:ext uri="{FF2B5EF4-FFF2-40B4-BE49-F238E27FC236}">
                <a16:creationId xmlns:a16="http://schemas.microsoft.com/office/drawing/2014/main" id="{358E4AE3-D4B3-7399-B6E7-F35001BE8FFC}"/>
              </a:ext>
            </a:extLst>
          </p:cNvPr>
          <p:cNvSpPr txBox="1"/>
          <p:nvPr/>
        </p:nvSpPr>
        <p:spPr>
          <a:xfrm>
            <a:off x="5354603" y="3101844"/>
            <a:ext cx="1239469" cy="685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Classify surprises</a:t>
            </a:r>
            <a:endParaRPr lang="en-US" sz="1700" dirty="0"/>
          </a:p>
        </p:txBody>
      </p:sp>
      <p:sp>
        <p:nvSpPr>
          <p:cNvPr id="37" name="text-118">
            <a:extLst>
              <a:ext uri="{FF2B5EF4-FFF2-40B4-BE49-F238E27FC236}">
                <a16:creationId xmlns:a16="http://schemas.microsoft.com/office/drawing/2014/main" id="{839A60A2-4288-5951-A1A7-F6547D665693}"/>
              </a:ext>
            </a:extLst>
          </p:cNvPr>
          <p:cNvSpPr txBox="1"/>
          <p:nvPr/>
        </p:nvSpPr>
        <p:spPr>
          <a:xfrm>
            <a:off x="5354603" y="3787644"/>
            <a:ext cx="1239469" cy="825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gpt-6-luna,</a:t>
            </a:r>
          </a:p>
          <a:p>
            <a:r>
              <a:rPr lang="en-US" sz="1300" dirty="0">
                <a:solidFill>
                  <a:schemeClr val="tx2"/>
                </a:solidFill>
              </a:rPr>
              <a:t>low effort, batches of 40:</a:t>
            </a:r>
          </a:p>
          <a:p>
            <a:r>
              <a:rPr lang="en-US" sz="1300" dirty="0">
                <a:solidFill>
                  <a:schemeClr val="tx2"/>
                </a:solidFill>
              </a:rPr>
              <a:t>assign each surprise to one taxonomy category</a:t>
            </a:r>
            <a:endParaRPr lang="en-US" sz="1300" dirty="0"/>
          </a:p>
        </p:txBody>
      </p:sp>
      <p:sp>
        <p:nvSpPr>
          <p:cNvPr id="41" name="card-115">
            <a:extLst>
              <a:ext uri="{FF2B5EF4-FFF2-40B4-BE49-F238E27FC236}">
                <a16:creationId xmlns:a16="http://schemas.microsoft.com/office/drawing/2014/main" id="{A51CF2B9-5316-9873-DC38-0336037815D6}"/>
              </a:ext>
            </a:extLst>
          </p:cNvPr>
          <p:cNvSpPr/>
          <p:nvPr/>
        </p:nvSpPr>
        <p:spPr>
          <a:xfrm>
            <a:off x="326071" y="208022"/>
            <a:ext cx="3664488" cy="9764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-117">
            <a:extLst>
              <a:ext uri="{FF2B5EF4-FFF2-40B4-BE49-F238E27FC236}">
                <a16:creationId xmlns:a16="http://schemas.microsoft.com/office/drawing/2014/main" id="{D3AE7D1E-8318-73BF-CD80-CF3B3D90C66E}"/>
              </a:ext>
            </a:extLst>
          </p:cNvPr>
          <p:cNvSpPr txBox="1"/>
          <p:nvPr/>
        </p:nvSpPr>
        <p:spPr>
          <a:xfrm>
            <a:off x="508951" y="353322"/>
            <a:ext cx="3298729" cy="6858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One Earnings Event</a:t>
            </a:r>
            <a:endParaRPr lang="en-US" sz="1700" dirty="0"/>
          </a:p>
        </p:txBody>
      </p:sp>
      <p:sp>
        <p:nvSpPr>
          <p:cNvPr id="43" name="text-118">
            <a:extLst>
              <a:ext uri="{FF2B5EF4-FFF2-40B4-BE49-F238E27FC236}">
                <a16:creationId xmlns:a16="http://schemas.microsoft.com/office/drawing/2014/main" id="{08B70814-DF8F-669C-40F8-A01F5E836F62}"/>
              </a:ext>
            </a:extLst>
          </p:cNvPr>
          <p:cNvSpPr txBox="1"/>
          <p:nvPr/>
        </p:nvSpPr>
        <p:spPr>
          <a:xfrm>
            <a:off x="508950" y="698596"/>
            <a:ext cx="3298729" cy="4569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Event date, earnings call summary, earnings preview, option statistics</a:t>
            </a:r>
            <a:endParaRPr lang="en-US" sz="1300" dirty="0"/>
          </a:p>
        </p:txBody>
      </p:sp>
      <p:sp>
        <p:nvSpPr>
          <p:cNvPr id="44" name="card-115">
            <a:extLst>
              <a:ext uri="{FF2B5EF4-FFF2-40B4-BE49-F238E27FC236}">
                <a16:creationId xmlns:a16="http://schemas.microsoft.com/office/drawing/2014/main" id="{EBB3251E-7DA0-8061-6F5B-1AF5B7F5B721}"/>
              </a:ext>
            </a:extLst>
          </p:cNvPr>
          <p:cNvSpPr/>
          <p:nvPr/>
        </p:nvSpPr>
        <p:spPr>
          <a:xfrm>
            <a:off x="326071" y="1529695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-117">
            <a:extLst>
              <a:ext uri="{FF2B5EF4-FFF2-40B4-BE49-F238E27FC236}">
                <a16:creationId xmlns:a16="http://schemas.microsoft.com/office/drawing/2014/main" id="{9A360662-A1D4-0960-1811-87244C2C2F20}"/>
              </a:ext>
            </a:extLst>
          </p:cNvPr>
          <p:cNvSpPr txBox="1"/>
          <p:nvPr/>
        </p:nvSpPr>
        <p:spPr>
          <a:xfrm>
            <a:off x="508951" y="1674995"/>
            <a:ext cx="150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Earnings Call Summary</a:t>
            </a:r>
            <a:endParaRPr lang="en-US" sz="1700" dirty="0"/>
          </a:p>
        </p:txBody>
      </p:sp>
      <p:sp>
        <p:nvSpPr>
          <p:cNvPr id="47" name="card-115">
            <a:extLst>
              <a:ext uri="{FF2B5EF4-FFF2-40B4-BE49-F238E27FC236}">
                <a16:creationId xmlns:a16="http://schemas.microsoft.com/office/drawing/2014/main" id="{577C2A4F-318A-9BBF-F239-B16078883F80}"/>
              </a:ext>
            </a:extLst>
          </p:cNvPr>
          <p:cNvSpPr/>
          <p:nvPr/>
        </p:nvSpPr>
        <p:spPr>
          <a:xfrm>
            <a:off x="2385330" y="1529695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-117">
            <a:extLst>
              <a:ext uri="{FF2B5EF4-FFF2-40B4-BE49-F238E27FC236}">
                <a16:creationId xmlns:a16="http://schemas.microsoft.com/office/drawing/2014/main" id="{8361F18B-4CFC-852A-CF93-1366DB0B4466}"/>
              </a:ext>
            </a:extLst>
          </p:cNvPr>
          <p:cNvSpPr txBox="1"/>
          <p:nvPr/>
        </p:nvSpPr>
        <p:spPr>
          <a:xfrm>
            <a:off x="2568210" y="1674995"/>
            <a:ext cx="1239469" cy="6858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Earnings Preview</a:t>
            </a:r>
            <a:endParaRPr lang="en-US" sz="1700" dirty="0"/>
          </a:p>
        </p:txBody>
      </p:sp>
      <p:cxnSp>
        <p:nvCxnSpPr>
          <p:cNvPr id="50" name="直线箭头连接符 49">
            <a:extLst>
              <a:ext uri="{FF2B5EF4-FFF2-40B4-BE49-F238E27FC236}">
                <a16:creationId xmlns:a16="http://schemas.microsoft.com/office/drawing/2014/main" id="{45ED6426-190E-53ED-9B6C-A79A77BE79D8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128685" y="1184423"/>
            <a:ext cx="0" cy="34527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线箭头连接符 51">
            <a:extLst>
              <a:ext uri="{FF2B5EF4-FFF2-40B4-BE49-F238E27FC236}">
                <a16:creationId xmlns:a16="http://schemas.microsoft.com/office/drawing/2014/main" id="{0CAB3D4D-DD16-DAD9-4010-8943FA755C21}"/>
              </a:ext>
            </a:extLst>
          </p:cNvPr>
          <p:cNvCxnSpPr>
            <a:cxnSpLocks/>
          </p:cNvCxnSpPr>
          <p:nvPr/>
        </p:nvCxnSpPr>
        <p:spPr>
          <a:xfrm>
            <a:off x="3192206" y="1184423"/>
            <a:ext cx="0" cy="34527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线箭头连接符 52">
            <a:extLst>
              <a:ext uri="{FF2B5EF4-FFF2-40B4-BE49-F238E27FC236}">
                <a16:creationId xmlns:a16="http://schemas.microsoft.com/office/drawing/2014/main" id="{5D1AE89C-2F11-CB30-4F5E-28B0C2C1ED7D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1128685" y="2360796"/>
            <a:ext cx="0" cy="61737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肘形连接符 55">
            <a:extLst>
              <a:ext uri="{FF2B5EF4-FFF2-40B4-BE49-F238E27FC236}">
                <a16:creationId xmlns:a16="http://schemas.microsoft.com/office/drawing/2014/main" id="{710DF9B6-9AE4-D8BD-1BE1-6DAB103A67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28684" y="2359338"/>
            <a:ext cx="2059260" cy="310143"/>
          </a:xfrm>
          <a:prstGeom prst="bentConnector3">
            <a:avLst>
              <a:gd name="adj1" fmla="val 45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card-115">
            <a:extLst>
              <a:ext uri="{FF2B5EF4-FFF2-40B4-BE49-F238E27FC236}">
                <a16:creationId xmlns:a16="http://schemas.microsoft.com/office/drawing/2014/main" id="{32F37B5B-9094-49DB-2BF4-3FB23983D9AB}"/>
              </a:ext>
            </a:extLst>
          </p:cNvPr>
          <p:cNvSpPr/>
          <p:nvPr/>
        </p:nvSpPr>
        <p:spPr>
          <a:xfrm>
            <a:off x="326071" y="5868228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dirty="0"/>
          </a:p>
        </p:txBody>
      </p:sp>
      <p:cxnSp>
        <p:nvCxnSpPr>
          <p:cNvPr id="61" name="直线箭头连接符 60">
            <a:extLst>
              <a:ext uri="{FF2B5EF4-FFF2-40B4-BE49-F238E27FC236}">
                <a16:creationId xmlns:a16="http://schemas.microsoft.com/office/drawing/2014/main" id="{72825679-30C6-C349-7116-AD6EFE96CE6A}"/>
              </a:ext>
            </a:extLst>
          </p:cNvPr>
          <p:cNvCxnSpPr>
            <a:cxnSpLocks/>
          </p:cNvCxnSpPr>
          <p:nvPr/>
        </p:nvCxnSpPr>
        <p:spPr>
          <a:xfrm>
            <a:off x="1094535" y="5233118"/>
            <a:ext cx="0" cy="61737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-117">
            <a:extLst>
              <a:ext uri="{FF2B5EF4-FFF2-40B4-BE49-F238E27FC236}">
                <a16:creationId xmlns:a16="http://schemas.microsoft.com/office/drawing/2014/main" id="{2B3405AF-9D01-755A-554F-FE2F20B8166F}"/>
              </a:ext>
            </a:extLst>
          </p:cNvPr>
          <p:cNvSpPr txBox="1"/>
          <p:nvPr/>
        </p:nvSpPr>
        <p:spPr>
          <a:xfrm>
            <a:off x="508948" y="5962701"/>
            <a:ext cx="1239469" cy="6858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List of Surprises</a:t>
            </a:r>
            <a:endParaRPr lang="en-US" sz="1700" dirty="0"/>
          </a:p>
        </p:txBody>
      </p:sp>
      <p:sp>
        <p:nvSpPr>
          <p:cNvPr id="64" name="card-115">
            <a:extLst>
              <a:ext uri="{FF2B5EF4-FFF2-40B4-BE49-F238E27FC236}">
                <a16:creationId xmlns:a16="http://schemas.microsoft.com/office/drawing/2014/main" id="{77DF5E54-B154-510D-8079-AFF716044B42}"/>
              </a:ext>
            </a:extLst>
          </p:cNvPr>
          <p:cNvSpPr/>
          <p:nvPr/>
        </p:nvSpPr>
        <p:spPr>
          <a:xfrm>
            <a:off x="326071" y="7015936"/>
            <a:ext cx="4778655" cy="2435355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dirty="0"/>
          </a:p>
        </p:txBody>
      </p:sp>
      <p:cxnSp>
        <p:nvCxnSpPr>
          <p:cNvPr id="65" name="直线箭头连接符 64">
            <a:extLst>
              <a:ext uri="{FF2B5EF4-FFF2-40B4-BE49-F238E27FC236}">
                <a16:creationId xmlns:a16="http://schemas.microsoft.com/office/drawing/2014/main" id="{2EF5F106-7F18-AF03-381A-74CB9632AADF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1128686" y="6699328"/>
            <a:ext cx="0" cy="316608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-117">
            <a:extLst>
              <a:ext uri="{FF2B5EF4-FFF2-40B4-BE49-F238E27FC236}">
                <a16:creationId xmlns:a16="http://schemas.microsoft.com/office/drawing/2014/main" id="{5CA505AB-572D-A277-BD40-AFA52D0C3798}"/>
              </a:ext>
            </a:extLst>
          </p:cNvPr>
          <p:cNvSpPr txBox="1"/>
          <p:nvPr/>
        </p:nvSpPr>
        <p:spPr>
          <a:xfrm>
            <a:off x="508949" y="7091398"/>
            <a:ext cx="1239469" cy="29252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Surprise</a:t>
            </a:r>
          </a:p>
        </p:txBody>
      </p:sp>
      <p:sp>
        <p:nvSpPr>
          <p:cNvPr id="63" name="text-118">
            <a:extLst>
              <a:ext uri="{FF2B5EF4-FFF2-40B4-BE49-F238E27FC236}">
                <a16:creationId xmlns:a16="http://schemas.microsoft.com/office/drawing/2014/main" id="{12F3F0C1-A39B-1D52-309F-621EB0A856A1}"/>
              </a:ext>
            </a:extLst>
          </p:cNvPr>
          <p:cNvSpPr txBox="1"/>
          <p:nvPr/>
        </p:nvSpPr>
        <p:spPr>
          <a:xfrm>
            <a:off x="508948" y="7476135"/>
            <a:ext cx="4778669" cy="15424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/>
              <a:t>One way the earnings call differed from what was expected</a:t>
            </a:r>
          </a:p>
          <a:p>
            <a:r>
              <a:rPr lang="en-US" sz="1300" dirty="0"/>
              <a:t>- description, call evidence, expectation evidence</a:t>
            </a:r>
          </a:p>
          <a:p>
            <a:r>
              <a:rPr lang="en-US" sz="1300" dirty="0"/>
              <a:t>- expectation source: preview / call / none</a:t>
            </a:r>
          </a:p>
          <a:p>
            <a:r>
              <a:rPr lang="en-US" sz="1300" dirty="0"/>
              <a:t>- position: order in the list, most important first</a:t>
            </a:r>
          </a:p>
          <a:p>
            <a:r>
              <a:rPr lang="en-US" sz="1300" dirty="0"/>
              <a:t>- category: one of 15 v2 categories, or other</a:t>
            </a:r>
          </a:p>
          <a:p>
            <a:r>
              <a:rPr lang="en-US" altLang="zh-CN" sz="1300" dirty="0"/>
              <a:t>- direction: +1 good, -1 bad, 0 mixed, null unclear (scored 0)</a:t>
            </a:r>
          </a:p>
          <a:p>
            <a:r>
              <a:rPr lang="en-US" altLang="zh-CN" sz="1300" dirty="0"/>
              <a:t>- magnitude: 1 small, 2 moderate, 3 large</a:t>
            </a:r>
          </a:p>
        </p:txBody>
      </p:sp>
      <p:cxnSp>
        <p:nvCxnSpPr>
          <p:cNvPr id="68" name="肘形连接符 67">
            <a:extLst>
              <a:ext uri="{FF2B5EF4-FFF2-40B4-BE49-F238E27FC236}">
                <a16:creationId xmlns:a16="http://schemas.microsoft.com/office/drawing/2014/main" id="{774D8AF4-BC1B-D85A-4AEE-0F60E207F57D}"/>
              </a:ext>
            </a:extLst>
          </p:cNvPr>
          <p:cNvCxnSpPr>
            <a:cxnSpLocks/>
          </p:cNvCxnSpPr>
          <p:nvPr/>
        </p:nvCxnSpPr>
        <p:spPr>
          <a:xfrm flipV="1">
            <a:off x="1652461" y="5233118"/>
            <a:ext cx="4043038" cy="1043364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线箭头连接符 68">
            <a:extLst>
              <a:ext uri="{FF2B5EF4-FFF2-40B4-BE49-F238E27FC236}">
                <a16:creationId xmlns:a16="http://schemas.microsoft.com/office/drawing/2014/main" id="{4B71220A-18D8-3F4B-3D28-9A6B5EFC6ECF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6776952" y="4112939"/>
            <a:ext cx="454030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线箭头连接符 73">
            <a:extLst>
              <a:ext uri="{FF2B5EF4-FFF2-40B4-BE49-F238E27FC236}">
                <a16:creationId xmlns:a16="http://schemas.microsoft.com/office/drawing/2014/main" id="{4EC20669-2B00-9820-61CB-4036F092AF51}"/>
              </a:ext>
            </a:extLst>
          </p:cNvPr>
          <p:cNvCxnSpPr>
            <a:cxnSpLocks/>
          </p:cNvCxnSpPr>
          <p:nvPr/>
        </p:nvCxnSpPr>
        <p:spPr>
          <a:xfrm flipV="1">
            <a:off x="6243540" y="5248793"/>
            <a:ext cx="0" cy="1448474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card-115">
            <a:extLst>
              <a:ext uri="{FF2B5EF4-FFF2-40B4-BE49-F238E27FC236}">
                <a16:creationId xmlns:a16="http://schemas.microsoft.com/office/drawing/2014/main" id="{2527B032-9851-F155-8274-E8BB1AE03E4F}"/>
              </a:ext>
            </a:extLst>
          </p:cNvPr>
          <p:cNvSpPr/>
          <p:nvPr/>
        </p:nvSpPr>
        <p:spPr>
          <a:xfrm>
            <a:off x="5591238" y="6694311"/>
            <a:ext cx="1605229" cy="1332957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8" name="text-117">
            <a:extLst>
              <a:ext uri="{FF2B5EF4-FFF2-40B4-BE49-F238E27FC236}">
                <a16:creationId xmlns:a16="http://schemas.microsoft.com/office/drawing/2014/main" id="{273D3C65-8B60-8945-FA02-45BD984FF782}"/>
              </a:ext>
            </a:extLst>
          </p:cNvPr>
          <p:cNvSpPr txBox="1"/>
          <p:nvPr/>
        </p:nvSpPr>
        <p:spPr>
          <a:xfrm>
            <a:off x="5774115" y="6788785"/>
            <a:ext cx="1239469" cy="3210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Taxonomy</a:t>
            </a:r>
            <a:endParaRPr lang="en-US" sz="1700" dirty="0"/>
          </a:p>
        </p:txBody>
      </p:sp>
      <p:sp>
        <p:nvSpPr>
          <p:cNvPr id="79" name="text-118">
            <a:extLst>
              <a:ext uri="{FF2B5EF4-FFF2-40B4-BE49-F238E27FC236}">
                <a16:creationId xmlns:a16="http://schemas.microsoft.com/office/drawing/2014/main" id="{F2CC19E2-5505-2765-6422-B6D4D00E9CF0}"/>
              </a:ext>
            </a:extLst>
          </p:cNvPr>
          <p:cNvSpPr txBox="1"/>
          <p:nvPr/>
        </p:nvSpPr>
        <p:spPr>
          <a:xfrm>
            <a:off x="5774115" y="7112893"/>
            <a:ext cx="1239469" cy="8250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/>
              <a:t>Frozen v2 codebook: 15 categories with assignment rules</a:t>
            </a:r>
          </a:p>
        </p:txBody>
      </p:sp>
      <p:sp>
        <p:nvSpPr>
          <p:cNvPr id="93" name="card-115">
            <a:extLst>
              <a:ext uri="{FF2B5EF4-FFF2-40B4-BE49-F238E27FC236}">
                <a16:creationId xmlns:a16="http://schemas.microsoft.com/office/drawing/2014/main" id="{647C93C1-1E34-C4B0-605C-081B0D3D756C}"/>
              </a:ext>
            </a:extLst>
          </p:cNvPr>
          <p:cNvSpPr/>
          <p:nvPr/>
        </p:nvSpPr>
        <p:spPr>
          <a:xfrm>
            <a:off x="7213722" y="2702740"/>
            <a:ext cx="2064642" cy="2663708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text-117">
            <a:extLst>
              <a:ext uri="{FF2B5EF4-FFF2-40B4-BE49-F238E27FC236}">
                <a16:creationId xmlns:a16="http://schemas.microsoft.com/office/drawing/2014/main" id="{0BD5B5A2-F15A-527D-762D-DC0BC286E11B}"/>
              </a:ext>
            </a:extLst>
          </p:cNvPr>
          <p:cNvSpPr txBox="1"/>
          <p:nvPr/>
        </p:nvSpPr>
        <p:spPr>
          <a:xfrm>
            <a:off x="7396602" y="2819120"/>
            <a:ext cx="1239469" cy="685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Aggregate surprises</a:t>
            </a:r>
            <a:endParaRPr lang="en-US" sz="1700" dirty="0"/>
          </a:p>
        </p:txBody>
      </p:sp>
      <p:sp>
        <p:nvSpPr>
          <p:cNvPr id="95" name="text-118">
            <a:extLst>
              <a:ext uri="{FF2B5EF4-FFF2-40B4-BE49-F238E27FC236}">
                <a16:creationId xmlns:a16="http://schemas.microsoft.com/office/drawing/2014/main" id="{B67CFA38-A854-F26E-088B-096C37F376D4}"/>
              </a:ext>
            </a:extLst>
          </p:cNvPr>
          <p:cNvSpPr txBox="1"/>
          <p:nvPr/>
        </p:nvSpPr>
        <p:spPr>
          <a:xfrm>
            <a:off x="7396602" y="3455035"/>
            <a:ext cx="1776682" cy="825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/>
              <a:t>Per event, build features:</a:t>
            </a:r>
          </a:p>
          <a:p>
            <a:r>
              <a:rPr lang="en-US" sz="1300" dirty="0"/>
              <a:t>- net surprise per category (direction × magnitude)</a:t>
            </a:r>
          </a:p>
          <a:p>
            <a:r>
              <a:rPr lang="en-US" sz="1300" dirty="0"/>
              <a:t>- positive / negative parts per category</a:t>
            </a:r>
          </a:p>
          <a:p>
            <a:r>
              <a:rPr lang="en-US" sz="1300" dirty="0"/>
              <a:t>- totals: counts, net, first-3 net</a:t>
            </a:r>
          </a:p>
          <a:p>
            <a:r>
              <a:rPr lang="en-US" sz="1300" dirty="0"/>
              <a:t>- no-surprise flag</a:t>
            </a:r>
          </a:p>
        </p:txBody>
      </p:sp>
      <p:sp>
        <p:nvSpPr>
          <p:cNvPr id="99" name="card-115">
            <a:extLst>
              <a:ext uri="{FF2B5EF4-FFF2-40B4-BE49-F238E27FC236}">
                <a16:creationId xmlns:a16="http://schemas.microsoft.com/office/drawing/2014/main" id="{48B132A9-8352-F3AC-0C7E-2D6107157EAF}"/>
              </a:ext>
            </a:extLst>
          </p:cNvPr>
          <p:cNvSpPr/>
          <p:nvPr/>
        </p:nvSpPr>
        <p:spPr>
          <a:xfrm>
            <a:off x="9552877" y="2993843"/>
            <a:ext cx="1605229" cy="2254950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text-117">
            <a:extLst>
              <a:ext uri="{FF2B5EF4-FFF2-40B4-BE49-F238E27FC236}">
                <a16:creationId xmlns:a16="http://schemas.microsoft.com/office/drawing/2014/main" id="{218AE695-516C-5459-4BB9-29E4F58B9E85}"/>
              </a:ext>
            </a:extLst>
          </p:cNvPr>
          <p:cNvSpPr txBox="1"/>
          <p:nvPr/>
        </p:nvSpPr>
        <p:spPr>
          <a:xfrm>
            <a:off x="9735757" y="3110223"/>
            <a:ext cx="1239469" cy="685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Prediction</a:t>
            </a:r>
            <a:endParaRPr lang="en-US" sz="1700" dirty="0"/>
          </a:p>
        </p:txBody>
      </p:sp>
      <p:sp>
        <p:nvSpPr>
          <p:cNvPr id="101" name="text-118">
            <a:extLst>
              <a:ext uri="{FF2B5EF4-FFF2-40B4-BE49-F238E27FC236}">
                <a16:creationId xmlns:a16="http://schemas.microsoft.com/office/drawing/2014/main" id="{CC754527-7003-636A-CC98-7A43310B930A}"/>
              </a:ext>
            </a:extLst>
          </p:cNvPr>
          <p:cNvSpPr txBox="1"/>
          <p:nvPr/>
        </p:nvSpPr>
        <p:spPr>
          <a:xfrm>
            <a:off x="9727011" y="3488627"/>
            <a:ext cx="1239469" cy="825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Ridge regression (GBM planned), trained on the training set; output clipped to [0, 1]</a:t>
            </a:r>
            <a:endParaRPr lang="en-US" sz="1300" dirty="0"/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4CB25D3E-9389-22CF-B754-79C21D428D52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9278364" y="4121318"/>
            <a:ext cx="274513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card-115">
            <a:extLst>
              <a:ext uri="{FF2B5EF4-FFF2-40B4-BE49-F238E27FC236}">
                <a16:creationId xmlns:a16="http://schemas.microsoft.com/office/drawing/2014/main" id="{033F2C29-629A-722C-9849-EBC506A20806}"/>
              </a:ext>
            </a:extLst>
          </p:cNvPr>
          <p:cNvSpPr/>
          <p:nvPr/>
        </p:nvSpPr>
        <p:spPr>
          <a:xfrm>
            <a:off x="4614555" y="1528238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text-117">
            <a:extLst>
              <a:ext uri="{FF2B5EF4-FFF2-40B4-BE49-F238E27FC236}">
                <a16:creationId xmlns:a16="http://schemas.microsoft.com/office/drawing/2014/main" id="{F0AEFD9F-DF62-D465-FA99-48B3EBED52A6}"/>
              </a:ext>
            </a:extLst>
          </p:cNvPr>
          <p:cNvSpPr txBox="1"/>
          <p:nvPr/>
        </p:nvSpPr>
        <p:spPr>
          <a:xfrm>
            <a:off x="4797435" y="1673538"/>
            <a:ext cx="1239469" cy="6858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Option Statistics</a:t>
            </a:r>
            <a:endParaRPr lang="en-US" sz="1700" dirty="0"/>
          </a:p>
        </p:txBody>
      </p:sp>
      <p:cxnSp>
        <p:nvCxnSpPr>
          <p:cNvPr id="107" name="肘形连接符 106">
            <a:extLst>
              <a:ext uri="{FF2B5EF4-FFF2-40B4-BE49-F238E27FC236}">
                <a16:creationId xmlns:a16="http://schemas.microsoft.com/office/drawing/2014/main" id="{766A03CD-FB9C-B42F-9624-51D9BF55F3EB}"/>
              </a:ext>
            </a:extLst>
          </p:cNvPr>
          <p:cNvCxnSpPr>
            <a:cxnSpLocks/>
            <a:endCxn id="104" idx="0"/>
          </p:cNvCxnSpPr>
          <p:nvPr/>
        </p:nvCxnSpPr>
        <p:spPr>
          <a:xfrm>
            <a:off x="3988428" y="995921"/>
            <a:ext cx="1428742" cy="532317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肘形连接符 109">
            <a:extLst>
              <a:ext uri="{FF2B5EF4-FFF2-40B4-BE49-F238E27FC236}">
                <a16:creationId xmlns:a16="http://schemas.microsoft.com/office/drawing/2014/main" id="{850577DB-04C0-F02E-100C-5D0ED96ADDB1}"/>
              </a:ext>
            </a:extLst>
          </p:cNvPr>
          <p:cNvCxnSpPr>
            <a:cxnSpLocks/>
            <a:stCxn id="104" idx="3"/>
            <a:endCxn id="99" idx="0"/>
          </p:cNvCxnSpPr>
          <p:nvPr/>
        </p:nvCxnSpPr>
        <p:spPr>
          <a:xfrm>
            <a:off x="6219784" y="1943788"/>
            <a:ext cx="4135708" cy="1050055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线箭头连接符 117">
            <a:extLst>
              <a:ext uri="{FF2B5EF4-FFF2-40B4-BE49-F238E27FC236}">
                <a16:creationId xmlns:a16="http://schemas.microsoft.com/office/drawing/2014/main" id="{1B354723-25BF-9879-CEBD-8643F2E86C68}"/>
              </a:ext>
            </a:extLst>
          </p:cNvPr>
          <p:cNvCxnSpPr>
            <a:cxnSpLocks/>
          </p:cNvCxnSpPr>
          <p:nvPr/>
        </p:nvCxnSpPr>
        <p:spPr>
          <a:xfrm>
            <a:off x="10355491" y="5248793"/>
            <a:ext cx="0" cy="34527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card-115">
            <a:extLst>
              <a:ext uri="{FF2B5EF4-FFF2-40B4-BE49-F238E27FC236}">
                <a16:creationId xmlns:a16="http://schemas.microsoft.com/office/drawing/2014/main" id="{CAD6A282-39C2-2E14-EE5E-D0182C604D11}"/>
              </a:ext>
            </a:extLst>
          </p:cNvPr>
          <p:cNvSpPr/>
          <p:nvPr/>
        </p:nvSpPr>
        <p:spPr>
          <a:xfrm>
            <a:off x="9552876" y="5627197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text-117">
            <a:extLst>
              <a:ext uri="{FF2B5EF4-FFF2-40B4-BE49-F238E27FC236}">
                <a16:creationId xmlns:a16="http://schemas.microsoft.com/office/drawing/2014/main" id="{0CE048F3-088F-640C-E379-3F5BFA93A0F4}"/>
              </a:ext>
            </a:extLst>
          </p:cNvPr>
          <p:cNvSpPr txBox="1"/>
          <p:nvPr/>
        </p:nvSpPr>
        <p:spPr>
          <a:xfrm>
            <a:off x="9735756" y="5772497"/>
            <a:ext cx="1239469" cy="6858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Final Prediction</a:t>
            </a:r>
            <a:endParaRPr lang="en-US" sz="1700" dirty="0"/>
          </a:p>
        </p:txBody>
      </p:sp>
      <p:sp>
        <p:nvSpPr>
          <p:cNvPr id="123" name="card-115">
            <a:extLst>
              <a:ext uri="{FF2B5EF4-FFF2-40B4-BE49-F238E27FC236}">
                <a16:creationId xmlns:a16="http://schemas.microsoft.com/office/drawing/2014/main" id="{6717059D-EBD9-620A-9808-A98847277242}"/>
              </a:ext>
            </a:extLst>
          </p:cNvPr>
          <p:cNvSpPr/>
          <p:nvPr/>
        </p:nvSpPr>
        <p:spPr>
          <a:xfrm>
            <a:off x="2768064" y="2887965"/>
            <a:ext cx="1667792" cy="2435355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24" name="text-117">
            <a:extLst>
              <a:ext uri="{FF2B5EF4-FFF2-40B4-BE49-F238E27FC236}">
                <a16:creationId xmlns:a16="http://schemas.microsoft.com/office/drawing/2014/main" id="{A56E2FC1-208C-A091-4121-4BBD7E172EE5}"/>
              </a:ext>
            </a:extLst>
          </p:cNvPr>
          <p:cNvSpPr txBox="1"/>
          <p:nvPr/>
        </p:nvSpPr>
        <p:spPr>
          <a:xfrm>
            <a:off x="2950941" y="3072643"/>
            <a:ext cx="1239469" cy="3210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Prompt</a:t>
            </a:r>
            <a:endParaRPr lang="en-US" sz="1700" dirty="0"/>
          </a:p>
        </p:txBody>
      </p:sp>
      <p:sp>
        <p:nvSpPr>
          <p:cNvPr id="125" name="text-118">
            <a:extLst>
              <a:ext uri="{FF2B5EF4-FFF2-40B4-BE49-F238E27FC236}">
                <a16:creationId xmlns:a16="http://schemas.microsoft.com/office/drawing/2014/main" id="{49C6F46B-9C92-945D-953F-E6E8644C0326}"/>
              </a:ext>
            </a:extLst>
          </p:cNvPr>
          <p:cNvSpPr txBox="1"/>
          <p:nvPr/>
        </p:nvSpPr>
        <p:spPr>
          <a:xfrm>
            <a:off x="2950941" y="3396751"/>
            <a:ext cx="1422351" cy="8250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/>
              <a:t>To be tuned with Agentic Context Engineering (ACE). Objective: ΔR² of the first-3 net weighted surprise over the ranked earnings surprise</a:t>
            </a:r>
          </a:p>
        </p:txBody>
      </p:sp>
      <p:cxnSp>
        <p:nvCxnSpPr>
          <p:cNvPr id="131" name="直线箭头连接符 130">
            <a:extLst>
              <a:ext uri="{FF2B5EF4-FFF2-40B4-BE49-F238E27FC236}">
                <a16:creationId xmlns:a16="http://schemas.microsoft.com/office/drawing/2014/main" id="{D22AEE4E-7E70-5BCF-7940-8962D44C45F7}"/>
              </a:ext>
            </a:extLst>
          </p:cNvPr>
          <p:cNvCxnSpPr>
            <a:cxnSpLocks/>
          </p:cNvCxnSpPr>
          <p:nvPr/>
        </p:nvCxnSpPr>
        <p:spPr>
          <a:xfrm>
            <a:off x="3990559" y="546014"/>
            <a:ext cx="1876379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card-115">
            <a:extLst>
              <a:ext uri="{FF2B5EF4-FFF2-40B4-BE49-F238E27FC236}">
                <a16:creationId xmlns:a16="http://schemas.microsoft.com/office/drawing/2014/main" id="{A086CEAD-FD58-8176-0E94-57F9361310F0}"/>
              </a:ext>
            </a:extLst>
          </p:cNvPr>
          <p:cNvSpPr/>
          <p:nvPr/>
        </p:nvSpPr>
        <p:spPr>
          <a:xfrm>
            <a:off x="5866938" y="203049"/>
            <a:ext cx="1605229" cy="831100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text-117">
            <a:extLst>
              <a:ext uri="{FF2B5EF4-FFF2-40B4-BE49-F238E27FC236}">
                <a16:creationId xmlns:a16="http://schemas.microsoft.com/office/drawing/2014/main" id="{947E2278-4112-6BCC-2672-E6C8847E22AD}"/>
              </a:ext>
            </a:extLst>
          </p:cNvPr>
          <p:cNvSpPr txBox="1"/>
          <p:nvPr/>
        </p:nvSpPr>
        <p:spPr>
          <a:xfrm>
            <a:off x="6049818" y="348349"/>
            <a:ext cx="1239469" cy="3360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Event Date</a:t>
            </a:r>
          </a:p>
          <a:p>
            <a:endParaRPr lang="en-US" sz="1700" dirty="0"/>
          </a:p>
        </p:txBody>
      </p:sp>
      <p:sp>
        <p:nvSpPr>
          <p:cNvPr id="135" name="text-118">
            <a:extLst>
              <a:ext uri="{FF2B5EF4-FFF2-40B4-BE49-F238E27FC236}">
                <a16:creationId xmlns:a16="http://schemas.microsoft.com/office/drawing/2014/main" id="{435D245A-3C33-CE9F-295E-DC37B61F3087}"/>
              </a:ext>
            </a:extLst>
          </p:cNvPr>
          <p:cNvSpPr txBox="1"/>
          <p:nvPr/>
        </p:nvSpPr>
        <p:spPr>
          <a:xfrm>
            <a:off x="6049818" y="626603"/>
            <a:ext cx="1239469" cy="2583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Knowledge cutoff</a:t>
            </a:r>
            <a:endParaRPr lang="en-US" sz="1300" dirty="0"/>
          </a:p>
        </p:txBody>
      </p:sp>
      <p:sp>
        <p:nvSpPr>
          <p:cNvPr id="136" name="card-115">
            <a:extLst>
              <a:ext uri="{FF2B5EF4-FFF2-40B4-BE49-F238E27FC236}">
                <a16:creationId xmlns:a16="http://schemas.microsoft.com/office/drawing/2014/main" id="{8858DE2F-2CBA-797D-056A-57AE6005812B}"/>
              </a:ext>
            </a:extLst>
          </p:cNvPr>
          <p:cNvSpPr/>
          <p:nvPr/>
        </p:nvSpPr>
        <p:spPr>
          <a:xfrm>
            <a:off x="7749534" y="203049"/>
            <a:ext cx="2405886" cy="1470489"/>
          </a:xfrm>
          <a:prstGeom prst="roundRect">
            <a:avLst>
              <a:gd name="adj" fmla="val 4557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37" name="text-117">
            <a:extLst>
              <a:ext uri="{FF2B5EF4-FFF2-40B4-BE49-F238E27FC236}">
                <a16:creationId xmlns:a16="http://schemas.microsoft.com/office/drawing/2014/main" id="{D7377A92-A804-3AB4-7C62-7B3FFA03DD46}"/>
              </a:ext>
            </a:extLst>
          </p:cNvPr>
          <p:cNvSpPr txBox="1"/>
          <p:nvPr/>
        </p:nvSpPr>
        <p:spPr>
          <a:xfrm>
            <a:off x="7921936" y="315515"/>
            <a:ext cx="1239469" cy="3210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700" b="1" dirty="0">
                <a:latin typeface="Cambria" pitchFamily="34" charset="0"/>
              </a:rPr>
              <a:t>Stock Prices</a:t>
            </a:r>
            <a:endParaRPr lang="en-US" sz="1700" dirty="0"/>
          </a:p>
        </p:txBody>
      </p:sp>
      <p:sp>
        <p:nvSpPr>
          <p:cNvPr id="138" name="text-118">
            <a:extLst>
              <a:ext uri="{FF2B5EF4-FFF2-40B4-BE49-F238E27FC236}">
                <a16:creationId xmlns:a16="http://schemas.microsoft.com/office/drawing/2014/main" id="{A931E86A-5B95-79C7-A27D-3E562F8F3C4D}"/>
              </a:ext>
            </a:extLst>
          </p:cNvPr>
          <p:cNvSpPr txBox="1"/>
          <p:nvPr/>
        </p:nvSpPr>
        <p:spPr>
          <a:xfrm>
            <a:off x="7921935" y="639623"/>
            <a:ext cx="2050609" cy="8250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/>
              <a:t>- The firm's stock return before the event, up to the knowledge cutoff</a:t>
            </a:r>
          </a:p>
          <a:p>
            <a:r>
              <a:rPr lang="en-US" sz="1300" dirty="0"/>
              <a:t>- Market return in the week before the event</a:t>
            </a:r>
          </a:p>
        </p:txBody>
      </p:sp>
      <p:cxnSp>
        <p:nvCxnSpPr>
          <p:cNvPr id="139" name="直线箭头连接符 138">
            <a:extLst>
              <a:ext uri="{FF2B5EF4-FFF2-40B4-BE49-F238E27FC236}">
                <a16:creationId xmlns:a16="http://schemas.microsoft.com/office/drawing/2014/main" id="{7B10E1E5-B686-AB54-D7A6-2AD44F9D9060}"/>
              </a:ext>
            </a:extLst>
          </p:cNvPr>
          <p:cNvCxnSpPr>
            <a:cxnSpLocks/>
          </p:cNvCxnSpPr>
          <p:nvPr/>
        </p:nvCxnSpPr>
        <p:spPr>
          <a:xfrm>
            <a:off x="7467902" y="531279"/>
            <a:ext cx="281632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肘形连接符 140">
            <a:extLst>
              <a:ext uri="{FF2B5EF4-FFF2-40B4-BE49-F238E27FC236}">
                <a16:creationId xmlns:a16="http://schemas.microsoft.com/office/drawing/2014/main" id="{533CC7BE-AA39-0D97-2A55-51168B7AF0E7}"/>
              </a:ext>
            </a:extLst>
          </p:cNvPr>
          <p:cNvCxnSpPr>
            <a:cxnSpLocks/>
            <a:stCxn id="136" idx="3"/>
            <a:endCxn id="99" idx="0"/>
          </p:cNvCxnSpPr>
          <p:nvPr/>
        </p:nvCxnSpPr>
        <p:spPr>
          <a:xfrm>
            <a:off x="10155420" y="938294"/>
            <a:ext cx="200072" cy="2055549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直线箭头连接符 216">
            <a:extLst>
              <a:ext uri="{FF2B5EF4-FFF2-40B4-BE49-F238E27FC236}">
                <a16:creationId xmlns:a16="http://schemas.microsoft.com/office/drawing/2014/main" id="{9C70EC70-50D6-1893-17DE-DA7627CC8210}"/>
              </a:ext>
            </a:extLst>
          </p:cNvPr>
          <p:cNvCxnSpPr>
            <a:cxnSpLocks/>
            <a:stCxn id="123" idx="1"/>
            <a:endCxn id="29" idx="3"/>
          </p:cNvCxnSpPr>
          <p:nvPr/>
        </p:nvCxnSpPr>
        <p:spPr>
          <a:xfrm flipH="1">
            <a:off x="1931300" y="4105643"/>
            <a:ext cx="836764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card-115">
            <a:extLst>
              <a:ext uri="{FF2B5EF4-FFF2-40B4-BE49-F238E27FC236}">
                <a16:creationId xmlns:a16="http://schemas.microsoft.com/office/drawing/2014/main" id="{27633E0A-EBF0-A9CF-12BA-EC082FE79432}"/>
              </a:ext>
            </a:extLst>
          </p:cNvPr>
          <p:cNvSpPr/>
          <p:nvPr/>
        </p:nvSpPr>
        <p:spPr>
          <a:xfrm>
            <a:off x="8246043" y="7305735"/>
            <a:ext cx="1614335" cy="440217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text-118">
            <a:extLst>
              <a:ext uri="{FF2B5EF4-FFF2-40B4-BE49-F238E27FC236}">
                <a16:creationId xmlns:a16="http://schemas.microsoft.com/office/drawing/2014/main" id="{6DCD7455-1BC5-346B-CB96-75CFBF9D7894}"/>
              </a:ext>
            </a:extLst>
          </p:cNvPr>
          <p:cNvSpPr txBox="1"/>
          <p:nvPr/>
        </p:nvSpPr>
        <p:spPr>
          <a:xfrm>
            <a:off x="8313407" y="7423390"/>
            <a:ext cx="1239469" cy="2159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Data</a:t>
            </a:r>
          </a:p>
        </p:txBody>
      </p:sp>
      <p:sp>
        <p:nvSpPr>
          <p:cNvPr id="240" name="card-115">
            <a:extLst>
              <a:ext uri="{FF2B5EF4-FFF2-40B4-BE49-F238E27FC236}">
                <a16:creationId xmlns:a16="http://schemas.microsoft.com/office/drawing/2014/main" id="{25DF5750-BAA7-B04D-47EA-F37DABD0958C}"/>
              </a:ext>
            </a:extLst>
          </p:cNvPr>
          <p:cNvSpPr/>
          <p:nvPr/>
        </p:nvSpPr>
        <p:spPr>
          <a:xfrm>
            <a:off x="8246043" y="7957367"/>
            <a:ext cx="1614335" cy="440217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text-118">
            <a:extLst>
              <a:ext uri="{FF2B5EF4-FFF2-40B4-BE49-F238E27FC236}">
                <a16:creationId xmlns:a16="http://schemas.microsoft.com/office/drawing/2014/main" id="{59898216-31A4-3025-4071-74993D4BDF09}"/>
              </a:ext>
            </a:extLst>
          </p:cNvPr>
          <p:cNvSpPr txBox="1"/>
          <p:nvPr/>
        </p:nvSpPr>
        <p:spPr>
          <a:xfrm>
            <a:off x="8313407" y="8075022"/>
            <a:ext cx="1239469" cy="2159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Node</a:t>
            </a:r>
          </a:p>
        </p:txBody>
      </p:sp>
      <p:sp>
        <p:nvSpPr>
          <p:cNvPr id="247" name="card-115">
            <a:extLst>
              <a:ext uri="{FF2B5EF4-FFF2-40B4-BE49-F238E27FC236}">
                <a16:creationId xmlns:a16="http://schemas.microsoft.com/office/drawing/2014/main" id="{78405A8E-35D8-8CA0-8413-E486991A8684}"/>
              </a:ext>
            </a:extLst>
          </p:cNvPr>
          <p:cNvSpPr/>
          <p:nvPr/>
        </p:nvSpPr>
        <p:spPr>
          <a:xfrm>
            <a:off x="8246043" y="8608999"/>
            <a:ext cx="1614335" cy="440217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text-118">
            <a:extLst>
              <a:ext uri="{FF2B5EF4-FFF2-40B4-BE49-F238E27FC236}">
                <a16:creationId xmlns:a16="http://schemas.microsoft.com/office/drawing/2014/main" id="{61862099-B2FD-0ABA-8DA5-2801EF464001}"/>
              </a:ext>
            </a:extLst>
          </p:cNvPr>
          <p:cNvSpPr txBox="1"/>
          <p:nvPr/>
        </p:nvSpPr>
        <p:spPr>
          <a:xfrm>
            <a:off x="8313407" y="8726654"/>
            <a:ext cx="1239469" cy="2159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Prompt</a:t>
            </a:r>
          </a:p>
        </p:txBody>
      </p:sp>
      <p:sp>
        <p:nvSpPr>
          <p:cNvPr id="249" name="card-115">
            <a:extLst>
              <a:ext uri="{FF2B5EF4-FFF2-40B4-BE49-F238E27FC236}">
                <a16:creationId xmlns:a16="http://schemas.microsoft.com/office/drawing/2014/main" id="{6CFB6EFF-8EF3-0D54-376B-B1FD04739689}"/>
              </a:ext>
            </a:extLst>
          </p:cNvPr>
          <p:cNvSpPr/>
          <p:nvPr/>
        </p:nvSpPr>
        <p:spPr>
          <a:xfrm>
            <a:off x="10102786" y="7304342"/>
            <a:ext cx="1614335" cy="440217"/>
          </a:xfrm>
          <a:prstGeom prst="roundRect">
            <a:avLst>
              <a:gd name="adj" fmla="val 4557"/>
            </a:avLst>
          </a:prstGeom>
          <a:noFill/>
          <a:ln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text-118">
            <a:extLst>
              <a:ext uri="{FF2B5EF4-FFF2-40B4-BE49-F238E27FC236}">
                <a16:creationId xmlns:a16="http://schemas.microsoft.com/office/drawing/2014/main" id="{11C6E763-4358-1573-D419-2EBBE815115B}"/>
              </a:ext>
            </a:extLst>
          </p:cNvPr>
          <p:cNvSpPr txBox="1"/>
          <p:nvPr/>
        </p:nvSpPr>
        <p:spPr>
          <a:xfrm>
            <a:off x="10170150" y="7421997"/>
            <a:ext cx="1239469" cy="2159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Implemented</a:t>
            </a:r>
          </a:p>
        </p:txBody>
      </p:sp>
      <p:sp>
        <p:nvSpPr>
          <p:cNvPr id="251" name="card-115">
            <a:extLst>
              <a:ext uri="{FF2B5EF4-FFF2-40B4-BE49-F238E27FC236}">
                <a16:creationId xmlns:a16="http://schemas.microsoft.com/office/drawing/2014/main" id="{9DF52077-3791-DB55-9EFE-F29E4F942F6B}"/>
              </a:ext>
            </a:extLst>
          </p:cNvPr>
          <p:cNvSpPr/>
          <p:nvPr/>
        </p:nvSpPr>
        <p:spPr>
          <a:xfrm>
            <a:off x="10102786" y="7956128"/>
            <a:ext cx="1614335" cy="440217"/>
          </a:xfrm>
          <a:prstGeom prst="roundRect">
            <a:avLst>
              <a:gd name="adj" fmla="val 4557"/>
            </a:avLst>
          </a:prstGeom>
          <a:noFill/>
          <a:ln>
            <a:solidFill>
              <a:schemeClr val="accent6">
                <a:lumMod val="50000"/>
              </a:schemeClr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text-118">
            <a:extLst>
              <a:ext uri="{FF2B5EF4-FFF2-40B4-BE49-F238E27FC236}">
                <a16:creationId xmlns:a16="http://schemas.microsoft.com/office/drawing/2014/main" id="{67B528A3-50CA-FE07-E8CB-3FB21DCFBFD0}"/>
              </a:ext>
            </a:extLst>
          </p:cNvPr>
          <p:cNvSpPr txBox="1"/>
          <p:nvPr/>
        </p:nvSpPr>
        <p:spPr>
          <a:xfrm>
            <a:off x="10170150" y="8073783"/>
            <a:ext cx="1239469" cy="2159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chemeClr val="tx2"/>
                </a:solidFill>
              </a:rPr>
              <a:t>Unimplemented</a:t>
            </a:r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7356B573-0914-5CB0-0180-C23538A2ED55}"/>
              </a:ext>
            </a:extLst>
          </p:cNvPr>
          <p:cNvSpPr txBox="1"/>
          <p:nvPr/>
        </p:nvSpPr>
        <p:spPr>
          <a:xfrm>
            <a:off x="11158105" y="291387"/>
            <a:ext cx="11296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zh-CN" dirty="0" err="1"/>
              <a:t>em_agent</a:t>
            </a:r>
            <a:endParaRPr kumimoji="1" lang="en-US" altLang="zh-CN" dirty="0"/>
          </a:p>
          <a:p>
            <a:r>
              <a:rPr kumimoji="1" lang="en-US" altLang="zh-CN" dirty="0"/>
              <a:t>Version 2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7BF7F-15AC-C39B-7735-9AE42C2F9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ard-115">
            <a:extLst>
              <a:ext uri="{FF2B5EF4-FFF2-40B4-BE49-F238E27FC236}">
                <a16:creationId xmlns:a16="http://schemas.microsoft.com/office/drawing/2014/main" id="{EB86E733-D14F-8D8B-0DC9-F24105D7B3A2}"/>
              </a:ext>
            </a:extLst>
          </p:cNvPr>
          <p:cNvSpPr/>
          <p:nvPr/>
        </p:nvSpPr>
        <p:spPr>
          <a:xfrm>
            <a:off x="1818033" y="3970313"/>
            <a:ext cx="1315534" cy="1882786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31" name="text-117">
            <a:extLst>
              <a:ext uri="{FF2B5EF4-FFF2-40B4-BE49-F238E27FC236}">
                <a16:creationId xmlns:a16="http://schemas.microsoft.com/office/drawing/2014/main" id="{964134FB-34EC-F91B-B680-29EDD3A5D1B0}"/>
              </a:ext>
            </a:extLst>
          </p:cNvPr>
          <p:cNvSpPr txBox="1"/>
          <p:nvPr/>
        </p:nvSpPr>
        <p:spPr>
          <a:xfrm>
            <a:off x="1967909" y="4067486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Extract surprises</a:t>
            </a:r>
            <a:endParaRPr lang="en-US" sz="1000" dirty="0"/>
          </a:p>
        </p:txBody>
      </p:sp>
      <p:sp>
        <p:nvSpPr>
          <p:cNvPr id="32" name="text-118">
            <a:extLst>
              <a:ext uri="{FF2B5EF4-FFF2-40B4-BE49-F238E27FC236}">
                <a16:creationId xmlns:a16="http://schemas.microsoft.com/office/drawing/2014/main" id="{572E79B7-11E0-52BD-B18E-3C6063976D66}"/>
              </a:ext>
            </a:extLst>
          </p:cNvPr>
          <p:cNvSpPr txBox="1"/>
          <p:nvPr/>
        </p:nvSpPr>
        <p:spPr>
          <a:xfrm>
            <a:off x="1967909" y="4597775"/>
            <a:ext cx="1015783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gpt-6-luna, medium effort: list surprises, most important first, with direction and magnitude</a:t>
            </a:r>
            <a:endParaRPr lang="en-US" sz="1000" dirty="0"/>
          </a:p>
        </p:txBody>
      </p:sp>
      <p:sp>
        <p:nvSpPr>
          <p:cNvPr id="35" name="card-115">
            <a:extLst>
              <a:ext uri="{FF2B5EF4-FFF2-40B4-BE49-F238E27FC236}">
                <a16:creationId xmlns:a16="http://schemas.microsoft.com/office/drawing/2014/main" id="{D7B925FD-5D40-A8A5-FC25-CC8F876E3CDA}"/>
              </a:ext>
            </a:extLst>
          </p:cNvPr>
          <p:cNvSpPr/>
          <p:nvPr/>
        </p:nvSpPr>
        <p:spPr>
          <a:xfrm>
            <a:off x="5789192" y="3976405"/>
            <a:ext cx="1315534" cy="1882786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36" name="text-117">
            <a:extLst>
              <a:ext uri="{FF2B5EF4-FFF2-40B4-BE49-F238E27FC236}">
                <a16:creationId xmlns:a16="http://schemas.microsoft.com/office/drawing/2014/main" id="{B814EE55-9A96-37F0-CEDE-41CE2B29228E}"/>
              </a:ext>
            </a:extLst>
          </p:cNvPr>
          <p:cNvSpPr txBox="1"/>
          <p:nvPr/>
        </p:nvSpPr>
        <p:spPr>
          <a:xfrm>
            <a:off x="5939068" y="4073577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Classify surprises</a:t>
            </a:r>
            <a:endParaRPr lang="en-US" sz="1000" dirty="0"/>
          </a:p>
        </p:txBody>
      </p:sp>
      <p:sp>
        <p:nvSpPr>
          <p:cNvPr id="37" name="text-118">
            <a:extLst>
              <a:ext uri="{FF2B5EF4-FFF2-40B4-BE49-F238E27FC236}">
                <a16:creationId xmlns:a16="http://schemas.microsoft.com/office/drawing/2014/main" id="{E0116EE4-9AE4-3FCA-8B99-6946EEB835B1}"/>
              </a:ext>
            </a:extLst>
          </p:cNvPr>
          <p:cNvSpPr txBox="1"/>
          <p:nvPr/>
        </p:nvSpPr>
        <p:spPr>
          <a:xfrm>
            <a:off x="5939068" y="4646191"/>
            <a:ext cx="1015783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gpt-6-luna,</a:t>
            </a:r>
          </a:p>
          <a:p>
            <a:r>
              <a:rPr lang="en-US" sz="1000" dirty="0">
                <a:solidFill>
                  <a:schemeClr val="tx2"/>
                </a:solidFill>
              </a:rPr>
              <a:t>low effort, batches of 40:</a:t>
            </a:r>
          </a:p>
          <a:p>
            <a:r>
              <a:rPr lang="en-US" sz="1000" dirty="0">
                <a:solidFill>
                  <a:schemeClr val="tx2"/>
                </a:solidFill>
              </a:rPr>
              <a:t>assign each surprise to one taxonomy category</a:t>
            </a:r>
            <a:endParaRPr lang="en-US" sz="1000" dirty="0"/>
          </a:p>
        </p:txBody>
      </p:sp>
      <p:sp>
        <p:nvSpPr>
          <p:cNvPr id="41" name="card-115">
            <a:extLst>
              <a:ext uri="{FF2B5EF4-FFF2-40B4-BE49-F238E27FC236}">
                <a16:creationId xmlns:a16="http://schemas.microsoft.com/office/drawing/2014/main" id="{52C321F1-BACA-BE71-A482-A26F0530D1C6}"/>
              </a:ext>
            </a:extLst>
          </p:cNvPr>
          <p:cNvSpPr/>
          <p:nvPr/>
        </p:nvSpPr>
        <p:spPr>
          <a:xfrm>
            <a:off x="1818033" y="1657361"/>
            <a:ext cx="3003159" cy="815252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2" name="text-117">
            <a:extLst>
              <a:ext uri="{FF2B5EF4-FFF2-40B4-BE49-F238E27FC236}">
                <a16:creationId xmlns:a16="http://schemas.microsoft.com/office/drawing/2014/main" id="{8A1266DA-25C7-F9B3-FDEB-937DFB376238}"/>
              </a:ext>
            </a:extLst>
          </p:cNvPr>
          <p:cNvSpPr txBox="1"/>
          <p:nvPr/>
        </p:nvSpPr>
        <p:spPr>
          <a:xfrm>
            <a:off x="1967909" y="1778680"/>
            <a:ext cx="2703409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One Earnings Event</a:t>
            </a:r>
            <a:endParaRPr lang="en-US" sz="1000" dirty="0"/>
          </a:p>
        </p:txBody>
      </p:sp>
      <p:sp>
        <p:nvSpPr>
          <p:cNvPr id="43" name="text-118">
            <a:extLst>
              <a:ext uri="{FF2B5EF4-FFF2-40B4-BE49-F238E27FC236}">
                <a16:creationId xmlns:a16="http://schemas.microsoft.com/office/drawing/2014/main" id="{E4F9CF36-64DB-5424-0E64-557D65D1D309}"/>
              </a:ext>
            </a:extLst>
          </p:cNvPr>
          <p:cNvSpPr txBox="1"/>
          <p:nvPr/>
        </p:nvSpPr>
        <p:spPr>
          <a:xfrm>
            <a:off x="1967908" y="2066969"/>
            <a:ext cx="2703409" cy="3814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Event date, earnings call summary, earnings preview, option statistics</a:t>
            </a:r>
            <a:endParaRPr lang="en-US" sz="1000" dirty="0"/>
          </a:p>
        </p:txBody>
      </p:sp>
      <p:sp>
        <p:nvSpPr>
          <p:cNvPr id="44" name="card-115">
            <a:extLst>
              <a:ext uri="{FF2B5EF4-FFF2-40B4-BE49-F238E27FC236}">
                <a16:creationId xmlns:a16="http://schemas.microsoft.com/office/drawing/2014/main" id="{0CF08CFA-65E8-8CE0-F63A-79D1F7CCF355}"/>
              </a:ext>
            </a:extLst>
          </p:cNvPr>
          <p:cNvSpPr/>
          <p:nvPr/>
        </p:nvSpPr>
        <p:spPr>
          <a:xfrm>
            <a:off x="1818033" y="2760901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5" name="text-117">
            <a:extLst>
              <a:ext uri="{FF2B5EF4-FFF2-40B4-BE49-F238E27FC236}">
                <a16:creationId xmlns:a16="http://schemas.microsoft.com/office/drawing/2014/main" id="{4E6A81B5-7DA2-4DBA-58CC-3A7E193E3D03}"/>
              </a:ext>
            </a:extLst>
          </p:cNvPr>
          <p:cNvSpPr txBox="1"/>
          <p:nvPr/>
        </p:nvSpPr>
        <p:spPr>
          <a:xfrm>
            <a:off x="1967909" y="2882220"/>
            <a:ext cx="1229296" cy="572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Earnings Call Summary</a:t>
            </a:r>
            <a:endParaRPr lang="en-US" sz="1000" dirty="0"/>
          </a:p>
        </p:txBody>
      </p:sp>
      <p:sp>
        <p:nvSpPr>
          <p:cNvPr id="47" name="card-115">
            <a:extLst>
              <a:ext uri="{FF2B5EF4-FFF2-40B4-BE49-F238E27FC236}">
                <a16:creationId xmlns:a16="http://schemas.microsoft.com/office/drawing/2014/main" id="{3DF6D4C4-1975-4116-4AB7-1EA0506B0ABD}"/>
              </a:ext>
            </a:extLst>
          </p:cNvPr>
          <p:cNvSpPr/>
          <p:nvPr/>
        </p:nvSpPr>
        <p:spPr>
          <a:xfrm>
            <a:off x="3505658" y="2760901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8" name="text-117">
            <a:extLst>
              <a:ext uri="{FF2B5EF4-FFF2-40B4-BE49-F238E27FC236}">
                <a16:creationId xmlns:a16="http://schemas.microsoft.com/office/drawing/2014/main" id="{C7673025-104B-077F-A717-3E6320344E1B}"/>
              </a:ext>
            </a:extLst>
          </p:cNvPr>
          <p:cNvSpPr txBox="1"/>
          <p:nvPr/>
        </p:nvSpPr>
        <p:spPr>
          <a:xfrm>
            <a:off x="3655534" y="2882221"/>
            <a:ext cx="1163906" cy="192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Earnings Preview</a:t>
            </a:r>
            <a:endParaRPr lang="en-US" sz="1000" dirty="0"/>
          </a:p>
        </p:txBody>
      </p:sp>
      <p:cxnSp>
        <p:nvCxnSpPr>
          <p:cNvPr id="50" name="直线箭头连接符 49">
            <a:extLst>
              <a:ext uri="{FF2B5EF4-FFF2-40B4-BE49-F238E27FC236}">
                <a16:creationId xmlns:a16="http://schemas.microsoft.com/office/drawing/2014/main" id="{055E8ADF-6D48-2EAF-40AD-E08760DAFB7E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2475800" y="2472614"/>
            <a:ext cx="0" cy="288288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线箭头连接符 51">
            <a:extLst>
              <a:ext uri="{FF2B5EF4-FFF2-40B4-BE49-F238E27FC236}">
                <a16:creationId xmlns:a16="http://schemas.microsoft.com/office/drawing/2014/main" id="{83947AC2-F3F7-A695-0341-7AF875E0D968}"/>
              </a:ext>
            </a:extLst>
          </p:cNvPr>
          <p:cNvCxnSpPr>
            <a:cxnSpLocks/>
          </p:cNvCxnSpPr>
          <p:nvPr/>
        </p:nvCxnSpPr>
        <p:spPr>
          <a:xfrm>
            <a:off x="4166918" y="2472614"/>
            <a:ext cx="0" cy="288288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线箭头连接符 52">
            <a:extLst>
              <a:ext uri="{FF2B5EF4-FFF2-40B4-BE49-F238E27FC236}">
                <a16:creationId xmlns:a16="http://schemas.microsoft.com/office/drawing/2014/main" id="{1CAFC354-71D0-F83D-2E43-3368DD8548F0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2475800" y="3454834"/>
            <a:ext cx="0" cy="51548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肘形连接符 55">
            <a:extLst>
              <a:ext uri="{FF2B5EF4-FFF2-40B4-BE49-F238E27FC236}">
                <a16:creationId xmlns:a16="http://schemas.microsoft.com/office/drawing/2014/main" id="{9A09BAF4-16FB-8A13-3A48-3A67F00F93E3}"/>
              </a:ext>
            </a:extLst>
          </p:cNvPr>
          <p:cNvCxnSpPr>
            <a:cxnSpLocks/>
          </p:cNvCxnSpPr>
          <p:nvPr/>
        </p:nvCxnSpPr>
        <p:spPr>
          <a:xfrm rot="10800000" flipV="1">
            <a:off x="2475799" y="3453617"/>
            <a:ext cx="1687626" cy="258956"/>
          </a:xfrm>
          <a:prstGeom prst="bentConnector3">
            <a:avLst>
              <a:gd name="adj1" fmla="val 45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card-115">
            <a:extLst>
              <a:ext uri="{FF2B5EF4-FFF2-40B4-BE49-F238E27FC236}">
                <a16:creationId xmlns:a16="http://schemas.microsoft.com/office/drawing/2014/main" id="{6896AC15-614B-A366-88E2-F7AB831BB57C}"/>
              </a:ext>
            </a:extLst>
          </p:cNvPr>
          <p:cNvSpPr/>
          <p:nvPr/>
        </p:nvSpPr>
        <p:spPr>
          <a:xfrm>
            <a:off x="1818033" y="6383388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 dirty="0"/>
          </a:p>
        </p:txBody>
      </p:sp>
      <p:cxnSp>
        <p:nvCxnSpPr>
          <p:cNvPr id="61" name="直线箭头连接符 60">
            <a:extLst>
              <a:ext uri="{FF2B5EF4-FFF2-40B4-BE49-F238E27FC236}">
                <a16:creationId xmlns:a16="http://schemas.microsoft.com/office/drawing/2014/main" id="{2AF96070-4EE2-147E-65F9-78AD5C09968F}"/>
              </a:ext>
            </a:extLst>
          </p:cNvPr>
          <p:cNvCxnSpPr>
            <a:cxnSpLocks/>
          </p:cNvCxnSpPr>
          <p:nvPr/>
        </p:nvCxnSpPr>
        <p:spPr>
          <a:xfrm>
            <a:off x="2447813" y="5853099"/>
            <a:ext cx="0" cy="51548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-117">
            <a:extLst>
              <a:ext uri="{FF2B5EF4-FFF2-40B4-BE49-F238E27FC236}">
                <a16:creationId xmlns:a16="http://schemas.microsoft.com/office/drawing/2014/main" id="{BD7AFDBD-9BEC-E0C8-2BF7-A75E814486FC}"/>
              </a:ext>
            </a:extLst>
          </p:cNvPr>
          <p:cNvSpPr txBox="1"/>
          <p:nvPr/>
        </p:nvSpPr>
        <p:spPr>
          <a:xfrm>
            <a:off x="1967906" y="6462269"/>
            <a:ext cx="1015783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List of Surprises</a:t>
            </a:r>
            <a:endParaRPr lang="en-US" sz="1000" dirty="0"/>
          </a:p>
        </p:txBody>
      </p:sp>
      <p:sp>
        <p:nvSpPr>
          <p:cNvPr id="64" name="card-115">
            <a:extLst>
              <a:ext uri="{FF2B5EF4-FFF2-40B4-BE49-F238E27FC236}">
                <a16:creationId xmlns:a16="http://schemas.microsoft.com/office/drawing/2014/main" id="{0E73C8EF-BE99-316B-2AC7-2B44BDEDDF7C}"/>
              </a:ext>
            </a:extLst>
          </p:cNvPr>
          <p:cNvSpPr/>
          <p:nvPr/>
        </p:nvSpPr>
        <p:spPr>
          <a:xfrm>
            <a:off x="1818033" y="7341675"/>
            <a:ext cx="3916253" cy="2033416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 dirty="0"/>
          </a:p>
        </p:txBody>
      </p:sp>
      <p:cxnSp>
        <p:nvCxnSpPr>
          <p:cNvPr id="65" name="直线箭头连接符 64">
            <a:extLst>
              <a:ext uri="{FF2B5EF4-FFF2-40B4-BE49-F238E27FC236}">
                <a16:creationId xmlns:a16="http://schemas.microsoft.com/office/drawing/2014/main" id="{05B4C44F-53F1-4EB0-C21A-96E86A0287E7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2475800" y="7077321"/>
            <a:ext cx="0" cy="264354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-117">
            <a:extLst>
              <a:ext uri="{FF2B5EF4-FFF2-40B4-BE49-F238E27FC236}">
                <a16:creationId xmlns:a16="http://schemas.microsoft.com/office/drawing/2014/main" id="{BF049515-50E0-8BAA-CBD1-BC38829EA9F0}"/>
              </a:ext>
            </a:extLst>
          </p:cNvPr>
          <p:cNvSpPr txBox="1"/>
          <p:nvPr/>
        </p:nvSpPr>
        <p:spPr>
          <a:xfrm>
            <a:off x="1967907" y="7404682"/>
            <a:ext cx="1015783" cy="24424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Surprise</a:t>
            </a:r>
          </a:p>
        </p:txBody>
      </p:sp>
      <p:sp>
        <p:nvSpPr>
          <p:cNvPr id="63" name="text-118">
            <a:extLst>
              <a:ext uri="{FF2B5EF4-FFF2-40B4-BE49-F238E27FC236}">
                <a16:creationId xmlns:a16="http://schemas.microsoft.com/office/drawing/2014/main" id="{DD667490-F4BC-2C9F-CF8E-8F8993E4E702}"/>
              </a:ext>
            </a:extLst>
          </p:cNvPr>
          <p:cNvSpPr txBox="1"/>
          <p:nvPr/>
        </p:nvSpPr>
        <p:spPr>
          <a:xfrm>
            <a:off x="1967906" y="7725921"/>
            <a:ext cx="3916265" cy="12878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One way the earnings call differed from what was expected</a:t>
            </a:r>
          </a:p>
          <a:p>
            <a:r>
              <a:rPr lang="en-US" sz="1000" dirty="0"/>
              <a:t>- description, call evidence, expectation evidence</a:t>
            </a:r>
          </a:p>
          <a:p>
            <a:r>
              <a:rPr lang="en-US" sz="1000" dirty="0"/>
              <a:t>- expectation source: preview / call / none</a:t>
            </a:r>
          </a:p>
          <a:p>
            <a:r>
              <a:rPr lang="en-US" sz="1000" dirty="0"/>
              <a:t>- position: order in the list, most important first</a:t>
            </a:r>
          </a:p>
          <a:p>
            <a:r>
              <a:rPr lang="en-US" sz="1000" dirty="0"/>
              <a:t>- category: one of 15 v2 categories, or other</a:t>
            </a:r>
          </a:p>
          <a:p>
            <a:r>
              <a:rPr lang="en-US" altLang="zh-CN" sz="1000" dirty="0"/>
              <a:t>- direction: +1 good, -1 bad, 0 mixed, null unclear (scored 0)</a:t>
            </a:r>
          </a:p>
          <a:p>
            <a:r>
              <a:rPr lang="en-US" altLang="zh-CN" sz="1000" dirty="0"/>
              <a:t>- magnitude: 1 small, 2 moderate, 3 large</a:t>
            </a:r>
          </a:p>
        </p:txBody>
      </p:sp>
      <p:cxnSp>
        <p:nvCxnSpPr>
          <p:cNvPr id="68" name="肘形连接符 67">
            <a:extLst>
              <a:ext uri="{FF2B5EF4-FFF2-40B4-BE49-F238E27FC236}">
                <a16:creationId xmlns:a16="http://schemas.microsoft.com/office/drawing/2014/main" id="{BCB5AC30-6711-F90A-2257-A5186F95FC16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3133567" y="5853099"/>
            <a:ext cx="3084876" cy="877256"/>
          </a:xfrm>
          <a:prstGeom prst="bentConnector3">
            <a:avLst>
              <a:gd name="adj1" fmla="val 100129"/>
            </a:avLst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线箭头连接符 68">
            <a:extLst>
              <a:ext uri="{FF2B5EF4-FFF2-40B4-BE49-F238E27FC236}">
                <a16:creationId xmlns:a16="http://schemas.microsoft.com/office/drawing/2014/main" id="{F0E3547B-B87B-A780-9D1E-D38F1AB0CCE5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7104726" y="4917798"/>
            <a:ext cx="372091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线箭头连接符 73">
            <a:extLst>
              <a:ext uri="{FF2B5EF4-FFF2-40B4-BE49-F238E27FC236}">
                <a16:creationId xmlns:a16="http://schemas.microsoft.com/office/drawing/2014/main" id="{1FA961A4-555B-A74F-CC0D-89058F8C915C}"/>
              </a:ext>
            </a:extLst>
          </p:cNvPr>
          <p:cNvCxnSpPr>
            <a:cxnSpLocks/>
          </p:cNvCxnSpPr>
          <p:nvPr/>
        </p:nvCxnSpPr>
        <p:spPr>
          <a:xfrm flipV="1">
            <a:off x="6667579" y="5866187"/>
            <a:ext cx="0" cy="120941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card-115">
            <a:extLst>
              <a:ext uri="{FF2B5EF4-FFF2-40B4-BE49-F238E27FC236}">
                <a16:creationId xmlns:a16="http://schemas.microsoft.com/office/drawing/2014/main" id="{E25AB866-2253-1338-6F09-9E57AA3CFE77}"/>
              </a:ext>
            </a:extLst>
          </p:cNvPr>
          <p:cNvSpPr/>
          <p:nvPr/>
        </p:nvSpPr>
        <p:spPr>
          <a:xfrm>
            <a:off x="6132998" y="7073132"/>
            <a:ext cx="1315534" cy="1112961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 dirty="0"/>
          </a:p>
        </p:txBody>
      </p:sp>
      <p:sp>
        <p:nvSpPr>
          <p:cNvPr id="78" name="text-117">
            <a:extLst>
              <a:ext uri="{FF2B5EF4-FFF2-40B4-BE49-F238E27FC236}">
                <a16:creationId xmlns:a16="http://schemas.microsoft.com/office/drawing/2014/main" id="{2E1F6BA2-A9C4-E23E-D804-88A52206B16A}"/>
              </a:ext>
            </a:extLst>
          </p:cNvPr>
          <p:cNvSpPr txBox="1"/>
          <p:nvPr/>
        </p:nvSpPr>
        <p:spPr>
          <a:xfrm>
            <a:off x="6282871" y="7152014"/>
            <a:ext cx="1015783" cy="2680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Taxonomy</a:t>
            </a:r>
            <a:endParaRPr lang="en-US" sz="1000" dirty="0"/>
          </a:p>
        </p:txBody>
      </p:sp>
      <p:sp>
        <p:nvSpPr>
          <p:cNvPr id="79" name="text-118">
            <a:extLst>
              <a:ext uri="{FF2B5EF4-FFF2-40B4-BE49-F238E27FC236}">
                <a16:creationId xmlns:a16="http://schemas.microsoft.com/office/drawing/2014/main" id="{D0A59E59-5F18-8BA0-1732-6031FCCC049C}"/>
              </a:ext>
            </a:extLst>
          </p:cNvPr>
          <p:cNvSpPr txBox="1"/>
          <p:nvPr/>
        </p:nvSpPr>
        <p:spPr>
          <a:xfrm>
            <a:off x="6282871" y="7422630"/>
            <a:ext cx="1015783" cy="688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Frozen v2 codebook: 15 categories with assignment rules</a:t>
            </a:r>
          </a:p>
        </p:txBody>
      </p:sp>
      <p:sp>
        <p:nvSpPr>
          <p:cNvPr id="93" name="card-115">
            <a:extLst>
              <a:ext uri="{FF2B5EF4-FFF2-40B4-BE49-F238E27FC236}">
                <a16:creationId xmlns:a16="http://schemas.microsoft.com/office/drawing/2014/main" id="{76DFD9EC-E501-DEBD-AC92-ABA89958DB10}"/>
              </a:ext>
            </a:extLst>
          </p:cNvPr>
          <p:cNvSpPr/>
          <p:nvPr/>
        </p:nvSpPr>
        <p:spPr>
          <a:xfrm>
            <a:off x="7462673" y="3740343"/>
            <a:ext cx="1692037" cy="2224081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94" name="text-117">
            <a:extLst>
              <a:ext uri="{FF2B5EF4-FFF2-40B4-BE49-F238E27FC236}">
                <a16:creationId xmlns:a16="http://schemas.microsoft.com/office/drawing/2014/main" id="{D2D92CD4-5850-BB11-6797-837413B52549}"/>
              </a:ext>
            </a:extLst>
          </p:cNvPr>
          <p:cNvSpPr txBox="1"/>
          <p:nvPr/>
        </p:nvSpPr>
        <p:spPr>
          <a:xfrm>
            <a:off x="7612548" y="3837515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Aggregate surprises</a:t>
            </a:r>
            <a:endParaRPr lang="en-US" sz="1000" dirty="0"/>
          </a:p>
        </p:txBody>
      </p:sp>
      <p:sp>
        <p:nvSpPr>
          <p:cNvPr id="95" name="text-118">
            <a:extLst>
              <a:ext uri="{FF2B5EF4-FFF2-40B4-BE49-F238E27FC236}">
                <a16:creationId xmlns:a16="http://schemas.microsoft.com/office/drawing/2014/main" id="{95F18BD7-5139-9EE7-FF5C-A99840EADD19}"/>
              </a:ext>
            </a:extLst>
          </p:cNvPr>
          <p:cNvSpPr txBox="1"/>
          <p:nvPr/>
        </p:nvSpPr>
        <p:spPr>
          <a:xfrm>
            <a:off x="7612548" y="4368477"/>
            <a:ext cx="1456045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Per event, build features:</a:t>
            </a:r>
          </a:p>
          <a:p>
            <a:r>
              <a:rPr lang="en-US" sz="1000" dirty="0"/>
              <a:t>- net surprise per category (direction × magnitude)</a:t>
            </a:r>
          </a:p>
          <a:p>
            <a:r>
              <a:rPr lang="en-US" sz="1000" dirty="0"/>
              <a:t>- positive / negative parts per category</a:t>
            </a:r>
          </a:p>
          <a:p>
            <a:r>
              <a:rPr lang="en-US" sz="1000" dirty="0"/>
              <a:t>- totals: counts, net, first-3 net</a:t>
            </a:r>
          </a:p>
          <a:p>
            <a:r>
              <a:rPr lang="en-US" sz="1000" dirty="0"/>
              <a:t>- no-surprise flag</a:t>
            </a:r>
          </a:p>
        </p:txBody>
      </p:sp>
      <p:sp>
        <p:nvSpPr>
          <p:cNvPr id="99" name="card-115">
            <a:extLst>
              <a:ext uri="{FF2B5EF4-FFF2-40B4-BE49-F238E27FC236}">
                <a16:creationId xmlns:a16="http://schemas.microsoft.com/office/drawing/2014/main" id="{2153DFE8-1B2F-8A26-BA7A-4214D8675FC1}"/>
              </a:ext>
            </a:extLst>
          </p:cNvPr>
          <p:cNvSpPr/>
          <p:nvPr/>
        </p:nvSpPr>
        <p:spPr>
          <a:xfrm>
            <a:off x="9379681" y="3983401"/>
            <a:ext cx="1315534" cy="1882786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00" name="text-117">
            <a:extLst>
              <a:ext uri="{FF2B5EF4-FFF2-40B4-BE49-F238E27FC236}">
                <a16:creationId xmlns:a16="http://schemas.microsoft.com/office/drawing/2014/main" id="{443F9E8D-8479-6904-4769-A697A2A1EA83}"/>
              </a:ext>
            </a:extLst>
          </p:cNvPr>
          <p:cNvSpPr txBox="1"/>
          <p:nvPr/>
        </p:nvSpPr>
        <p:spPr>
          <a:xfrm>
            <a:off x="9529557" y="4080574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Prediction</a:t>
            </a:r>
            <a:endParaRPr lang="en-US" sz="1000" dirty="0"/>
          </a:p>
        </p:txBody>
      </p:sp>
      <p:sp>
        <p:nvSpPr>
          <p:cNvPr id="101" name="text-118">
            <a:extLst>
              <a:ext uri="{FF2B5EF4-FFF2-40B4-BE49-F238E27FC236}">
                <a16:creationId xmlns:a16="http://schemas.microsoft.com/office/drawing/2014/main" id="{4CF45A5C-3CAB-89E1-3B1D-7B60822EE127}"/>
              </a:ext>
            </a:extLst>
          </p:cNvPr>
          <p:cNvSpPr txBox="1"/>
          <p:nvPr/>
        </p:nvSpPr>
        <p:spPr>
          <a:xfrm>
            <a:off x="9522389" y="4396524"/>
            <a:ext cx="1015783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Ridge regression (GBM planned), trained on the training set; output clipped to [0, 1]</a:t>
            </a:r>
            <a:endParaRPr lang="en-US" sz="1000" dirty="0"/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2C12EF81-8F38-3ADC-D625-DC83194D66EB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9154709" y="4924794"/>
            <a:ext cx="224972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card-115">
            <a:extLst>
              <a:ext uri="{FF2B5EF4-FFF2-40B4-BE49-F238E27FC236}">
                <a16:creationId xmlns:a16="http://schemas.microsoft.com/office/drawing/2014/main" id="{B320516D-3A54-4E3C-5A6F-64CE3914B4F5}"/>
              </a:ext>
            </a:extLst>
          </p:cNvPr>
          <p:cNvSpPr/>
          <p:nvPr/>
        </p:nvSpPr>
        <p:spPr>
          <a:xfrm>
            <a:off x="5332576" y="2759684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05" name="text-117">
            <a:extLst>
              <a:ext uri="{FF2B5EF4-FFF2-40B4-BE49-F238E27FC236}">
                <a16:creationId xmlns:a16="http://schemas.microsoft.com/office/drawing/2014/main" id="{408451EB-B46A-851F-F3A4-BE26D4CED680}"/>
              </a:ext>
            </a:extLst>
          </p:cNvPr>
          <p:cNvSpPr txBox="1"/>
          <p:nvPr/>
        </p:nvSpPr>
        <p:spPr>
          <a:xfrm>
            <a:off x="5482452" y="2881004"/>
            <a:ext cx="1015783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Option Statistics</a:t>
            </a:r>
            <a:endParaRPr lang="en-US" sz="1000" dirty="0"/>
          </a:p>
        </p:txBody>
      </p:sp>
      <p:cxnSp>
        <p:nvCxnSpPr>
          <p:cNvPr id="107" name="肘形连接符 106">
            <a:extLst>
              <a:ext uri="{FF2B5EF4-FFF2-40B4-BE49-F238E27FC236}">
                <a16:creationId xmlns:a16="http://schemas.microsoft.com/office/drawing/2014/main" id="{E71FD1A7-CC31-4432-92BA-C6B4C67FAD1E}"/>
              </a:ext>
            </a:extLst>
          </p:cNvPr>
          <p:cNvCxnSpPr>
            <a:cxnSpLocks/>
            <a:endCxn id="104" idx="0"/>
          </p:cNvCxnSpPr>
          <p:nvPr/>
        </p:nvCxnSpPr>
        <p:spPr>
          <a:xfrm>
            <a:off x="4819446" y="2315223"/>
            <a:ext cx="1170898" cy="444462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肘形连接符 109">
            <a:extLst>
              <a:ext uri="{FF2B5EF4-FFF2-40B4-BE49-F238E27FC236}">
                <a16:creationId xmlns:a16="http://schemas.microsoft.com/office/drawing/2014/main" id="{E10E7577-201A-613E-A854-6087BC9BF4D9}"/>
              </a:ext>
            </a:extLst>
          </p:cNvPr>
          <p:cNvCxnSpPr>
            <a:cxnSpLocks/>
            <a:stCxn id="104" idx="3"/>
            <a:endCxn id="99" idx="0"/>
          </p:cNvCxnSpPr>
          <p:nvPr/>
        </p:nvCxnSpPr>
        <p:spPr>
          <a:xfrm>
            <a:off x="6648110" y="3106651"/>
            <a:ext cx="3389339" cy="876751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线箭头连接符 117">
            <a:extLst>
              <a:ext uri="{FF2B5EF4-FFF2-40B4-BE49-F238E27FC236}">
                <a16:creationId xmlns:a16="http://schemas.microsoft.com/office/drawing/2014/main" id="{2BD7B969-F301-D39A-B197-EF0163F438A7}"/>
              </a:ext>
            </a:extLst>
          </p:cNvPr>
          <p:cNvCxnSpPr>
            <a:cxnSpLocks/>
          </p:cNvCxnSpPr>
          <p:nvPr/>
        </p:nvCxnSpPr>
        <p:spPr>
          <a:xfrm>
            <a:off x="10037448" y="5866187"/>
            <a:ext cx="0" cy="288288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card-115">
            <a:extLst>
              <a:ext uri="{FF2B5EF4-FFF2-40B4-BE49-F238E27FC236}">
                <a16:creationId xmlns:a16="http://schemas.microsoft.com/office/drawing/2014/main" id="{DF73F64D-BD98-B129-6988-7E9621FEDF1D}"/>
              </a:ext>
            </a:extLst>
          </p:cNvPr>
          <p:cNvSpPr/>
          <p:nvPr/>
        </p:nvSpPr>
        <p:spPr>
          <a:xfrm>
            <a:off x="9379680" y="6182138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20" name="text-117">
            <a:extLst>
              <a:ext uri="{FF2B5EF4-FFF2-40B4-BE49-F238E27FC236}">
                <a16:creationId xmlns:a16="http://schemas.microsoft.com/office/drawing/2014/main" id="{AB5D0238-ACAC-A9D2-D656-DB01AFEEB359}"/>
              </a:ext>
            </a:extLst>
          </p:cNvPr>
          <p:cNvSpPr txBox="1"/>
          <p:nvPr/>
        </p:nvSpPr>
        <p:spPr>
          <a:xfrm>
            <a:off x="9529556" y="6303457"/>
            <a:ext cx="1015783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Final Prediction</a:t>
            </a:r>
            <a:endParaRPr lang="en-US" sz="1000" dirty="0"/>
          </a:p>
        </p:txBody>
      </p:sp>
      <p:sp>
        <p:nvSpPr>
          <p:cNvPr id="123" name="card-115">
            <a:extLst>
              <a:ext uri="{FF2B5EF4-FFF2-40B4-BE49-F238E27FC236}">
                <a16:creationId xmlns:a16="http://schemas.microsoft.com/office/drawing/2014/main" id="{BBA79E5C-F2DC-71D7-3B83-E7B72DF6C5CD}"/>
              </a:ext>
            </a:extLst>
          </p:cNvPr>
          <p:cNvSpPr/>
          <p:nvPr/>
        </p:nvSpPr>
        <p:spPr>
          <a:xfrm>
            <a:off x="3819321" y="3894998"/>
            <a:ext cx="1366806" cy="2033416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 dirty="0"/>
          </a:p>
        </p:txBody>
      </p:sp>
      <p:sp>
        <p:nvSpPr>
          <p:cNvPr id="124" name="text-117">
            <a:extLst>
              <a:ext uri="{FF2B5EF4-FFF2-40B4-BE49-F238E27FC236}">
                <a16:creationId xmlns:a16="http://schemas.microsoft.com/office/drawing/2014/main" id="{830245E9-1D75-1668-85A8-4E2EF3FA2655}"/>
              </a:ext>
            </a:extLst>
          </p:cNvPr>
          <p:cNvSpPr txBox="1"/>
          <p:nvPr/>
        </p:nvSpPr>
        <p:spPr>
          <a:xfrm>
            <a:off x="3969194" y="4049196"/>
            <a:ext cx="1015783" cy="2680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Prompt</a:t>
            </a:r>
            <a:endParaRPr lang="en-US" sz="1000" dirty="0"/>
          </a:p>
        </p:txBody>
      </p:sp>
      <p:sp>
        <p:nvSpPr>
          <p:cNvPr id="125" name="text-118">
            <a:extLst>
              <a:ext uri="{FF2B5EF4-FFF2-40B4-BE49-F238E27FC236}">
                <a16:creationId xmlns:a16="http://schemas.microsoft.com/office/drawing/2014/main" id="{E2F0B1C5-5812-1613-D5A6-435A1704D605}"/>
              </a:ext>
            </a:extLst>
          </p:cNvPr>
          <p:cNvSpPr txBox="1"/>
          <p:nvPr/>
        </p:nvSpPr>
        <p:spPr>
          <a:xfrm>
            <a:off x="3969194" y="4319812"/>
            <a:ext cx="1165660" cy="688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To be tuned with Agentic Context Engineering (ACE). Objective: ΔR² of the first-3 net weighted surprise over the ranked earnings surprise</a:t>
            </a:r>
          </a:p>
        </p:txBody>
      </p:sp>
      <p:cxnSp>
        <p:nvCxnSpPr>
          <p:cNvPr id="131" name="直线箭头连接符 130">
            <a:extLst>
              <a:ext uri="{FF2B5EF4-FFF2-40B4-BE49-F238E27FC236}">
                <a16:creationId xmlns:a16="http://schemas.microsoft.com/office/drawing/2014/main" id="{FC4969DC-44BF-9442-19D4-DD8D95EA6F12}"/>
              </a:ext>
            </a:extLst>
          </p:cNvPr>
          <p:cNvCxnSpPr>
            <a:cxnSpLocks/>
          </p:cNvCxnSpPr>
          <p:nvPr/>
        </p:nvCxnSpPr>
        <p:spPr>
          <a:xfrm>
            <a:off x="4821192" y="1939570"/>
            <a:ext cx="1537750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card-115">
            <a:extLst>
              <a:ext uri="{FF2B5EF4-FFF2-40B4-BE49-F238E27FC236}">
                <a16:creationId xmlns:a16="http://schemas.microsoft.com/office/drawing/2014/main" id="{40230FA5-332D-874C-6BB2-FF1B2D18ACA8}"/>
              </a:ext>
            </a:extLst>
          </p:cNvPr>
          <p:cNvSpPr/>
          <p:nvPr/>
        </p:nvSpPr>
        <p:spPr>
          <a:xfrm>
            <a:off x="6358942" y="1653209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34" name="text-117">
            <a:extLst>
              <a:ext uri="{FF2B5EF4-FFF2-40B4-BE49-F238E27FC236}">
                <a16:creationId xmlns:a16="http://schemas.microsoft.com/office/drawing/2014/main" id="{2E04AF95-64F9-E7CB-6E5B-E58B68C62589}"/>
              </a:ext>
            </a:extLst>
          </p:cNvPr>
          <p:cNvSpPr txBox="1"/>
          <p:nvPr/>
        </p:nvSpPr>
        <p:spPr>
          <a:xfrm>
            <a:off x="6508818" y="1774528"/>
            <a:ext cx="1015783" cy="28056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Event Date</a:t>
            </a:r>
          </a:p>
          <a:p>
            <a:endParaRPr lang="en-US" sz="1000" dirty="0"/>
          </a:p>
        </p:txBody>
      </p:sp>
      <p:sp>
        <p:nvSpPr>
          <p:cNvPr id="135" name="text-118">
            <a:extLst>
              <a:ext uri="{FF2B5EF4-FFF2-40B4-BE49-F238E27FC236}">
                <a16:creationId xmlns:a16="http://schemas.microsoft.com/office/drawing/2014/main" id="{201C209B-0D03-AAE5-B094-813038D7AB28}"/>
              </a:ext>
            </a:extLst>
          </p:cNvPr>
          <p:cNvSpPr txBox="1"/>
          <p:nvPr/>
        </p:nvSpPr>
        <p:spPr>
          <a:xfrm>
            <a:off x="6508818" y="2006858"/>
            <a:ext cx="1015783" cy="2157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Knowledge cutoff</a:t>
            </a:r>
            <a:endParaRPr lang="en-US" sz="1000" dirty="0"/>
          </a:p>
        </p:txBody>
      </p:sp>
      <p:sp>
        <p:nvSpPr>
          <p:cNvPr id="136" name="card-115">
            <a:extLst>
              <a:ext uri="{FF2B5EF4-FFF2-40B4-BE49-F238E27FC236}">
                <a16:creationId xmlns:a16="http://schemas.microsoft.com/office/drawing/2014/main" id="{9096B686-717F-6AAB-FD1C-3CF07639EDC8}"/>
              </a:ext>
            </a:extLst>
          </p:cNvPr>
          <p:cNvSpPr/>
          <p:nvPr/>
        </p:nvSpPr>
        <p:spPr>
          <a:xfrm>
            <a:off x="7901787" y="1653209"/>
            <a:ext cx="1971697" cy="1227795"/>
          </a:xfrm>
          <a:prstGeom prst="roundRect">
            <a:avLst>
              <a:gd name="adj" fmla="val 4557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 dirty="0"/>
          </a:p>
        </p:txBody>
      </p:sp>
      <p:sp>
        <p:nvSpPr>
          <p:cNvPr id="137" name="text-117">
            <a:extLst>
              <a:ext uri="{FF2B5EF4-FFF2-40B4-BE49-F238E27FC236}">
                <a16:creationId xmlns:a16="http://schemas.microsoft.com/office/drawing/2014/main" id="{ADA0BA64-9D8E-2969-C8BC-E8E9F5C96F1E}"/>
              </a:ext>
            </a:extLst>
          </p:cNvPr>
          <p:cNvSpPr txBox="1"/>
          <p:nvPr/>
        </p:nvSpPr>
        <p:spPr>
          <a:xfrm>
            <a:off x="8043075" y="1747113"/>
            <a:ext cx="1015783" cy="2680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Stock Prices</a:t>
            </a:r>
            <a:endParaRPr lang="en-US" sz="1000" dirty="0"/>
          </a:p>
        </p:txBody>
      </p:sp>
      <p:sp>
        <p:nvSpPr>
          <p:cNvPr id="138" name="text-118">
            <a:extLst>
              <a:ext uri="{FF2B5EF4-FFF2-40B4-BE49-F238E27FC236}">
                <a16:creationId xmlns:a16="http://schemas.microsoft.com/office/drawing/2014/main" id="{8404E0D7-D1D2-0A80-1CD4-5C6ED592738B}"/>
              </a:ext>
            </a:extLst>
          </p:cNvPr>
          <p:cNvSpPr txBox="1"/>
          <p:nvPr/>
        </p:nvSpPr>
        <p:spPr>
          <a:xfrm>
            <a:off x="8043075" y="2017729"/>
            <a:ext cx="1680536" cy="688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- The firm's stock return before the event, up to the knowledge cutoff</a:t>
            </a:r>
          </a:p>
          <a:p>
            <a:r>
              <a:rPr lang="en-US" sz="1000" dirty="0"/>
              <a:t>- Market return in the week before the event</a:t>
            </a:r>
          </a:p>
        </p:txBody>
      </p:sp>
      <p:cxnSp>
        <p:nvCxnSpPr>
          <p:cNvPr id="139" name="直线箭头连接符 138">
            <a:extLst>
              <a:ext uri="{FF2B5EF4-FFF2-40B4-BE49-F238E27FC236}">
                <a16:creationId xmlns:a16="http://schemas.microsoft.com/office/drawing/2014/main" id="{D58BE43E-C6CC-AF50-3D72-3560B5326810}"/>
              </a:ext>
            </a:extLst>
          </p:cNvPr>
          <p:cNvCxnSpPr>
            <a:cxnSpLocks/>
          </p:cNvCxnSpPr>
          <p:nvPr/>
        </p:nvCxnSpPr>
        <p:spPr>
          <a:xfrm>
            <a:off x="7670981" y="1927267"/>
            <a:ext cx="23080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肘形连接符 140">
            <a:extLst>
              <a:ext uri="{FF2B5EF4-FFF2-40B4-BE49-F238E27FC236}">
                <a16:creationId xmlns:a16="http://schemas.microsoft.com/office/drawing/2014/main" id="{AE4A7425-8769-67AD-5D15-62626BB2D2AF}"/>
              </a:ext>
            </a:extLst>
          </p:cNvPr>
          <p:cNvCxnSpPr>
            <a:cxnSpLocks/>
            <a:stCxn id="136" idx="3"/>
            <a:endCxn id="99" idx="0"/>
          </p:cNvCxnSpPr>
          <p:nvPr/>
        </p:nvCxnSpPr>
        <p:spPr>
          <a:xfrm>
            <a:off x="9873484" y="2267107"/>
            <a:ext cx="163965" cy="1716294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直线箭头连接符 216">
            <a:extLst>
              <a:ext uri="{FF2B5EF4-FFF2-40B4-BE49-F238E27FC236}">
                <a16:creationId xmlns:a16="http://schemas.microsoft.com/office/drawing/2014/main" id="{5CEBB154-432E-4903-0FDC-17A14F9178D9}"/>
              </a:ext>
            </a:extLst>
          </p:cNvPr>
          <p:cNvCxnSpPr>
            <a:cxnSpLocks/>
            <a:stCxn id="123" idx="1"/>
            <a:endCxn id="29" idx="3"/>
          </p:cNvCxnSpPr>
          <p:nvPr/>
        </p:nvCxnSpPr>
        <p:spPr>
          <a:xfrm flipH="1">
            <a:off x="3133567" y="4911706"/>
            <a:ext cx="685754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card-115">
            <a:extLst>
              <a:ext uri="{FF2B5EF4-FFF2-40B4-BE49-F238E27FC236}">
                <a16:creationId xmlns:a16="http://schemas.microsoft.com/office/drawing/2014/main" id="{00EBF8FE-C7FF-9BBF-7735-F705F79652DD}"/>
              </a:ext>
            </a:extLst>
          </p:cNvPr>
          <p:cNvSpPr/>
          <p:nvPr/>
        </p:nvSpPr>
        <p:spPr>
          <a:xfrm>
            <a:off x="8308691" y="7583645"/>
            <a:ext cx="1322997" cy="367562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39" name="text-118">
            <a:extLst>
              <a:ext uri="{FF2B5EF4-FFF2-40B4-BE49-F238E27FC236}">
                <a16:creationId xmlns:a16="http://schemas.microsoft.com/office/drawing/2014/main" id="{C34CDA5C-240D-1BE3-7E44-CBAFEF50ED62}"/>
              </a:ext>
            </a:extLst>
          </p:cNvPr>
          <p:cNvSpPr txBox="1"/>
          <p:nvPr/>
        </p:nvSpPr>
        <p:spPr>
          <a:xfrm>
            <a:off x="8363898" y="7681881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Data</a:t>
            </a:r>
          </a:p>
        </p:txBody>
      </p:sp>
      <p:sp>
        <p:nvSpPr>
          <p:cNvPr id="240" name="card-115">
            <a:extLst>
              <a:ext uri="{FF2B5EF4-FFF2-40B4-BE49-F238E27FC236}">
                <a16:creationId xmlns:a16="http://schemas.microsoft.com/office/drawing/2014/main" id="{269B5723-EE22-47A2-6EF2-42EF8D597CB0}"/>
              </a:ext>
            </a:extLst>
          </p:cNvPr>
          <p:cNvSpPr/>
          <p:nvPr/>
        </p:nvSpPr>
        <p:spPr>
          <a:xfrm>
            <a:off x="8308691" y="8127729"/>
            <a:ext cx="1322997" cy="367562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41" name="text-118">
            <a:extLst>
              <a:ext uri="{FF2B5EF4-FFF2-40B4-BE49-F238E27FC236}">
                <a16:creationId xmlns:a16="http://schemas.microsoft.com/office/drawing/2014/main" id="{C834D160-484C-10CA-F823-B9CEF60AC460}"/>
              </a:ext>
            </a:extLst>
          </p:cNvPr>
          <p:cNvSpPr txBox="1"/>
          <p:nvPr/>
        </p:nvSpPr>
        <p:spPr>
          <a:xfrm>
            <a:off x="8363898" y="8225966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Node</a:t>
            </a:r>
          </a:p>
        </p:txBody>
      </p:sp>
      <p:sp>
        <p:nvSpPr>
          <p:cNvPr id="247" name="card-115">
            <a:extLst>
              <a:ext uri="{FF2B5EF4-FFF2-40B4-BE49-F238E27FC236}">
                <a16:creationId xmlns:a16="http://schemas.microsoft.com/office/drawing/2014/main" id="{689696DF-8EFD-1082-11BF-7C4C15ACD9CA}"/>
              </a:ext>
            </a:extLst>
          </p:cNvPr>
          <p:cNvSpPr/>
          <p:nvPr/>
        </p:nvSpPr>
        <p:spPr>
          <a:xfrm>
            <a:off x="8308691" y="8671814"/>
            <a:ext cx="1322997" cy="367562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48" name="text-118">
            <a:extLst>
              <a:ext uri="{FF2B5EF4-FFF2-40B4-BE49-F238E27FC236}">
                <a16:creationId xmlns:a16="http://schemas.microsoft.com/office/drawing/2014/main" id="{57D8EDE5-E8D9-06DB-188E-79FD558C9278}"/>
              </a:ext>
            </a:extLst>
          </p:cNvPr>
          <p:cNvSpPr txBox="1"/>
          <p:nvPr/>
        </p:nvSpPr>
        <p:spPr>
          <a:xfrm>
            <a:off x="8363898" y="8770050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Prompt</a:t>
            </a:r>
          </a:p>
        </p:txBody>
      </p:sp>
      <p:sp>
        <p:nvSpPr>
          <p:cNvPr id="249" name="card-115">
            <a:extLst>
              <a:ext uri="{FF2B5EF4-FFF2-40B4-BE49-F238E27FC236}">
                <a16:creationId xmlns:a16="http://schemas.microsoft.com/office/drawing/2014/main" id="{0C71664D-ED1E-60C1-C353-79DC90BBC196}"/>
              </a:ext>
            </a:extLst>
          </p:cNvPr>
          <p:cNvSpPr/>
          <p:nvPr/>
        </p:nvSpPr>
        <p:spPr>
          <a:xfrm>
            <a:off x="9830348" y="7582481"/>
            <a:ext cx="1322997" cy="367562"/>
          </a:xfrm>
          <a:prstGeom prst="roundRect">
            <a:avLst>
              <a:gd name="adj" fmla="val 4557"/>
            </a:avLst>
          </a:prstGeom>
          <a:noFill/>
          <a:ln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50" name="text-118">
            <a:extLst>
              <a:ext uri="{FF2B5EF4-FFF2-40B4-BE49-F238E27FC236}">
                <a16:creationId xmlns:a16="http://schemas.microsoft.com/office/drawing/2014/main" id="{45873CC2-60F7-1AF8-37B8-0B02D91A8697}"/>
              </a:ext>
            </a:extLst>
          </p:cNvPr>
          <p:cNvSpPr txBox="1"/>
          <p:nvPr/>
        </p:nvSpPr>
        <p:spPr>
          <a:xfrm>
            <a:off x="9885555" y="7680718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Implemented</a:t>
            </a:r>
          </a:p>
        </p:txBody>
      </p:sp>
      <p:sp>
        <p:nvSpPr>
          <p:cNvPr id="251" name="card-115">
            <a:extLst>
              <a:ext uri="{FF2B5EF4-FFF2-40B4-BE49-F238E27FC236}">
                <a16:creationId xmlns:a16="http://schemas.microsoft.com/office/drawing/2014/main" id="{43A7C8F5-F248-5358-8732-360A73F9360B}"/>
              </a:ext>
            </a:extLst>
          </p:cNvPr>
          <p:cNvSpPr/>
          <p:nvPr/>
        </p:nvSpPr>
        <p:spPr>
          <a:xfrm>
            <a:off x="9830348" y="8126695"/>
            <a:ext cx="1322997" cy="367562"/>
          </a:xfrm>
          <a:prstGeom prst="roundRect">
            <a:avLst>
              <a:gd name="adj" fmla="val 4557"/>
            </a:avLst>
          </a:prstGeom>
          <a:noFill/>
          <a:ln>
            <a:solidFill>
              <a:schemeClr val="accent6">
                <a:lumMod val="50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52" name="text-118">
            <a:extLst>
              <a:ext uri="{FF2B5EF4-FFF2-40B4-BE49-F238E27FC236}">
                <a16:creationId xmlns:a16="http://schemas.microsoft.com/office/drawing/2014/main" id="{DF8EFDFC-74F5-C2FF-59A6-17A7E6BDFA95}"/>
              </a:ext>
            </a:extLst>
          </p:cNvPr>
          <p:cNvSpPr txBox="1"/>
          <p:nvPr/>
        </p:nvSpPr>
        <p:spPr>
          <a:xfrm>
            <a:off x="9885555" y="8224931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Unimplemented</a:t>
            </a:r>
          </a:p>
        </p:txBody>
      </p:sp>
      <p:cxnSp>
        <p:nvCxnSpPr>
          <p:cNvPr id="14" name="直线连接符 13">
            <a:extLst>
              <a:ext uri="{FF2B5EF4-FFF2-40B4-BE49-F238E27FC236}">
                <a16:creationId xmlns:a16="http://schemas.microsoft.com/office/drawing/2014/main" id="{52742920-D456-900D-9AE6-0F0CDDCA7A7B}"/>
              </a:ext>
            </a:extLst>
          </p:cNvPr>
          <p:cNvCxnSpPr/>
          <p:nvPr/>
        </p:nvCxnSpPr>
        <p:spPr>
          <a:xfrm>
            <a:off x="0" y="1438275"/>
            <a:ext cx="12801600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E0AC31F-DED3-8589-AE48-492F4A0D3E00}"/>
              </a:ext>
            </a:extLst>
          </p:cNvPr>
          <p:cNvSpPr txBox="1"/>
          <p:nvPr/>
        </p:nvSpPr>
        <p:spPr>
          <a:xfrm>
            <a:off x="112432" y="1695654"/>
            <a:ext cx="7745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/>
              <a:t>Run Time</a:t>
            </a:r>
            <a:endParaRPr kumimoji="1" lang="zh-CN" altLang="en-US" sz="1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6755238-030D-A4A5-31A8-EC9D6751CBAB}"/>
              </a:ext>
            </a:extLst>
          </p:cNvPr>
          <p:cNvSpPr txBox="1"/>
          <p:nvPr/>
        </p:nvSpPr>
        <p:spPr>
          <a:xfrm>
            <a:off x="112432" y="424778"/>
            <a:ext cx="681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/>
              <a:t>Shadow</a:t>
            </a:r>
            <a:endParaRPr kumimoji="1" lang="zh-CN" altLang="en-US" sz="1200" dirty="0"/>
          </a:p>
        </p:txBody>
      </p:sp>
      <p:sp>
        <p:nvSpPr>
          <p:cNvPr id="17" name="card-115">
            <a:extLst>
              <a:ext uri="{FF2B5EF4-FFF2-40B4-BE49-F238E27FC236}">
                <a16:creationId xmlns:a16="http://schemas.microsoft.com/office/drawing/2014/main" id="{D215FE9C-50D1-2425-217B-5B4FFEDAAAF0}"/>
              </a:ext>
            </a:extLst>
          </p:cNvPr>
          <p:cNvSpPr/>
          <p:nvPr/>
        </p:nvSpPr>
        <p:spPr>
          <a:xfrm>
            <a:off x="3505658" y="366535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8" name="text-117">
            <a:extLst>
              <a:ext uri="{FF2B5EF4-FFF2-40B4-BE49-F238E27FC236}">
                <a16:creationId xmlns:a16="http://schemas.microsoft.com/office/drawing/2014/main" id="{A44E08EB-58BA-8840-1597-0762ACF39A05}"/>
              </a:ext>
            </a:extLst>
          </p:cNvPr>
          <p:cNvSpPr txBox="1"/>
          <p:nvPr/>
        </p:nvSpPr>
        <p:spPr>
          <a:xfrm>
            <a:off x="3655534" y="487854"/>
            <a:ext cx="1229296" cy="572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List of Scheduled Event</a:t>
            </a:r>
            <a:endParaRPr lang="en-US" sz="1000" dirty="0"/>
          </a:p>
        </p:txBody>
      </p:sp>
      <p:sp>
        <p:nvSpPr>
          <p:cNvPr id="19" name="card-115">
            <a:extLst>
              <a:ext uri="{FF2B5EF4-FFF2-40B4-BE49-F238E27FC236}">
                <a16:creationId xmlns:a16="http://schemas.microsoft.com/office/drawing/2014/main" id="{880BAAD8-26C1-946A-6A74-27580E8C3B95}"/>
              </a:ext>
            </a:extLst>
          </p:cNvPr>
          <p:cNvSpPr/>
          <p:nvPr/>
        </p:nvSpPr>
        <p:spPr>
          <a:xfrm>
            <a:off x="1818033" y="366535"/>
            <a:ext cx="1315534" cy="693931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0" name="text-117">
            <a:extLst>
              <a:ext uri="{FF2B5EF4-FFF2-40B4-BE49-F238E27FC236}">
                <a16:creationId xmlns:a16="http://schemas.microsoft.com/office/drawing/2014/main" id="{76303900-478C-FF6E-19AF-F2CAB354B06B}"/>
              </a:ext>
            </a:extLst>
          </p:cNvPr>
          <p:cNvSpPr txBox="1"/>
          <p:nvPr/>
        </p:nvSpPr>
        <p:spPr>
          <a:xfrm>
            <a:off x="1967909" y="463709"/>
            <a:ext cx="1015783" cy="211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Periodic API</a:t>
            </a:r>
            <a:endParaRPr lang="en-US" sz="1000" dirty="0"/>
          </a:p>
        </p:txBody>
      </p:sp>
      <p:sp>
        <p:nvSpPr>
          <p:cNvPr id="21" name="text-118">
            <a:extLst>
              <a:ext uri="{FF2B5EF4-FFF2-40B4-BE49-F238E27FC236}">
                <a16:creationId xmlns:a16="http://schemas.microsoft.com/office/drawing/2014/main" id="{9BAE4B14-88FB-30AA-62A8-486462427286}"/>
              </a:ext>
            </a:extLst>
          </p:cNvPr>
          <p:cNvSpPr txBox="1"/>
          <p:nvPr/>
        </p:nvSpPr>
        <p:spPr>
          <a:xfrm>
            <a:off x="1967906" y="709811"/>
            <a:ext cx="1015783" cy="3010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Get scheduled event every 1d</a:t>
            </a:r>
            <a:endParaRPr lang="en-US" sz="1000" dirty="0"/>
          </a:p>
        </p:txBody>
      </p:sp>
      <p:cxnSp>
        <p:nvCxnSpPr>
          <p:cNvPr id="22" name="直线箭头连接符 21">
            <a:extLst>
              <a:ext uri="{FF2B5EF4-FFF2-40B4-BE49-F238E27FC236}">
                <a16:creationId xmlns:a16="http://schemas.microsoft.com/office/drawing/2014/main" id="{65AB1863-9472-ABBB-25EB-BBFAA804DA99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3133567" y="709811"/>
            <a:ext cx="372091" cy="369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ard-115">
            <a:extLst>
              <a:ext uri="{FF2B5EF4-FFF2-40B4-BE49-F238E27FC236}">
                <a16:creationId xmlns:a16="http://schemas.microsoft.com/office/drawing/2014/main" id="{4429ADAB-B3C6-7B5A-88DC-F59B5CA33E4D}"/>
              </a:ext>
            </a:extLst>
          </p:cNvPr>
          <p:cNvSpPr/>
          <p:nvPr/>
        </p:nvSpPr>
        <p:spPr>
          <a:xfrm>
            <a:off x="5193283" y="369586"/>
            <a:ext cx="3115407" cy="863749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8" name="text-117">
            <a:extLst>
              <a:ext uri="{FF2B5EF4-FFF2-40B4-BE49-F238E27FC236}">
                <a16:creationId xmlns:a16="http://schemas.microsoft.com/office/drawing/2014/main" id="{F340C709-23C9-8E13-1A68-E3B9ED540BDD}"/>
              </a:ext>
            </a:extLst>
          </p:cNvPr>
          <p:cNvSpPr txBox="1"/>
          <p:nvPr/>
        </p:nvSpPr>
        <p:spPr>
          <a:xfrm>
            <a:off x="5343160" y="466760"/>
            <a:ext cx="1015783" cy="211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Claude SDK</a:t>
            </a:r>
            <a:endParaRPr lang="en-US" sz="1000" dirty="0"/>
          </a:p>
        </p:txBody>
      </p:sp>
      <p:sp>
        <p:nvSpPr>
          <p:cNvPr id="30" name="text-118">
            <a:extLst>
              <a:ext uri="{FF2B5EF4-FFF2-40B4-BE49-F238E27FC236}">
                <a16:creationId xmlns:a16="http://schemas.microsoft.com/office/drawing/2014/main" id="{E7A2B0AB-F7A0-4632-F8F5-357933870EAF}"/>
              </a:ext>
            </a:extLst>
          </p:cNvPr>
          <p:cNvSpPr txBox="1"/>
          <p:nvPr/>
        </p:nvSpPr>
        <p:spPr>
          <a:xfrm>
            <a:off x="5343156" y="712862"/>
            <a:ext cx="2861505" cy="3010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For event without earning preview + knowledge cutoff is 2h apart from now, create earning preview use same skill as the competition but lower cost set up</a:t>
            </a:r>
            <a:endParaRPr lang="en-US" sz="1000" dirty="0"/>
          </a:p>
        </p:txBody>
      </p:sp>
      <p:cxnSp>
        <p:nvCxnSpPr>
          <p:cNvPr id="34" name="直线箭头连接符 33">
            <a:extLst>
              <a:ext uri="{FF2B5EF4-FFF2-40B4-BE49-F238E27FC236}">
                <a16:creationId xmlns:a16="http://schemas.microsoft.com/office/drawing/2014/main" id="{90E75B7C-34CA-C2EC-A7CF-5FCA0B23E6B8}"/>
              </a:ext>
            </a:extLst>
          </p:cNvPr>
          <p:cNvCxnSpPr>
            <a:cxnSpLocks/>
          </p:cNvCxnSpPr>
          <p:nvPr/>
        </p:nvCxnSpPr>
        <p:spPr>
          <a:xfrm>
            <a:off x="4821192" y="712860"/>
            <a:ext cx="372091" cy="369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card-115">
            <a:extLst>
              <a:ext uri="{FF2B5EF4-FFF2-40B4-BE49-F238E27FC236}">
                <a16:creationId xmlns:a16="http://schemas.microsoft.com/office/drawing/2014/main" id="{A554E503-B588-47D4-6CD2-55E8ECB3F1CF}"/>
              </a:ext>
            </a:extLst>
          </p:cNvPr>
          <p:cNvSpPr/>
          <p:nvPr/>
        </p:nvSpPr>
        <p:spPr>
          <a:xfrm>
            <a:off x="8680781" y="376093"/>
            <a:ext cx="1487561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0" name="text-117">
            <a:extLst>
              <a:ext uri="{FF2B5EF4-FFF2-40B4-BE49-F238E27FC236}">
                <a16:creationId xmlns:a16="http://schemas.microsoft.com/office/drawing/2014/main" id="{204613E3-032C-2A54-9C48-834CBA893F50}"/>
              </a:ext>
            </a:extLst>
          </p:cNvPr>
          <p:cNvSpPr txBox="1"/>
          <p:nvPr/>
        </p:nvSpPr>
        <p:spPr>
          <a:xfrm>
            <a:off x="8830658" y="497413"/>
            <a:ext cx="1163906" cy="192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Simplified Earnings Preview</a:t>
            </a:r>
            <a:endParaRPr lang="en-US" sz="1000" dirty="0"/>
          </a:p>
        </p:txBody>
      </p:sp>
      <p:cxnSp>
        <p:nvCxnSpPr>
          <p:cNvPr id="46" name="直线箭头连接符 45">
            <a:extLst>
              <a:ext uri="{FF2B5EF4-FFF2-40B4-BE49-F238E27FC236}">
                <a16:creationId xmlns:a16="http://schemas.microsoft.com/office/drawing/2014/main" id="{1964F52B-71AE-9F41-1561-A6D76DF6772D}"/>
              </a:ext>
            </a:extLst>
          </p:cNvPr>
          <p:cNvCxnSpPr>
            <a:cxnSpLocks/>
          </p:cNvCxnSpPr>
          <p:nvPr/>
        </p:nvCxnSpPr>
        <p:spPr>
          <a:xfrm>
            <a:off x="8308690" y="698086"/>
            <a:ext cx="372091" cy="369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肘形连接符 56">
            <a:extLst>
              <a:ext uri="{FF2B5EF4-FFF2-40B4-BE49-F238E27FC236}">
                <a16:creationId xmlns:a16="http://schemas.microsoft.com/office/drawing/2014/main" id="{554401AB-9764-7383-3C81-F6210DE92158}"/>
              </a:ext>
            </a:extLst>
          </p:cNvPr>
          <p:cNvCxnSpPr>
            <a:cxnSpLocks/>
            <a:stCxn id="39" idx="2"/>
            <a:endCxn id="47" idx="0"/>
          </p:cNvCxnSpPr>
          <p:nvPr/>
        </p:nvCxnSpPr>
        <p:spPr>
          <a:xfrm rot="5400000">
            <a:off x="5948557" y="-715105"/>
            <a:ext cx="1690875" cy="5261137"/>
          </a:xfrm>
          <a:prstGeom prst="bentConnector3">
            <a:avLst>
              <a:gd name="adj1" fmla="val 27196"/>
            </a:avLst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-118">
            <a:extLst>
              <a:ext uri="{FF2B5EF4-FFF2-40B4-BE49-F238E27FC236}">
                <a16:creationId xmlns:a16="http://schemas.microsoft.com/office/drawing/2014/main" id="{B96A7EE0-00BE-2F73-9E9F-0D9CCDCFB959}"/>
              </a:ext>
            </a:extLst>
          </p:cNvPr>
          <p:cNvSpPr txBox="1"/>
          <p:nvPr/>
        </p:nvSpPr>
        <p:spPr>
          <a:xfrm>
            <a:off x="3660658" y="3049190"/>
            <a:ext cx="1010659" cy="3814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If event has earning preview, use event’s else use simplified earning preview</a:t>
            </a:r>
            <a:endParaRPr lang="en-US" sz="1000" dirty="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885F23-1575-6DF3-D5E7-E3063178C8B4}"/>
              </a:ext>
            </a:extLst>
          </p:cNvPr>
          <p:cNvSpPr txBox="1"/>
          <p:nvPr/>
        </p:nvSpPr>
        <p:spPr>
          <a:xfrm>
            <a:off x="11158105" y="291387"/>
            <a:ext cx="11296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zh-CN" dirty="0" err="1"/>
              <a:t>em_agent</a:t>
            </a:r>
            <a:endParaRPr kumimoji="1" lang="en-US" altLang="zh-CN" dirty="0"/>
          </a:p>
          <a:p>
            <a:r>
              <a:rPr kumimoji="1" lang="en-US" altLang="zh-CN" dirty="0"/>
              <a:t>Version 3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73076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7BF7F-15AC-C39B-7735-9AE42C2F9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ard-115">
            <a:extLst>
              <a:ext uri="{FF2B5EF4-FFF2-40B4-BE49-F238E27FC236}">
                <a16:creationId xmlns:a16="http://schemas.microsoft.com/office/drawing/2014/main" id="{EB86E733-D14F-8D8B-0DC9-F24105D7B3A2}"/>
              </a:ext>
            </a:extLst>
          </p:cNvPr>
          <p:cNvSpPr/>
          <p:nvPr/>
        </p:nvSpPr>
        <p:spPr>
          <a:xfrm>
            <a:off x="1818033" y="3970313"/>
            <a:ext cx="1315534" cy="1882786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31" name="text-117">
            <a:extLst>
              <a:ext uri="{FF2B5EF4-FFF2-40B4-BE49-F238E27FC236}">
                <a16:creationId xmlns:a16="http://schemas.microsoft.com/office/drawing/2014/main" id="{964134FB-34EC-F91B-B680-29EDD3A5D1B0}"/>
              </a:ext>
            </a:extLst>
          </p:cNvPr>
          <p:cNvSpPr txBox="1"/>
          <p:nvPr/>
        </p:nvSpPr>
        <p:spPr>
          <a:xfrm>
            <a:off x="1967909" y="4067486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Extract surprises</a:t>
            </a:r>
            <a:endParaRPr lang="en-US" sz="1000" dirty="0"/>
          </a:p>
        </p:txBody>
      </p:sp>
      <p:sp>
        <p:nvSpPr>
          <p:cNvPr id="32" name="text-118">
            <a:extLst>
              <a:ext uri="{FF2B5EF4-FFF2-40B4-BE49-F238E27FC236}">
                <a16:creationId xmlns:a16="http://schemas.microsoft.com/office/drawing/2014/main" id="{572E79B7-11E0-52BD-B18E-3C6063976D66}"/>
              </a:ext>
            </a:extLst>
          </p:cNvPr>
          <p:cNvSpPr txBox="1"/>
          <p:nvPr/>
        </p:nvSpPr>
        <p:spPr>
          <a:xfrm>
            <a:off x="1967909" y="4597775"/>
            <a:ext cx="1015783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gpt-6-luna, medium effort: list surprises, most important first, with direction and magnitude. No preview: no-preview prompt</a:t>
            </a:r>
            <a:endParaRPr lang="en-US" sz="1000" dirty="0"/>
          </a:p>
        </p:txBody>
      </p:sp>
      <p:sp>
        <p:nvSpPr>
          <p:cNvPr id="35" name="card-115">
            <a:extLst>
              <a:ext uri="{FF2B5EF4-FFF2-40B4-BE49-F238E27FC236}">
                <a16:creationId xmlns:a16="http://schemas.microsoft.com/office/drawing/2014/main" id="{D7B925FD-5D40-A8A5-FC25-CC8F876E3CDA}"/>
              </a:ext>
            </a:extLst>
          </p:cNvPr>
          <p:cNvSpPr/>
          <p:nvPr/>
        </p:nvSpPr>
        <p:spPr>
          <a:xfrm>
            <a:off x="5789192" y="3976405"/>
            <a:ext cx="1315534" cy="1882786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36" name="text-117">
            <a:extLst>
              <a:ext uri="{FF2B5EF4-FFF2-40B4-BE49-F238E27FC236}">
                <a16:creationId xmlns:a16="http://schemas.microsoft.com/office/drawing/2014/main" id="{B814EE55-9A96-37F0-CEDE-41CE2B29228E}"/>
              </a:ext>
            </a:extLst>
          </p:cNvPr>
          <p:cNvSpPr txBox="1"/>
          <p:nvPr/>
        </p:nvSpPr>
        <p:spPr>
          <a:xfrm>
            <a:off x="5939068" y="4073577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Classify surprises</a:t>
            </a:r>
            <a:endParaRPr lang="en-US" sz="1000" dirty="0"/>
          </a:p>
        </p:txBody>
      </p:sp>
      <p:sp>
        <p:nvSpPr>
          <p:cNvPr id="37" name="text-118">
            <a:extLst>
              <a:ext uri="{FF2B5EF4-FFF2-40B4-BE49-F238E27FC236}">
                <a16:creationId xmlns:a16="http://schemas.microsoft.com/office/drawing/2014/main" id="{E0116EE4-9AE4-3FCA-8B99-6946EEB835B1}"/>
              </a:ext>
            </a:extLst>
          </p:cNvPr>
          <p:cNvSpPr txBox="1"/>
          <p:nvPr/>
        </p:nvSpPr>
        <p:spPr>
          <a:xfrm>
            <a:off x="5939068" y="4646191"/>
            <a:ext cx="1015783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gpt-6-luna,</a:t>
            </a:r>
          </a:p>
          <a:p>
            <a:r>
              <a:rPr lang="en-US" sz="1000" dirty="0">
                <a:solidFill>
                  <a:schemeClr val="tx2"/>
                </a:solidFill>
              </a:rPr>
              <a:t>low effort, one call per event:</a:t>
            </a:r>
          </a:p>
          <a:p>
            <a:r>
              <a:rPr lang="en-US" sz="1000" dirty="0">
                <a:solidFill>
                  <a:schemeClr val="tx2"/>
                </a:solidFill>
              </a:rPr>
              <a:t>assign each surprise to one taxonomy category</a:t>
            </a:r>
            <a:endParaRPr lang="en-US" sz="1000" dirty="0"/>
          </a:p>
        </p:txBody>
      </p:sp>
      <p:sp>
        <p:nvSpPr>
          <p:cNvPr id="41" name="card-115">
            <a:extLst>
              <a:ext uri="{FF2B5EF4-FFF2-40B4-BE49-F238E27FC236}">
                <a16:creationId xmlns:a16="http://schemas.microsoft.com/office/drawing/2014/main" id="{52C321F1-BACA-BE71-A482-A26F0530D1C6}"/>
              </a:ext>
            </a:extLst>
          </p:cNvPr>
          <p:cNvSpPr/>
          <p:nvPr/>
        </p:nvSpPr>
        <p:spPr>
          <a:xfrm>
            <a:off x="1818033" y="1657361"/>
            <a:ext cx="3003159" cy="815252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2" name="text-117">
            <a:extLst>
              <a:ext uri="{FF2B5EF4-FFF2-40B4-BE49-F238E27FC236}">
                <a16:creationId xmlns:a16="http://schemas.microsoft.com/office/drawing/2014/main" id="{8A1266DA-25C7-F9B3-FDEB-937DFB376238}"/>
              </a:ext>
            </a:extLst>
          </p:cNvPr>
          <p:cNvSpPr txBox="1"/>
          <p:nvPr/>
        </p:nvSpPr>
        <p:spPr>
          <a:xfrm>
            <a:off x="1967909" y="1778680"/>
            <a:ext cx="2703409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One Earnings Event</a:t>
            </a:r>
            <a:endParaRPr lang="en-US" sz="1000" dirty="0"/>
          </a:p>
        </p:txBody>
      </p:sp>
      <p:sp>
        <p:nvSpPr>
          <p:cNvPr id="43" name="text-118">
            <a:extLst>
              <a:ext uri="{FF2B5EF4-FFF2-40B4-BE49-F238E27FC236}">
                <a16:creationId xmlns:a16="http://schemas.microsoft.com/office/drawing/2014/main" id="{E4F9CF36-64DB-5424-0E64-557D65D1D309}"/>
              </a:ext>
            </a:extLst>
          </p:cNvPr>
          <p:cNvSpPr txBox="1"/>
          <p:nvPr/>
        </p:nvSpPr>
        <p:spPr>
          <a:xfrm>
            <a:off x="1967908" y="2066969"/>
            <a:ext cx="2703409" cy="3814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Event date, call summary, earnings preview (may be missing), option statistics</a:t>
            </a:r>
            <a:endParaRPr lang="en-US" sz="1000" dirty="0"/>
          </a:p>
        </p:txBody>
      </p:sp>
      <p:sp>
        <p:nvSpPr>
          <p:cNvPr id="44" name="card-115">
            <a:extLst>
              <a:ext uri="{FF2B5EF4-FFF2-40B4-BE49-F238E27FC236}">
                <a16:creationId xmlns:a16="http://schemas.microsoft.com/office/drawing/2014/main" id="{0CF08CFA-65E8-8CE0-F63A-79D1F7CCF355}"/>
              </a:ext>
            </a:extLst>
          </p:cNvPr>
          <p:cNvSpPr/>
          <p:nvPr/>
        </p:nvSpPr>
        <p:spPr>
          <a:xfrm>
            <a:off x="1818033" y="2760901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5" name="text-117">
            <a:extLst>
              <a:ext uri="{FF2B5EF4-FFF2-40B4-BE49-F238E27FC236}">
                <a16:creationId xmlns:a16="http://schemas.microsoft.com/office/drawing/2014/main" id="{4E6A81B5-7DA2-4DBA-58CC-3A7E193E3D03}"/>
              </a:ext>
            </a:extLst>
          </p:cNvPr>
          <p:cNvSpPr txBox="1"/>
          <p:nvPr/>
        </p:nvSpPr>
        <p:spPr>
          <a:xfrm>
            <a:off x="1967909" y="2882220"/>
            <a:ext cx="1229296" cy="572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Earnings Call Summary</a:t>
            </a:r>
            <a:endParaRPr lang="en-US" sz="1000" dirty="0"/>
          </a:p>
        </p:txBody>
      </p:sp>
      <p:sp>
        <p:nvSpPr>
          <p:cNvPr id="47" name="card-115">
            <a:extLst>
              <a:ext uri="{FF2B5EF4-FFF2-40B4-BE49-F238E27FC236}">
                <a16:creationId xmlns:a16="http://schemas.microsoft.com/office/drawing/2014/main" id="{3DF6D4C4-1975-4116-4AB7-1EA0506B0ABD}"/>
              </a:ext>
            </a:extLst>
          </p:cNvPr>
          <p:cNvSpPr/>
          <p:nvPr/>
        </p:nvSpPr>
        <p:spPr>
          <a:xfrm>
            <a:off x="3505658" y="2760901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8" name="text-117">
            <a:extLst>
              <a:ext uri="{FF2B5EF4-FFF2-40B4-BE49-F238E27FC236}">
                <a16:creationId xmlns:a16="http://schemas.microsoft.com/office/drawing/2014/main" id="{C7673025-104B-077F-A717-3E6320344E1B}"/>
              </a:ext>
            </a:extLst>
          </p:cNvPr>
          <p:cNvSpPr txBox="1"/>
          <p:nvPr/>
        </p:nvSpPr>
        <p:spPr>
          <a:xfrm>
            <a:off x="3655534" y="2882221"/>
            <a:ext cx="1163906" cy="192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Earnings Preview</a:t>
            </a:r>
            <a:endParaRPr lang="en-US" sz="1000" dirty="0"/>
          </a:p>
        </p:txBody>
      </p:sp>
      <p:cxnSp>
        <p:nvCxnSpPr>
          <p:cNvPr id="50" name="直线箭头连接符 49">
            <a:extLst>
              <a:ext uri="{FF2B5EF4-FFF2-40B4-BE49-F238E27FC236}">
                <a16:creationId xmlns:a16="http://schemas.microsoft.com/office/drawing/2014/main" id="{055E8ADF-6D48-2EAF-40AD-E08760DAFB7E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2475800" y="2472614"/>
            <a:ext cx="0" cy="288288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线箭头连接符 51">
            <a:extLst>
              <a:ext uri="{FF2B5EF4-FFF2-40B4-BE49-F238E27FC236}">
                <a16:creationId xmlns:a16="http://schemas.microsoft.com/office/drawing/2014/main" id="{83947AC2-F3F7-A695-0341-7AF875E0D968}"/>
              </a:ext>
            </a:extLst>
          </p:cNvPr>
          <p:cNvCxnSpPr>
            <a:cxnSpLocks/>
          </p:cNvCxnSpPr>
          <p:nvPr/>
        </p:nvCxnSpPr>
        <p:spPr>
          <a:xfrm>
            <a:off x="4166918" y="2472614"/>
            <a:ext cx="0" cy="288288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线箭头连接符 52">
            <a:extLst>
              <a:ext uri="{FF2B5EF4-FFF2-40B4-BE49-F238E27FC236}">
                <a16:creationId xmlns:a16="http://schemas.microsoft.com/office/drawing/2014/main" id="{1CAFC354-71D0-F83D-2E43-3368DD8548F0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2475800" y="3454834"/>
            <a:ext cx="0" cy="51548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肘形连接符 55">
            <a:extLst>
              <a:ext uri="{FF2B5EF4-FFF2-40B4-BE49-F238E27FC236}">
                <a16:creationId xmlns:a16="http://schemas.microsoft.com/office/drawing/2014/main" id="{9A09BAF4-16FB-8A13-3A48-3A67F00F93E3}"/>
              </a:ext>
            </a:extLst>
          </p:cNvPr>
          <p:cNvCxnSpPr>
            <a:cxnSpLocks/>
          </p:cNvCxnSpPr>
          <p:nvPr/>
        </p:nvCxnSpPr>
        <p:spPr>
          <a:xfrm rot="10800000" flipV="1">
            <a:off x="2475799" y="3453617"/>
            <a:ext cx="1687626" cy="258956"/>
          </a:xfrm>
          <a:prstGeom prst="bentConnector3">
            <a:avLst>
              <a:gd name="adj1" fmla="val 45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card-115">
            <a:extLst>
              <a:ext uri="{FF2B5EF4-FFF2-40B4-BE49-F238E27FC236}">
                <a16:creationId xmlns:a16="http://schemas.microsoft.com/office/drawing/2014/main" id="{6896AC15-614B-A366-88E2-F7AB831BB57C}"/>
              </a:ext>
            </a:extLst>
          </p:cNvPr>
          <p:cNvSpPr/>
          <p:nvPr/>
        </p:nvSpPr>
        <p:spPr>
          <a:xfrm>
            <a:off x="1818033" y="6383388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 dirty="0"/>
          </a:p>
        </p:txBody>
      </p:sp>
      <p:cxnSp>
        <p:nvCxnSpPr>
          <p:cNvPr id="61" name="直线箭头连接符 60">
            <a:extLst>
              <a:ext uri="{FF2B5EF4-FFF2-40B4-BE49-F238E27FC236}">
                <a16:creationId xmlns:a16="http://schemas.microsoft.com/office/drawing/2014/main" id="{2AF96070-4EE2-147E-65F9-78AD5C09968F}"/>
              </a:ext>
            </a:extLst>
          </p:cNvPr>
          <p:cNvCxnSpPr>
            <a:cxnSpLocks/>
          </p:cNvCxnSpPr>
          <p:nvPr/>
        </p:nvCxnSpPr>
        <p:spPr>
          <a:xfrm>
            <a:off x="2447813" y="5853099"/>
            <a:ext cx="0" cy="51548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-117">
            <a:extLst>
              <a:ext uri="{FF2B5EF4-FFF2-40B4-BE49-F238E27FC236}">
                <a16:creationId xmlns:a16="http://schemas.microsoft.com/office/drawing/2014/main" id="{BD7AFDBD-9BEC-E0C8-2BF7-A75E814486FC}"/>
              </a:ext>
            </a:extLst>
          </p:cNvPr>
          <p:cNvSpPr txBox="1"/>
          <p:nvPr/>
        </p:nvSpPr>
        <p:spPr>
          <a:xfrm>
            <a:off x="1967906" y="6462269"/>
            <a:ext cx="1015783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List of Surprises</a:t>
            </a:r>
            <a:endParaRPr lang="en-US" sz="1000" dirty="0"/>
          </a:p>
        </p:txBody>
      </p:sp>
      <p:sp>
        <p:nvSpPr>
          <p:cNvPr id="64" name="card-115">
            <a:extLst>
              <a:ext uri="{FF2B5EF4-FFF2-40B4-BE49-F238E27FC236}">
                <a16:creationId xmlns:a16="http://schemas.microsoft.com/office/drawing/2014/main" id="{0E73C8EF-BE99-316B-2AC7-2B44BDEDDF7C}"/>
              </a:ext>
            </a:extLst>
          </p:cNvPr>
          <p:cNvSpPr/>
          <p:nvPr/>
        </p:nvSpPr>
        <p:spPr>
          <a:xfrm>
            <a:off x="1818033" y="7341675"/>
            <a:ext cx="3916253" cy="2033416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 dirty="0"/>
          </a:p>
        </p:txBody>
      </p:sp>
      <p:cxnSp>
        <p:nvCxnSpPr>
          <p:cNvPr id="65" name="直线箭头连接符 64">
            <a:extLst>
              <a:ext uri="{FF2B5EF4-FFF2-40B4-BE49-F238E27FC236}">
                <a16:creationId xmlns:a16="http://schemas.microsoft.com/office/drawing/2014/main" id="{05B4C44F-53F1-4EB0-C21A-96E86A0287E7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2475800" y="7077321"/>
            <a:ext cx="0" cy="264354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-117">
            <a:extLst>
              <a:ext uri="{FF2B5EF4-FFF2-40B4-BE49-F238E27FC236}">
                <a16:creationId xmlns:a16="http://schemas.microsoft.com/office/drawing/2014/main" id="{BF049515-50E0-8BAA-CBD1-BC38829EA9F0}"/>
              </a:ext>
            </a:extLst>
          </p:cNvPr>
          <p:cNvSpPr txBox="1"/>
          <p:nvPr/>
        </p:nvSpPr>
        <p:spPr>
          <a:xfrm>
            <a:off x="1967907" y="7404682"/>
            <a:ext cx="1015783" cy="24424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Surprise</a:t>
            </a:r>
          </a:p>
        </p:txBody>
      </p:sp>
      <p:sp>
        <p:nvSpPr>
          <p:cNvPr id="63" name="text-118">
            <a:extLst>
              <a:ext uri="{FF2B5EF4-FFF2-40B4-BE49-F238E27FC236}">
                <a16:creationId xmlns:a16="http://schemas.microsoft.com/office/drawing/2014/main" id="{DD667490-F4BC-2C9F-CF8E-8F8993E4E702}"/>
              </a:ext>
            </a:extLst>
          </p:cNvPr>
          <p:cNvSpPr txBox="1"/>
          <p:nvPr/>
        </p:nvSpPr>
        <p:spPr>
          <a:xfrm>
            <a:off x="1967906" y="7725921"/>
            <a:ext cx="3916265" cy="12878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One way the earnings call differed from what was expected</a:t>
            </a:r>
          </a:p>
          <a:p>
            <a:r>
              <a:rPr lang="en-US" sz="1000" dirty="0"/>
              <a:t>- description, call evidence, expectation evidence</a:t>
            </a:r>
          </a:p>
          <a:p>
            <a:r>
              <a:rPr lang="en-US" sz="1000" dirty="0"/>
              <a:t>- expectation source: preview / call / none</a:t>
            </a:r>
          </a:p>
          <a:p>
            <a:r>
              <a:rPr lang="en-US" sz="1000" dirty="0"/>
              <a:t>- position: order in the list, most important first</a:t>
            </a:r>
          </a:p>
          <a:p>
            <a:r>
              <a:rPr lang="en-US" sz="1000" dirty="0"/>
              <a:t>- category: one of 15 v2 categories, or other</a:t>
            </a:r>
          </a:p>
          <a:p>
            <a:r>
              <a:rPr lang="en-US" altLang="zh-CN" sz="1000" dirty="0"/>
              <a:t>- direction: +1 good, -1 bad, 0 mixed, null unclear (scored 0)</a:t>
            </a:r>
          </a:p>
          <a:p>
            <a:r>
              <a:rPr lang="en-US" altLang="zh-CN" sz="1000" dirty="0"/>
              <a:t>- magnitude: 1 small, 2 moderate, 3 large</a:t>
            </a:r>
          </a:p>
        </p:txBody>
      </p:sp>
      <p:cxnSp>
        <p:nvCxnSpPr>
          <p:cNvPr id="68" name="肘形连接符 67">
            <a:extLst>
              <a:ext uri="{FF2B5EF4-FFF2-40B4-BE49-F238E27FC236}">
                <a16:creationId xmlns:a16="http://schemas.microsoft.com/office/drawing/2014/main" id="{BCB5AC30-6711-F90A-2257-A5186F95FC16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3133567" y="5853099"/>
            <a:ext cx="3084876" cy="877256"/>
          </a:xfrm>
          <a:prstGeom prst="bentConnector3">
            <a:avLst>
              <a:gd name="adj1" fmla="val 100129"/>
            </a:avLst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线箭头连接符 68">
            <a:extLst>
              <a:ext uri="{FF2B5EF4-FFF2-40B4-BE49-F238E27FC236}">
                <a16:creationId xmlns:a16="http://schemas.microsoft.com/office/drawing/2014/main" id="{F0E3547B-B87B-A780-9D1E-D38F1AB0CCE5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7104726" y="4917798"/>
            <a:ext cx="372091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线箭头连接符 73">
            <a:extLst>
              <a:ext uri="{FF2B5EF4-FFF2-40B4-BE49-F238E27FC236}">
                <a16:creationId xmlns:a16="http://schemas.microsoft.com/office/drawing/2014/main" id="{1FA961A4-555B-A74F-CC0D-89058F8C915C}"/>
              </a:ext>
            </a:extLst>
          </p:cNvPr>
          <p:cNvCxnSpPr>
            <a:cxnSpLocks/>
          </p:cNvCxnSpPr>
          <p:nvPr/>
        </p:nvCxnSpPr>
        <p:spPr>
          <a:xfrm flipV="1">
            <a:off x="6667579" y="5866187"/>
            <a:ext cx="0" cy="120941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card-115">
            <a:extLst>
              <a:ext uri="{FF2B5EF4-FFF2-40B4-BE49-F238E27FC236}">
                <a16:creationId xmlns:a16="http://schemas.microsoft.com/office/drawing/2014/main" id="{E25AB866-2253-1338-6F09-9E57AA3CFE77}"/>
              </a:ext>
            </a:extLst>
          </p:cNvPr>
          <p:cNvSpPr/>
          <p:nvPr/>
        </p:nvSpPr>
        <p:spPr>
          <a:xfrm>
            <a:off x="6132998" y="7073132"/>
            <a:ext cx="1315534" cy="1112961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 dirty="0"/>
          </a:p>
        </p:txBody>
      </p:sp>
      <p:sp>
        <p:nvSpPr>
          <p:cNvPr id="78" name="text-117">
            <a:extLst>
              <a:ext uri="{FF2B5EF4-FFF2-40B4-BE49-F238E27FC236}">
                <a16:creationId xmlns:a16="http://schemas.microsoft.com/office/drawing/2014/main" id="{2E1F6BA2-A9C4-E23E-D804-88A52206B16A}"/>
              </a:ext>
            </a:extLst>
          </p:cNvPr>
          <p:cNvSpPr txBox="1"/>
          <p:nvPr/>
        </p:nvSpPr>
        <p:spPr>
          <a:xfrm>
            <a:off x="6282871" y="7152014"/>
            <a:ext cx="1015783" cy="2680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Taxonomy</a:t>
            </a:r>
            <a:endParaRPr lang="en-US" sz="1000" dirty="0"/>
          </a:p>
        </p:txBody>
      </p:sp>
      <p:sp>
        <p:nvSpPr>
          <p:cNvPr id="79" name="text-118">
            <a:extLst>
              <a:ext uri="{FF2B5EF4-FFF2-40B4-BE49-F238E27FC236}">
                <a16:creationId xmlns:a16="http://schemas.microsoft.com/office/drawing/2014/main" id="{D0A59E59-5F18-8BA0-1732-6031FCCC049C}"/>
              </a:ext>
            </a:extLst>
          </p:cNvPr>
          <p:cNvSpPr txBox="1"/>
          <p:nvPr/>
        </p:nvSpPr>
        <p:spPr>
          <a:xfrm>
            <a:off x="6282871" y="7422630"/>
            <a:ext cx="1015783" cy="688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Frozen v2 codebook: 15 categories with assignment rules</a:t>
            </a:r>
          </a:p>
        </p:txBody>
      </p:sp>
      <p:sp>
        <p:nvSpPr>
          <p:cNvPr id="93" name="card-115">
            <a:extLst>
              <a:ext uri="{FF2B5EF4-FFF2-40B4-BE49-F238E27FC236}">
                <a16:creationId xmlns:a16="http://schemas.microsoft.com/office/drawing/2014/main" id="{76DFD9EC-E501-DEBD-AC92-ABA89958DB10}"/>
              </a:ext>
            </a:extLst>
          </p:cNvPr>
          <p:cNvSpPr/>
          <p:nvPr/>
        </p:nvSpPr>
        <p:spPr>
          <a:xfrm>
            <a:off x="7462673" y="3740343"/>
            <a:ext cx="1692037" cy="2224081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94" name="text-117">
            <a:extLst>
              <a:ext uri="{FF2B5EF4-FFF2-40B4-BE49-F238E27FC236}">
                <a16:creationId xmlns:a16="http://schemas.microsoft.com/office/drawing/2014/main" id="{D2D92CD4-5850-BB11-6797-837413B52549}"/>
              </a:ext>
            </a:extLst>
          </p:cNvPr>
          <p:cNvSpPr txBox="1"/>
          <p:nvPr/>
        </p:nvSpPr>
        <p:spPr>
          <a:xfrm>
            <a:off x="7612548" y="3837515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Aggregate surprises</a:t>
            </a:r>
            <a:endParaRPr lang="en-US" sz="1000" dirty="0"/>
          </a:p>
        </p:txBody>
      </p:sp>
      <p:sp>
        <p:nvSpPr>
          <p:cNvPr id="95" name="text-118">
            <a:extLst>
              <a:ext uri="{FF2B5EF4-FFF2-40B4-BE49-F238E27FC236}">
                <a16:creationId xmlns:a16="http://schemas.microsoft.com/office/drawing/2014/main" id="{95F18BD7-5139-9EE7-FF5C-A99840EADD19}"/>
              </a:ext>
            </a:extLst>
          </p:cNvPr>
          <p:cNvSpPr txBox="1"/>
          <p:nvPr/>
        </p:nvSpPr>
        <p:spPr>
          <a:xfrm>
            <a:off x="7612548" y="4368477"/>
            <a:ext cx="1456045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Per event, build features:</a:t>
            </a:r>
          </a:p>
          <a:p>
            <a:r>
              <a:rPr lang="en-US" sz="1000" dirty="0"/>
              <a:t>- net surprise per category (direction × magnitude)</a:t>
            </a:r>
          </a:p>
          <a:p>
            <a:r>
              <a:rPr lang="en-US" sz="1000" dirty="0"/>
              <a:t>- positive / negative parts per category</a:t>
            </a:r>
          </a:p>
          <a:p>
            <a:r>
              <a:rPr lang="en-US" sz="1000" dirty="0"/>
              <a:t>- totals: counts, net, first-3 net</a:t>
            </a:r>
          </a:p>
          <a:p>
            <a:r>
              <a:rPr lang="en-US" sz="1000" dirty="0"/>
              <a:t>- no-surprise flag</a:t>
            </a:r>
          </a:p>
        </p:txBody>
      </p:sp>
      <p:sp>
        <p:nvSpPr>
          <p:cNvPr id="99" name="card-115">
            <a:extLst>
              <a:ext uri="{FF2B5EF4-FFF2-40B4-BE49-F238E27FC236}">
                <a16:creationId xmlns:a16="http://schemas.microsoft.com/office/drawing/2014/main" id="{2153DFE8-1B2F-8A26-BA7A-4214D8675FC1}"/>
              </a:ext>
            </a:extLst>
          </p:cNvPr>
          <p:cNvSpPr/>
          <p:nvPr/>
        </p:nvSpPr>
        <p:spPr>
          <a:xfrm>
            <a:off x="9379681" y="3983401"/>
            <a:ext cx="1315534" cy="1882786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00" name="text-117">
            <a:extLst>
              <a:ext uri="{FF2B5EF4-FFF2-40B4-BE49-F238E27FC236}">
                <a16:creationId xmlns:a16="http://schemas.microsoft.com/office/drawing/2014/main" id="{443F9E8D-8479-6904-4769-A697A2A1EA83}"/>
              </a:ext>
            </a:extLst>
          </p:cNvPr>
          <p:cNvSpPr txBox="1"/>
          <p:nvPr/>
        </p:nvSpPr>
        <p:spPr>
          <a:xfrm>
            <a:off x="9529557" y="4080574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Prediction</a:t>
            </a:r>
            <a:endParaRPr lang="en-US" sz="1000" dirty="0"/>
          </a:p>
        </p:txBody>
      </p:sp>
      <p:sp>
        <p:nvSpPr>
          <p:cNvPr id="101" name="text-118">
            <a:extLst>
              <a:ext uri="{FF2B5EF4-FFF2-40B4-BE49-F238E27FC236}">
                <a16:creationId xmlns:a16="http://schemas.microsoft.com/office/drawing/2014/main" id="{4CF45A5C-3CAB-89E1-3B1D-7B60822EE127}"/>
              </a:ext>
            </a:extLst>
          </p:cNvPr>
          <p:cNvSpPr txBox="1"/>
          <p:nvPr/>
        </p:nvSpPr>
        <p:spPr>
          <a:xfrm>
            <a:off x="9522389" y="4396524"/>
            <a:ext cx="1015783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Ridge regression, one model per branch (with / without preview), trained on the training set; output clipped to [0, 1]</a:t>
            </a:r>
            <a:endParaRPr lang="en-US" sz="1000" dirty="0"/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2C12EF81-8F38-3ADC-D625-DC83194D66EB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9154709" y="4924794"/>
            <a:ext cx="224972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card-115">
            <a:extLst>
              <a:ext uri="{FF2B5EF4-FFF2-40B4-BE49-F238E27FC236}">
                <a16:creationId xmlns:a16="http://schemas.microsoft.com/office/drawing/2014/main" id="{B320516D-3A54-4E3C-5A6F-64CE3914B4F5}"/>
              </a:ext>
            </a:extLst>
          </p:cNvPr>
          <p:cNvSpPr/>
          <p:nvPr/>
        </p:nvSpPr>
        <p:spPr>
          <a:xfrm>
            <a:off x="5332576" y="2759684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05" name="text-117">
            <a:extLst>
              <a:ext uri="{FF2B5EF4-FFF2-40B4-BE49-F238E27FC236}">
                <a16:creationId xmlns:a16="http://schemas.microsoft.com/office/drawing/2014/main" id="{408451EB-B46A-851F-F3A4-BE26D4CED680}"/>
              </a:ext>
            </a:extLst>
          </p:cNvPr>
          <p:cNvSpPr txBox="1"/>
          <p:nvPr/>
        </p:nvSpPr>
        <p:spPr>
          <a:xfrm>
            <a:off x="5482452" y="2881004"/>
            <a:ext cx="1015783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Option Statistics</a:t>
            </a:r>
            <a:endParaRPr lang="en-US" sz="1000" dirty="0"/>
          </a:p>
        </p:txBody>
      </p:sp>
      <p:cxnSp>
        <p:nvCxnSpPr>
          <p:cNvPr id="107" name="肘形连接符 106">
            <a:extLst>
              <a:ext uri="{FF2B5EF4-FFF2-40B4-BE49-F238E27FC236}">
                <a16:creationId xmlns:a16="http://schemas.microsoft.com/office/drawing/2014/main" id="{E71FD1A7-CC31-4432-92BA-C6B4C67FAD1E}"/>
              </a:ext>
            </a:extLst>
          </p:cNvPr>
          <p:cNvCxnSpPr>
            <a:cxnSpLocks/>
            <a:endCxn id="104" idx="0"/>
          </p:cNvCxnSpPr>
          <p:nvPr/>
        </p:nvCxnSpPr>
        <p:spPr>
          <a:xfrm>
            <a:off x="4819446" y="2315223"/>
            <a:ext cx="1170898" cy="444462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肘形连接符 109">
            <a:extLst>
              <a:ext uri="{FF2B5EF4-FFF2-40B4-BE49-F238E27FC236}">
                <a16:creationId xmlns:a16="http://schemas.microsoft.com/office/drawing/2014/main" id="{E10E7577-201A-613E-A854-6087BC9BF4D9}"/>
              </a:ext>
            </a:extLst>
          </p:cNvPr>
          <p:cNvCxnSpPr>
            <a:cxnSpLocks/>
            <a:stCxn id="104" idx="3"/>
            <a:endCxn id="99" idx="0"/>
          </p:cNvCxnSpPr>
          <p:nvPr/>
        </p:nvCxnSpPr>
        <p:spPr>
          <a:xfrm>
            <a:off x="6648110" y="3106651"/>
            <a:ext cx="3389339" cy="876751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线箭头连接符 117">
            <a:extLst>
              <a:ext uri="{FF2B5EF4-FFF2-40B4-BE49-F238E27FC236}">
                <a16:creationId xmlns:a16="http://schemas.microsoft.com/office/drawing/2014/main" id="{2BD7B969-F301-D39A-B197-EF0163F438A7}"/>
              </a:ext>
            </a:extLst>
          </p:cNvPr>
          <p:cNvCxnSpPr>
            <a:cxnSpLocks/>
          </p:cNvCxnSpPr>
          <p:nvPr/>
        </p:nvCxnSpPr>
        <p:spPr>
          <a:xfrm>
            <a:off x="10037448" y="5866187"/>
            <a:ext cx="0" cy="288288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card-115">
            <a:extLst>
              <a:ext uri="{FF2B5EF4-FFF2-40B4-BE49-F238E27FC236}">
                <a16:creationId xmlns:a16="http://schemas.microsoft.com/office/drawing/2014/main" id="{DF73F64D-BD98-B129-6988-7E9621FEDF1D}"/>
              </a:ext>
            </a:extLst>
          </p:cNvPr>
          <p:cNvSpPr/>
          <p:nvPr/>
        </p:nvSpPr>
        <p:spPr>
          <a:xfrm>
            <a:off x="9379680" y="6182138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20" name="text-117">
            <a:extLst>
              <a:ext uri="{FF2B5EF4-FFF2-40B4-BE49-F238E27FC236}">
                <a16:creationId xmlns:a16="http://schemas.microsoft.com/office/drawing/2014/main" id="{AB5D0238-ACAC-A9D2-D656-DB01AFEEB359}"/>
              </a:ext>
            </a:extLst>
          </p:cNvPr>
          <p:cNvSpPr txBox="1"/>
          <p:nvPr/>
        </p:nvSpPr>
        <p:spPr>
          <a:xfrm>
            <a:off x="9529556" y="6303457"/>
            <a:ext cx="1015783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Final Prediction</a:t>
            </a:r>
            <a:endParaRPr lang="en-US" sz="1000" dirty="0"/>
          </a:p>
        </p:txBody>
      </p:sp>
      <p:sp>
        <p:nvSpPr>
          <p:cNvPr id="123" name="card-115">
            <a:extLst>
              <a:ext uri="{FF2B5EF4-FFF2-40B4-BE49-F238E27FC236}">
                <a16:creationId xmlns:a16="http://schemas.microsoft.com/office/drawing/2014/main" id="{BBA79E5C-F2DC-71D7-3B83-E7B72DF6C5CD}"/>
              </a:ext>
            </a:extLst>
          </p:cNvPr>
          <p:cNvSpPr/>
          <p:nvPr/>
        </p:nvSpPr>
        <p:spPr>
          <a:xfrm>
            <a:off x="3819321" y="3894998"/>
            <a:ext cx="1366806" cy="2033416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 dirty="0"/>
          </a:p>
        </p:txBody>
      </p:sp>
      <p:sp>
        <p:nvSpPr>
          <p:cNvPr id="124" name="text-117">
            <a:extLst>
              <a:ext uri="{FF2B5EF4-FFF2-40B4-BE49-F238E27FC236}">
                <a16:creationId xmlns:a16="http://schemas.microsoft.com/office/drawing/2014/main" id="{830245E9-1D75-1668-85A8-4E2EF3FA2655}"/>
              </a:ext>
            </a:extLst>
          </p:cNvPr>
          <p:cNvSpPr txBox="1"/>
          <p:nvPr/>
        </p:nvSpPr>
        <p:spPr>
          <a:xfrm>
            <a:off x="3969194" y="4049196"/>
            <a:ext cx="1015783" cy="2680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Prompt</a:t>
            </a:r>
            <a:endParaRPr lang="en-US" sz="1000" dirty="0"/>
          </a:p>
        </p:txBody>
      </p:sp>
      <p:sp>
        <p:nvSpPr>
          <p:cNvPr id="125" name="text-118">
            <a:extLst>
              <a:ext uri="{FF2B5EF4-FFF2-40B4-BE49-F238E27FC236}">
                <a16:creationId xmlns:a16="http://schemas.microsoft.com/office/drawing/2014/main" id="{E2F0B1C5-5812-1613-D5A6-435A1704D605}"/>
              </a:ext>
            </a:extLst>
          </p:cNvPr>
          <p:cNvSpPr txBox="1"/>
          <p:nvPr/>
        </p:nvSpPr>
        <p:spPr>
          <a:xfrm>
            <a:off x="3969194" y="4319812"/>
            <a:ext cx="1165660" cy="688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To be tuned with Agentic Context Engineering (ACE). Objective: ΔR² of the first-3 net weighted surprise over the ranked earnings surprise</a:t>
            </a:r>
          </a:p>
        </p:txBody>
      </p:sp>
      <p:cxnSp>
        <p:nvCxnSpPr>
          <p:cNvPr id="131" name="直线箭头连接符 130">
            <a:extLst>
              <a:ext uri="{FF2B5EF4-FFF2-40B4-BE49-F238E27FC236}">
                <a16:creationId xmlns:a16="http://schemas.microsoft.com/office/drawing/2014/main" id="{FC4969DC-44BF-9442-19D4-DD8D95EA6F12}"/>
              </a:ext>
            </a:extLst>
          </p:cNvPr>
          <p:cNvCxnSpPr>
            <a:cxnSpLocks/>
          </p:cNvCxnSpPr>
          <p:nvPr/>
        </p:nvCxnSpPr>
        <p:spPr>
          <a:xfrm>
            <a:off x="4821192" y="1939570"/>
            <a:ext cx="1537750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card-115">
            <a:extLst>
              <a:ext uri="{FF2B5EF4-FFF2-40B4-BE49-F238E27FC236}">
                <a16:creationId xmlns:a16="http://schemas.microsoft.com/office/drawing/2014/main" id="{40230FA5-332D-874C-6BB2-FF1B2D18ACA8}"/>
              </a:ext>
            </a:extLst>
          </p:cNvPr>
          <p:cNvSpPr/>
          <p:nvPr/>
        </p:nvSpPr>
        <p:spPr>
          <a:xfrm>
            <a:off x="6358942" y="1653209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34" name="text-117">
            <a:extLst>
              <a:ext uri="{FF2B5EF4-FFF2-40B4-BE49-F238E27FC236}">
                <a16:creationId xmlns:a16="http://schemas.microsoft.com/office/drawing/2014/main" id="{2E04AF95-64F9-E7CB-6E5B-E58B68C62589}"/>
              </a:ext>
            </a:extLst>
          </p:cNvPr>
          <p:cNvSpPr txBox="1"/>
          <p:nvPr/>
        </p:nvSpPr>
        <p:spPr>
          <a:xfrm>
            <a:off x="6508818" y="1774528"/>
            <a:ext cx="1015783" cy="28056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Event Date</a:t>
            </a:r>
          </a:p>
          <a:p>
            <a:endParaRPr lang="en-US" sz="1000" dirty="0"/>
          </a:p>
        </p:txBody>
      </p:sp>
      <p:sp>
        <p:nvSpPr>
          <p:cNvPr id="135" name="text-118">
            <a:extLst>
              <a:ext uri="{FF2B5EF4-FFF2-40B4-BE49-F238E27FC236}">
                <a16:creationId xmlns:a16="http://schemas.microsoft.com/office/drawing/2014/main" id="{201C209B-0D03-AAE5-B094-813038D7AB28}"/>
              </a:ext>
            </a:extLst>
          </p:cNvPr>
          <p:cNvSpPr txBox="1"/>
          <p:nvPr/>
        </p:nvSpPr>
        <p:spPr>
          <a:xfrm>
            <a:off x="6508818" y="2006858"/>
            <a:ext cx="1015783" cy="2157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Knowledge cutoff</a:t>
            </a:r>
            <a:endParaRPr lang="en-US" sz="1000" dirty="0"/>
          </a:p>
        </p:txBody>
      </p:sp>
      <p:sp>
        <p:nvSpPr>
          <p:cNvPr id="136" name="card-115">
            <a:extLst>
              <a:ext uri="{FF2B5EF4-FFF2-40B4-BE49-F238E27FC236}">
                <a16:creationId xmlns:a16="http://schemas.microsoft.com/office/drawing/2014/main" id="{9096B686-717F-6AAB-FD1C-3CF07639EDC8}"/>
              </a:ext>
            </a:extLst>
          </p:cNvPr>
          <p:cNvSpPr/>
          <p:nvPr/>
        </p:nvSpPr>
        <p:spPr>
          <a:xfrm>
            <a:off x="7901787" y="1653209"/>
            <a:ext cx="1971697" cy="1227795"/>
          </a:xfrm>
          <a:prstGeom prst="roundRect">
            <a:avLst>
              <a:gd name="adj" fmla="val 4557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 dirty="0"/>
          </a:p>
        </p:txBody>
      </p:sp>
      <p:sp>
        <p:nvSpPr>
          <p:cNvPr id="137" name="text-117">
            <a:extLst>
              <a:ext uri="{FF2B5EF4-FFF2-40B4-BE49-F238E27FC236}">
                <a16:creationId xmlns:a16="http://schemas.microsoft.com/office/drawing/2014/main" id="{ADA0BA64-9D8E-2969-C8BC-E8E9F5C96F1E}"/>
              </a:ext>
            </a:extLst>
          </p:cNvPr>
          <p:cNvSpPr txBox="1"/>
          <p:nvPr/>
        </p:nvSpPr>
        <p:spPr>
          <a:xfrm>
            <a:off x="8043075" y="1747113"/>
            <a:ext cx="1015783" cy="2680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Stock Prices</a:t>
            </a:r>
            <a:endParaRPr lang="en-US" sz="1000" dirty="0"/>
          </a:p>
        </p:txBody>
      </p:sp>
      <p:sp>
        <p:nvSpPr>
          <p:cNvPr id="138" name="text-118">
            <a:extLst>
              <a:ext uri="{FF2B5EF4-FFF2-40B4-BE49-F238E27FC236}">
                <a16:creationId xmlns:a16="http://schemas.microsoft.com/office/drawing/2014/main" id="{8404E0D7-D1D2-0A80-1CD4-5C6ED592738B}"/>
              </a:ext>
            </a:extLst>
          </p:cNvPr>
          <p:cNvSpPr txBox="1"/>
          <p:nvPr/>
        </p:nvSpPr>
        <p:spPr>
          <a:xfrm>
            <a:off x="8043075" y="2017729"/>
            <a:ext cx="1680536" cy="688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- The firm's stock return before the event, up to the knowledge cutoff</a:t>
            </a:r>
          </a:p>
          <a:p>
            <a:r>
              <a:rPr lang="en-US" sz="1000" dirty="0"/>
              <a:t>- Market return in the week before the event</a:t>
            </a:r>
          </a:p>
        </p:txBody>
      </p:sp>
      <p:cxnSp>
        <p:nvCxnSpPr>
          <p:cNvPr id="139" name="直线箭头连接符 138">
            <a:extLst>
              <a:ext uri="{FF2B5EF4-FFF2-40B4-BE49-F238E27FC236}">
                <a16:creationId xmlns:a16="http://schemas.microsoft.com/office/drawing/2014/main" id="{D58BE43E-C6CC-AF50-3D72-3560B5326810}"/>
              </a:ext>
            </a:extLst>
          </p:cNvPr>
          <p:cNvCxnSpPr>
            <a:cxnSpLocks/>
          </p:cNvCxnSpPr>
          <p:nvPr/>
        </p:nvCxnSpPr>
        <p:spPr>
          <a:xfrm>
            <a:off x="7670981" y="1927267"/>
            <a:ext cx="23080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肘形连接符 140">
            <a:extLst>
              <a:ext uri="{FF2B5EF4-FFF2-40B4-BE49-F238E27FC236}">
                <a16:creationId xmlns:a16="http://schemas.microsoft.com/office/drawing/2014/main" id="{AE4A7425-8769-67AD-5D15-62626BB2D2AF}"/>
              </a:ext>
            </a:extLst>
          </p:cNvPr>
          <p:cNvCxnSpPr>
            <a:cxnSpLocks/>
            <a:stCxn id="136" idx="3"/>
            <a:endCxn id="99" idx="0"/>
          </p:cNvCxnSpPr>
          <p:nvPr/>
        </p:nvCxnSpPr>
        <p:spPr>
          <a:xfrm>
            <a:off x="9873484" y="2267107"/>
            <a:ext cx="163965" cy="1716294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直线箭头连接符 216">
            <a:extLst>
              <a:ext uri="{FF2B5EF4-FFF2-40B4-BE49-F238E27FC236}">
                <a16:creationId xmlns:a16="http://schemas.microsoft.com/office/drawing/2014/main" id="{5CEBB154-432E-4903-0FDC-17A14F9178D9}"/>
              </a:ext>
            </a:extLst>
          </p:cNvPr>
          <p:cNvCxnSpPr>
            <a:cxnSpLocks/>
            <a:stCxn id="123" idx="1"/>
            <a:endCxn id="29" idx="3"/>
          </p:cNvCxnSpPr>
          <p:nvPr/>
        </p:nvCxnSpPr>
        <p:spPr>
          <a:xfrm flipH="1">
            <a:off x="3133567" y="4911706"/>
            <a:ext cx="685754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card-115">
            <a:extLst>
              <a:ext uri="{FF2B5EF4-FFF2-40B4-BE49-F238E27FC236}">
                <a16:creationId xmlns:a16="http://schemas.microsoft.com/office/drawing/2014/main" id="{00EBF8FE-C7FF-9BBF-7735-F705F79652DD}"/>
              </a:ext>
            </a:extLst>
          </p:cNvPr>
          <p:cNvSpPr/>
          <p:nvPr/>
        </p:nvSpPr>
        <p:spPr>
          <a:xfrm>
            <a:off x="8308691" y="7583645"/>
            <a:ext cx="1322997" cy="367562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39" name="text-118">
            <a:extLst>
              <a:ext uri="{FF2B5EF4-FFF2-40B4-BE49-F238E27FC236}">
                <a16:creationId xmlns:a16="http://schemas.microsoft.com/office/drawing/2014/main" id="{C34CDA5C-240D-1BE3-7E44-CBAFEF50ED62}"/>
              </a:ext>
            </a:extLst>
          </p:cNvPr>
          <p:cNvSpPr txBox="1"/>
          <p:nvPr/>
        </p:nvSpPr>
        <p:spPr>
          <a:xfrm>
            <a:off x="8363898" y="7681881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Data</a:t>
            </a:r>
          </a:p>
        </p:txBody>
      </p:sp>
      <p:sp>
        <p:nvSpPr>
          <p:cNvPr id="240" name="card-115">
            <a:extLst>
              <a:ext uri="{FF2B5EF4-FFF2-40B4-BE49-F238E27FC236}">
                <a16:creationId xmlns:a16="http://schemas.microsoft.com/office/drawing/2014/main" id="{269B5723-EE22-47A2-6EF2-42EF8D597CB0}"/>
              </a:ext>
            </a:extLst>
          </p:cNvPr>
          <p:cNvSpPr/>
          <p:nvPr/>
        </p:nvSpPr>
        <p:spPr>
          <a:xfrm>
            <a:off x="8308691" y="8127729"/>
            <a:ext cx="1322997" cy="367562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41" name="text-118">
            <a:extLst>
              <a:ext uri="{FF2B5EF4-FFF2-40B4-BE49-F238E27FC236}">
                <a16:creationId xmlns:a16="http://schemas.microsoft.com/office/drawing/2014/main" id="{C834D160-484C-10CA-F823-B9CEF60AC460}"/>
              </a:ext>
            </a:extLst>
          </p:cNvPr>
          <p:cNvSpPr txBox="1"/>
          <p:nvPr/>
        </p:nvSpPr>
        <p:spPr>
          <a:xfrm>
            <a:off x="8363898" y="8225966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Node</a:t>
            </a:r>
          </a:p>
        </p:txBody>
      </p:sp>
      <p:sp>
        <p:nvSpPr>
          <p:cNvPr id="247" name="card-115">
            <a:extLst>
              <a:ext uri="{FF2B5EF4-FFF2-40B4-BE49-F238E27FC236}">
                <a16:creationId xmlns:a16="http://schemas.microsoft.com/office/drawing/2014/main" id="{689696DF-8EFD-1082-11BF-7C4C15ACD9CA}"/>
              </a:ext>
            </a:extLst>
          </p:cNvPr>
          <p:cNvSpPr/>
          <p:nvPr/>
        </p:nvSpPr>
        <p:spPr>
          <a:xfrm>
            <a:off x="8308691" y="8671814"/>
            <a:ext cx="1322997" cy="367562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48" name="text-118">
            <a:extLst>
              <a:ext uri="{FF2B5EF4-FFF2-40B4-BE49-F238E27FC236}">
                <a16:creationId xmlns:a16="http://schemas.microsoft.com/office/drawing/2014/main" id="{57D8EDE5-E8D9-06DB-188E-79FD558C9278}"/>
              </a:ext>
            </a:extLst>
          </p:cNvPr>
          <p:cNvSpPr txBox="1"/>
          <p:nvPr/>
        </p:nvSpPr>
        <p:spPr>
          <a:xfrm>
            <a:off x="8363898" y="8770050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Prompt</a:t>
            </a:r>
          </a:p>
        </p:txBody>
      </p:sp>
      <p:sp>
        <p:nvSpPr>
          <p:cNvPr id="249" name="card-115">
            <a:extLst>
              <a:ext uri="{FF2B5EF4-FFF2-40B4-BE49-F238E27FC236}">
                <a16:creationId xmlns:a16="http://schemas.microsoft.com/office/drawing/2014/main" id="{0C71664D-ED1E-60C1-C353-79DC90BBC196}"/>
              </a:ext>
            </a:extLst>
          </p:cNvPr>
          <p:cNvSpPr/>
          <p:nvPr/>
        </p:nvSpPr>
        <p:spPr>
          <a:xfrm>
            <a:off x="9830348" y="7582481"/>
            <a:ext cx="1322997" cy="367562"/>
          </a:xfrm>
          <a:prstGeom prst="roundRect">
            <a:avLst>
              <a:gd name="adj" fmla="val 4557"/>
            </a:avLst>
          </a:prstGeom>
          <a:noFill/>
          <a:ln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50" name="text-118">
            <a:extLst>
              <a:ext uri="{FF2B5EF4-FFF2-40B4-BE49-F238E27FC236}">
                <a16:creationId xmlns:a16="http://schemas.microsoft.com/office/drawing/2014/main" id="{45873CC2-60F7-1AF8-37B8-0B02D91A8697}"/>
              </a:ext>
            </a:extLst>
          </p:cNvPr>
          <p:cNvSpPr txBox="1"/>
          <p:nvPr/>
        </p:nvSpPr>
        <p:spPr>
          <a:xfrm>
            <a:off x="9885555" y="7680718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Implemented</a:t>
            </a:r>
          </a:p>
        </p:txBody>
      </p:sp>
      <p:sp>
        <p:nvSpPr>
          <p:cNvPr id="251" name="card-115">
            <a:extLst>
              <a:ext uri="{FF2B5EF4-FFF2-40B4-BE49-F238E27FC236}">
                <a16:creationId xmlns:a16="http://schemas.microsoft.com/office/drawing/2014/main" id="{43A7C8F5-F248-5358-8732-360A73F9360B}"/>
              </a:ext>
            </a:extLst>
          </p:cNvPr>
          <p:cNvSpPr/>
          <p:nvPr/>
        </p:nvSpPr>
        <p:spPr>
          <a:xfrm>
            <a:off x="9830348" y="8126695"/>
            <a:ext cx="1322997" cy="367562"/>
          </a:xfrm>
          <a:prstGeom prst="roundRect">
            <a:avLst>
              <a:gd name="adj" fmla="val 4557"/>
            </a:avLst>
          </a:prstGeom>
          <a:noFill/>
          <a:ln>
            <a:solidFill>
              <a:schemeClr val="accent6">
                <a:lumMod val="50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52" name="text-118">
            <a:extLst>
              <a:ext uri="{FF2B5EF4-FFF2-40B4-BE49-F238E27FC236}">
                <a16:creationId xmlns:a16="http://schemas.microsoft.com/office/drawing/2014/main" id="{DF8EFDFC-74F5-C2FF-59A6-17A7E6BDFA95}"/>
              </a:ext>
            </a:extLst>
          </p:cNvPr>
          <p:cNvSpPr txBox="1"/>
          <p:nvPr/>
        </p:nvSpPr>
        <p:spPr>
          <a:xfrm>
            <a:off x="9885555" y="8224931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Unimplemented</a:t>
            </a:r>
          </a:p>
        </p:txBody>
      </p:sp>
      <p:cxnSp>
        <p:nvCxnSpPr>
          <p:cNvPr id="14" name="直线连接符 13">
            <a:extLst>
              <a:ext uri="{FF2B5EF4-FFF2-40B4-BE49-F238E27FC236}">
                <a16:creationId xmlns:a16="http://schemas.microsoft.com/office/drawing/2014/main" id="{52742920-D456-900D-9AE6-0F0CDDCA7A7B}"/>
              </a:ext>
            </a:extLst>
          </p:cNvPr>
          <p:cNvCxnSpPr/>
          <p:nvPr/>
        </p:nvCxnSpPr>
        <p:spPr>
          <a:xfrm>
            <a:off x="0" y="1438275"/>
            <a:ext cx="12801600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E0AC31F-DED3-8589-AE48-492F4A0D3E00}"/>
              </a:ext>
            </a:extLst>
          </p:cNvPr>
          <p:cNvSpPr txBox="1"/>
          <p:nvPr/>
        </p:nvSpPr>
        <p:spPr>
          <a:xfrm>
            <a:off x="112432" y="1695654"/>
            <a:ext cx="7745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/>
              <a:t>At release</a:t>
            </a:r>
            <a:endParaRPr kumimoji="1" lang="zh-CN" altLang="en-US" sz="1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6755238-030D-A4A5-31A8-EC9D6751CBAB}"/>
              </a:ext>
            </a:extLst>
          </p:cNvPr>
          <p:cNvSpPr txBox="1"/>
          <p:nvPr/>
        </p:nvSpPr>
        <p:spPr>
          <a:xfrm>
            <a:off x="112432" y="424778"/>
            <a:ext cx="681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/>
              <a:t>Before cutoff</a:t>
            </a:r>
            <a:endParaRPr kumimoji="1" lang="zh-CN" altLang="en-US" sz="1200" dirty="0"/>
          </a:p>
        </p:txBody>
      </p:sp>
      <p:sp>
        <p:nvSpPr>
          <p:cNvPr id="17" name="card-115">
            <a:extLst>
              <a:ext uri="{FF2B5EF4-FFF2-40B4-BE49-F238E27FC236}">
                <a16:creationId xmlns:a16="http://schemas.microsoft.com/office/drawing/2014/main" id="{D215FE9C-50D1-2425-217B-5B4FFEDAAAF0}"/>
              </a:ext>
            </a:extLst>
          </p:cNvPr>
          <p:cNvSpPr/>
          <p:nvPr/>
        </p:nvSpPr>
        <p:spPr>
          <a:xfrm>
            <a:off x="3505658" y="366535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8" name="text-117">
            <a:extLst>
              <a:ext uri="{FF2B5EF4-FFF2-40B4-BE49-F238E27FC236}">
                <a16:creationId xmlns:a16="http://schemas.microsoft.com/office/drawing/2014/main" id="{A44E08EB-58BA-8840-1597-0762ACF39A05}"/>
              </a:ext>
            </a:extLst>
          </p:cNvPr>
          <p:cNvSpPr txBox="1"/>
          <p:nvPr/>
        </p:nvSpPr>
        <p:spPr>
          <a:xfrm>
            <a:off x="3655534" y="487854"/>
            <a:ext cx="1229296" cy="572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Scheduled Events</a:t>
            </a:r>
            <a:endParaRPr lang="en-US" sz="1000" dirty="0"/>
          </a:p>
        </p:txBody>
      </p:sp>
      <p:sp>
        <p:nvSpPr>
          <p:cNvPr id="19" name="card-115">
            <a:extLst>
              <a:ext uri="{FF2B5EF4-FFF2-40B4-BE49-F238E27FC236}">
                <a16:creationId xmlns:a16="http://schemas.microsoft.com/office/drawing/2014/main" id="{880BAAD8-26C1-946A-6A74-27580E8C3B95}"/>
              </a:ext>
            </a:extLst>
          </p:cNvPr>
          <p:cNvSpPr/>
          <p:nvPr/>
        </p:nvSpPr>
        <p:spPr>
          <a:xfrm>
            <a:off x="1818033" y="366535"/>
            <a:ext cx="1315534" cy="693931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0" name="text-117">
            <a:extLst>
              <a:ext uri="{FF2B5EF4-FFF2-40B4-BE49-F238E27FC236}">
                <a16:creationId xmlns:a16="http://schemas.microsoft.com/office/drawing/2014/main" id="{76303900-478C-FF6E-19AF-F2CAB354B06B}"/>
              </a:ext>
            </a:extLst>
          </p:cNvPr>
          <p:cNvSpPr txBox="1"/>
          <p:nvPr/>
        </p:nvSpPr>
        <p:spPr>
          <a:xfrm>
            <a:off x="1967909" y="463709"/>
            <a:ext cx="1015783" cy="211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Calendar API</a:t>
            </a:r>
            <a:endParaRPr lang="en-US" sz="1000" dirty="0"/>
          </a:p>
        </p:txBody>
      </p:sp>
      <p:sp>
        <p:nvSpPr>
          <p:cNvPr id="21" name="text-118">
            <a:extLst>
              <a:ext uri="{FF2B5EF4-FFF2-40B4-BE49-F238E27FC236}">
                <a16:creationId xmlns:a16="http://schemas.microsoft.com/office/drawing/2014/main" id="{9BAE4B14-88FB-30AA-62A8-486462427286}"/>
              </a:ext>
            </a:extLst>
          </p:cNvPr>
          <p:cNvSpPr txBox="1"/>
          <p:nvPr/>
        </p:nvSpPr>
        <p:spPr>
          <a:xfrm>
            <a:off x="1967906" y="709811"/>
            <a:ext cx="1015783" cy="3010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Daily: GET /v1/events</a:t>
            </a:r>
            <a:endParaRPr lang="en-US" sz="1000" dirty="0"/>
          </a:p>
        </p:txBody>
      </p:sp>
      <p:cxnSp>
        <p:nvCxnSpPr>
          <p:cNvPr id="22" name="直线箭头连接符 21">
            <a:extLst>
              <a:ext uri="{FF2B5EF4-FFF2-40B4-BE49-F238E27FC236}">
                <a16:creationId xmlns:a16="http://schemas.microsoft.com/office/drawing/2014/main" id="{65AB1863-9472-ABBB-25EB-BBFAA804DA99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3133567" y="709811"/>
            <a:ext cx="372091" cy="369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ard-115">
            <a:extLst>
              <a:ext uri="{FF2B5EF4-FFF2-40B4-BE49-F238E27FC236}">
                <a16:creationId xmlns:a16="http://schemas.microsoft.com/office/drawing/2014/main" id="{4429ADAB-B3C6-7B5A-88DC-F59B5CA33E4D}"/>
              </a:ext>
            </a:extLst>
          </p:cNvPr>
          <p:cNvSpPr/>
          <p:nvPr/>
        </p:nvSpPr>
        <p:spPr>
          <a:xfrm>
            <a:off x="5193283" y="369586"/>
            <a:ext cx="3115407" cy="863749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8" name="text-117">
            <a:extLst>
              <a:ext uri="{FF2B5EF4-FFF2-40B4-BE49-F238E27FC236}">
                <a16:creationId xmlns:a16="http://schemas.microsoft.com/office/drawing/2014/main" id="{F340C709-23C9-8E13-1A68-E3B9ED540BDD}"/>
              </a:ext>
            </a:extLst>
          </p:cNvPr>
          <p:cNvSpPr txBox="1"/>
          <p:nvPr/>
        </p:nvSpPr>
        <p:spPr>
          <a:xfrm>
            <a:off x="5343160" y="466760"/>
            <a:ext cx="2861505" cy="211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Claude Agent SDK</a:t>
            </a:r>
            <a:endParaRPr lang="en-US" sz="1000" dirty="0"/>
          </a:p>
        </p:txBody>
      </p:sp>
      <p:sp>
        <p:nvSpPr>
          <p:cNvPr id="30" name="text-118">
            <a:extLst>
              <a:ext uri="{FF2B5EF4-FFF2-40B4-BE49-F238E27FC236}">
                <a16:creationId xmlns:a16="http://schemas.microsoft.com/office/drawing/2014/main" id="{E7A2B0AB-F7A0-4632-F8F5-357933870EAF}"/>
              </a:ext>
            </a:extLst>
          </p:cNvPr>
          <p:cNvSpPr txBox="1"/>
          <p:nvPr/>
        </p:nvSpPr>
        <p:spPr>
          <a:xfrm>
            <a:off x="5343156" y="712862"/>
            <a:ext cx="2861505" cy="3010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All upcoming events, ~2h before cutoff: competition's skill, cheap preset (≤$0.10), stops at cutoff. Missing previews only show at release.</a:t>
            </a:r>
            <a:endParaRPr lang="en-US" sz="1000" dirty="0"/>
          </a:p>
        </p:txBody>
      </p:sp>
      <p:cxnSp>
        <p:nvCxnSpPr>
          <p:cNvPr id="34" name="直线箭头连接符 33">
            <a:extLst>
              <a:ext uri="{FF2B5EF4-FFF2-40B4-BE49-F238E27FC236}">
                <a16:creationId xmlns:a16="http://schemas.microsoft.com/office/drawing/2014/main" id="{90E75B7C-34CA-C2EC-A7CF-5FCA0B23E6B8}"/>
              </a:ext>
            </a:extLst>
          </p:cNvPr>
          <p:cNvCxnSpPr>
            <a:cxnSpLocks/>
          </p:cNvCxnSpPr>
          <p:nvPr/>
        </p:nvCxnSpPr>
        <p:spPr>
          <a:xfrm>
            <a:off x="4821192" y="712860"/>
            <a:ext cx="372091" cy="369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card-115">
            <a:extLst>
              <a:ext uri="{FF2B5EF4-FFF2-40B4-BE49-F238E27FC236}">
                <a16:creationId xmlns:a16="http://schemas.microsoft.com/office/drawing/2014/main" id="{A554E503-B588-47D4-6CD2-55E8ECB3F1CF}"/>
              </a:ext>
            </a:extLst>
          </p:cNvPr>
          <p:cNvSpPr/>
          <p:nvPr/>
        </p:nvSpPr>
        <p:spPr>
          <a:xfrm>
            <a:off x="8680781" y="376093"/>
            <a:ext cx="1487561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0" name="text-117">
            <a:extLst>
              <a:ext uri="{FF2B5EF4-FFF2-40B4-BE49-F238E27FC236}">
                <a16:creationId xmlns:a16="http://schemas.microsoft.com/office/drawing/2014/main" id="{204613E3-032C-2A54-9C48-834CBA893F50}"/>
              </a:ext>
            </a:extLst>
          </p:cNvPr>
          <p:cNvSpPr txBox="1"/>
          <p:nvPr/>
        </p:nvSpPr>
        <p:spPr>
          <a:xfrm>
            <a:off x="8830658" y="497413"/>
            <a:ext cx="1163906" cy="192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Own Earnings Preview</a:t>
            </a:r>
            <a:endParaRPr lang="en-US" sz="1000" dirty="0"/>
          </a:p>
        </p:txBody>
      </p:sp>
      <p:cxnSp>
        <p:nvCxnSpPr>
          <p:cNvPr id="46" name="直线箭头连接符 45">
            <a:extLst>
              <a:ext uri="{FF2B5EF4-FFF2-40B4-BE49-F238E27FC236}">
                <a16:creationId xmlns:a16="http://schemas.microsoft.com/office/drawing/2014/main" id="{1964F52B-71AE-9F41-1561-A6D76DF6772D}"/>
              </a:ext>
            </a:extLst>
          </p:cNvPr>
          <p:cNvCxnSpPr>
            <a:cxnSpLocks/>
          </p:cNvCxnSpPr>
          <p:nvPr/>
        </p:nvCxnSpPr>
        <p:spPr>
          <a:xfrm>
            <a:off x="8308690" y="698086"/>
            <a:ext cx="372091" cy="369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-118">
            <a:extLst>
              <a:ext uri="{FF2B5EF4-FFF2-40B4-BE49-F238E27FC236}">
                <a16:creationId xmlns:a16="http://schemas.microsoft.com/office/drawing/2014/main" id="{B96A7EE0-00BE-2F73-9E9F-0D9CCDCFB959}"/>
              </a:ext>
            </a:extLst>
          </p:cNvPr>
          <p:cNvSpPr txBox="1"/>
          <p:nvPr/>
        </p:nvSpPr>
        <p:spPr>
          <a:xfrm>
            <a:off x="3660658" y="3049190"/>
            <a:ext cx="1010659" cy="3814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Competition's, else our own</a:t>
            </a:r>
            <a:endParaRPr lang="en-US" sz="1000" dirty="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885F23-1575-6DF3-D5E7-E3063178C8B4}"/>
              </a:ext>
            </a:extLst>
          </p:cNvPr>
          <p:cNvSpPr txBox="1"/>
          <p:nvPr/>
        </p:nvSpPr>
        <p:spPr>
          <a:xfrm>
            <a:off x="11158105" y="291387"/>
            <a:ext cx="11296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zh-CN" dirty="0" err="1"/>
              <a:t>em_agent</a:t>
            </a:r>
            <a:endParaRPr kumimoji="1" lang="en-US" altLang="zh-CN" dirty="0"/>
          </a:p>
          <a:p>
            <a:r>
              <a:rPr kumimoji="1" lang="en-US" altLang="zh-CN" dirty="0"/>
              <a:t>Version 3.1</a:t>
            </a:r>
            <a:endParaRPr kumimoji="1" lang="zh-CN" altLang="en-US" dirty="0"/>
          </a:p>
        </p:txBody>
      </p:sp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8324AEC9-5942-6519-53DD-13A57492CCE1}"/>
              </a:ext>
            </a:extLst>
          </p:cNvPr>
          <p:cNvCxnSpPr>
            <a:cxnSpLocks/>
            <a:stCxn id="39" idx="2"/>
          </p:cNvCxnSpPr>
          <p:nvPr/>
        </p:nvCxnSpPr>
        <p:spPr>
          <a:xfrm>
            <a:off x="9424562" y="1070026"/>
            <a:ext cx="0" cy="479133"/>
          </a:xfrm>
          <a:prstGeom prst="line">
            <a:avLst/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3224B15B-1D62-4610-1212-B9E965F2B9F1}"/>
              </a:ext>
            </a:extLst>
          </p:cNvPr>
          <p:cNvCxnSpPr>
            <a:cxnSpLocks/>
          </p:cNvCxnSpPr>
          <p:nvPr/>
        </p:nvCxnSpPr>
        <p:spPr>
          <a:xfrm flipH="1">
            <a:off x="5134854" y="1538863"/>
            <a:ext cx="4287867" cy="0"/>
          </a:xfrm>
          <a:prstGeom prst="line">
            <a:avLst/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线连接符 23">
            <a:extLst>
              <a:ext uri="{FF2B5EF4-FFF2-40B4-BE49-F238E27FC236}">
                <a16:creationId xmlns:a16="http://schemas.microsoft.com/office/drawing/2014/main" id="{1C7ADBF2-CD3D-D7D2-4355-E4710808F4E5}"/>
              </a:ext>
            </a:extLst>
          </p:cNvPr>
          <p:cNvCxnSpPr>
            <a:cxnSpLocks/>
          </p:cNvCxnSpPr>
          <p:nvPr/>
        </p:nvCxnSpPr>
        <p:spPr>
          <a:xfrm>
            <a:off x="5134854" y="1536065"/>
            <a:ext cx="0" cy="1570585"/>
          </a:xfrm>
          <a:prstGeom prst="line">
            <a:avLst/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FB8EB922-E0D6-37D6-F95F-973E761FE3A0}"/>
              </a:ext>
            </a:extLst>
          </p:cNvPr>
          <p:cNvCxnSpPr>
            <a:cxnSpLocks/>
            <a:endCxn id="47" idx="3"/>
          </p:cNvCxnSpPr>
          <p:nvPr/>
        </p:nvCxnSpPr>
        <p:spPr>
          <a:xfrm flipH="1">
            <a:off x="4821192" y="3107867"/>
            <a:ext cx="308453" cy="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3076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A49B9708-8B34-9167-FE69-630ABB49335C}"/>
              </a:ext>
            </a:extLst>
          </p:cNvPr>
          <p:cNvSpPr txBox="1"/>
          <p:nvPr/>
        </p:nvSpPr>
        <p:spPr>
          <a:xfrm>
            <a:off x="624840" y="1264920"/>
            <a:ext cx="11222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Q: Should we use 2 separate LLM calls to extract surprise + label direction, magnitude, sentiment or use one LLM call? </a:t>
            </a:r>
            <a:endParaRPr kumimoji="1"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F4CC87-4FF4-6F33-DD17-7DC271A6CADC}"/>
              </a:ext>
            </a:extLst>
          </p:cNvPr>
          <p:cNvSpPr txBox="1"/>
          <p:nvPr/>
        </p:nvSpPr>
        <p:spPr>
          <a:xfrm>
            <a:off x="624840" y="2109863"/>
            <a:ext cx="8353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M: implements two methods on the same test set, check final cross validation delta R2 </a:t>
            </a:r>
            <a:endParaRPr kumimoji="1"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199812-13CD-8AB5-ADEB-432D3D52D7C9}"/>
              </a:ext>
            </a:extLst>
          </p:cNvPr>
          <p:cNvSpPr txBox="1"/>
          <p:nvPr/>
        </p:nvSpPr>
        <p:spPr>
          <a:xfrm>
            <a:off x="624840" y="2511461"/>
            <a:ext cx="9842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A: no improvement in delta R2, keep the one LLM call that extracts and label surprise at the same time </a:t>
            </a:r>
            <a:endParaRPr kumimoji="1"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1FE8B4-63E8-7474-B836-42FA15154E52}"/>
              </a:ext>
            </a:extLst>
          </p:cNvPr>
          <p:cNvSpPr txBox="1"/>
          <p:nvPr/>
        </p:nvSpPr>
        <p:spPr>
          <a:xfrm>
            <a:off x="624840" y="1687391"/>
            <a:ext cx="2830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Why: May improve accuracy</a:t>
            </a:r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301E3D8-7979-1065-83F9-5AF9DE6F91E3}"/>
              </a:ext>
            </a:extLst>
          </p:cNvPr>
          <p:cNvSpPr txBox="1"/>
          <p:nvPr/>
        </p:nvSpPr>
        <p:spPr>
          <a:xfrm>
            <a:off x="624840" y="3171738"/>
            <a:ext cx="4335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Q: Which objective function to use for ACE? </a:t>
            </a:r>
            <a:endParaRPr kumimoji="1"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7D3307-98E9-A49A-D1FE-EE8ADB3920FD}"/>
              </a:ext>
            </a:extLst>
          </p:cNvPr>
          <p:cNvSpPr txBox="1"/>
          <p:nvPr/>
        </p:nvSpPr>
        <p:spPr>
          <a:xfrm>
            <a:off x="624840" y="3594208"/>
            <a:ext cx="113906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A: </a:t>
            </a:r>
            <a:r>
              <a:rPr lang="en-US" altLang="zh-CN" dirty="0"/>
              <a:t>ΔR² of the first-3 net weighted surprise over the ranked earnings surprise, the first-3 net weighted surprise has highest coefficient in ridge regression (most important feature)</a:t>
            </a:r>
            <a:endParaRPr kumimoji="1"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D845B8-A75B-1FE7-0605-723830980BC7}"/>
              </a:ext>
            </a:extLst>
          </p:cNvPr>
          <p:cNvSpPr txBox="1"/>
          <p:nvPr/>
        </p:nvSpPr>
        <p:spPr>
          <a:xfrm>
            <a:off x="624840" y="4584622"/>
            <a:ext cx="4166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Q: How to handle missing preview events?</a:t>
            </a:r>
            <a:endParaRPr kumimoji="1"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300B7BE-9310-C211-F8B1-DC277FE6FA1F}"/>
              </a:ext>
            </a:extLst>
          </p:cNvPr>
          <p:cNvSpPr txBox="1"/>
          <p:nvPr/>
        </p:nvSpPr>
        <p:spPr>
          <a:xfrm>
            <a:off x="624840" y="5007092"/>
            <a:ext cx="113906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A1: Separate LLM call and prompt to extract surprise and label them (based on expectation explicitly mentioned in earning call summary)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84F5BC0-86B3-0D7F-EFC1-8FAC330C4AE8}"/>
              </a:ext>
            </a:extLst>
          </p:cNvPr>
          <p:cNvSpPr txBox="1"/>
          <p:nvPr/>
        </p:nvSpPr>
        <p:spPr>
          <a:xfrm>
            <a:off x="624839" y="5653423"/>
            <a:ext cx="2410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Result: too low delta R2</a:t>
            </a:r>
            <a:endParaRPr kumimoji="1"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4F20A39-0D37-FC78-01B2-E05E7D56D51B}"/>
              </a:ext>
            </a:extLst>
          </p:cNvPr>
          <p:cNvSpPr txBox="1"/>
          <p:nvPr/>
        </p:nvSpPr>
        <p:spPr>
          <a:xfrm>
            <a:off x="624839" y="6122107"/>
            <a:ext cx="113906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A2: Shadow run to generate cheap earning preview for all scheduled events using </a:t>
            </a:r>
            <a:r>
              <a:rPr kumimoji="1" lang="en-US" altLang="zh-CN" dirty="0" err="1"/>
              <a:t>claude</a:t>
            </a:r>
            <a:r>
              <a:rPr kumimoji="1" lang="en-US" altLang="zh-CN" dirty="0"/>
              <a:t> SDK and same skill md as the competition (but at lower effort level) + modify train set to add turn some proportion of competition’s earning preview into the cheap version to ensure model robustness</a:t>
            </a:r>
            <a:endParaRPr kumimoji="1"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CF12B91-4718-BE22-186F-8E292AA4F38C}"/>
              </a:ext>
            </a:extLst>
          </p:cNvPr>
          <p:cNvSpPr txBox="1"/>
          <p:nvPr/>
        </p:nvSpPr>
        <p:spPr>
          <a:xfrm>
            <a:off x="624838" y="7144789"/>
            <a:ext cx="825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Result: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96829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7BF7F-15AC-C39B-7735-9AE42C2F9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ard-115">
            <a:extLst>
              <a:ext uri="{FF2B5EF4-FFF2-40B4-BE49-F238E27FC236}">
                <a16:creationId xmlns:a16="http://schemas.microsoft.com/office/drawing/2014/main" id="{EB86E733-D14F-8D8B-0DC9-F24105D7B3A2}"/>
              </a:ext>
            </a:extLst>
          </p:cNvPr>
          <p:cNvSpPr/>
          <p:nvPr/>
        </p:nvSpPr>
        <p:spPr>
          <a:xfrm>
            <a:off x="1818033" y="3970313"/>
            <a:ext cx="1315534" cy="1882786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31" name="text-117">
            <a:extLst>
              <a:ext uri="{FF2B5EF4-FFF2-40B4-BE49-F238E27FC236}">
                <a16:creationId xmlns:a16="http://schemas.microsoft.com/office/drawing/2014/main" id="{964134FB-34EC-F91B-B680-29EDD3A5D1B0}"/>
              </a:ext>
            </a:extLst>
          </p:cNvPr>
          <p:cNvSpPr txBox="1"/>
          <p:nvPr/>
        </p:nvSpPr>
        <p:spPr>
          <a:xfrm>
            <a:off x="1967909" y="4067486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Extract surprises</a:t>
            </a:r>
            <a:endParaRPr lang="en-US" sz="1000" dirty="0"/>
          </a:p>
        </p:txBody>
      </p:sp>
      <p:sp>
        <p:nvSpPr>
          <p:cNvPr id="32" name="text-118">
            <a:extLst>
              <a:ext uri="{FF2B5EF4-FFF2-40B4-BE49-F238E27FC236}">
                <a16:creationId xmlns:a16="http://schemas.microsoft.com/office/drawing/2014/main" id="{572E79B7-11E0-52BD-B18E-3C6063976D66}"/>
              </a:ext>
            </a:extLst>
          </p:cNvPr>
          <p:cNvSpPr txBox="1"/>
          <p:nvPr/>
        </p:nvSpPr>
        <p:spPr>
          <a:xfrm>
            <a:off x="1967909" y="4597775"/>
            <a:ext cx="1015783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gpt-6-luna, medium effort: list surprises, most important first, with direction and magnitude</a:t>
            </a:r>
            <a:endParaRPr lang="en-US" sz="1000" dirty="0"/>
          </a:p>
        </p:txBody>
      </p:sp>
      <p:sp>
        <p:nvSpPr>
          <p:cNvPr id="35" name="card-115">
            <a:extLst>
              <a:ext uri="{FF2B5EF4-FFF2-40B4-BE49-F238E27FC236}">
                <a16:creationId xmlns:a16="http://schemas.microsoft.com/office/drawing/2014/main" id="{D7B925FD-5D40-A8A5-FC25-CC8F876E3CDA}"/>
              </a:ext>
            </a:extLst>
          </p:cNvPr>
          <p:cNvSpPr/>
          <p:nvPr/>
        </p:nvSpPr>
        <p:spPr>
          <a:xfrm>
            <a:off x="5789192" y="3976405"/>
            <a:ext cx="1315534" cy="1882786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36" name="text-117">
            <a:extLst>
              <a:ext uri="{FF2B5EF4-FFF2-40B4-BE49-F238E27FC236}">
                <a16:creationId xmlns:a16="http://schemas.microsoft.com/office/drawing/2014/main" id="{B814EE55-9A96-37F0-CEDE-41CE2B29228E}"/>
              </a:ext>
            </a:extLst>
          </p:cNvPr>
          <p:cNvSpPr txBox="1"/>
          <p:nvPr/>
        </p:nvSpPr>
        <p:spPr>
          <a:xfrm>
            <a:off x="5939068" y="4073577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Classify surprises</a:t>
            </a:r>
            <a:endParaRPr lang="en-US" sz="1000" dirty="0"/>
          </a:p>
        </p:txBody>
      </p:sp>
      <p:sp>
        <p:nvSpPr>
          <p:cNvPr id="37" name="text-118">
            <a:extLst>
              <a:ext uri="{FF2B5EF4-FFF2-40B4-BE49-F238E27FC236}">
                <a16:creationId xmlns:a16="http://schemas.microsoft.com/office/drawing/2014/main" id="{E0116EE4-9AE4-3FCA-8B99-6946EEB835B1}"/>
              </a:ext>
            </a:extLst>
          </p:cNvPr>
          <p:cNvSpPr txBox="1"/>
          <p:nvPr/>
        </p:nvSpPr>
        <p:spPr>
          <a:xfrm>
            <a:off x="5939068" y="4646191"/>
            <a:ext cx="1015783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gpt-6-luna,</a:t>
            </a:r>
          </a:p>
          <a:p>
            <a:r>
              <a:rPr lang="en-US" sz="1000" dirty="0">
                <a:solidFill>
                  <a:schemeClr val="tx2"/>
                </a:solidFill>
              </a:rPr>
              <a:t>low effort, one call per event:</a:t>
            </a:r>
          </a:p>
          <a:p>
            <a:r>
              <a:rPr lang="en-US" sz="1000" dirty="0">
                <a:solidFill>
                  <a:schemeClr val="tx2"/>
                </a:solidFill>
              </a:rPr>
              <a:t>assign each surprise to one taxonomy category</a:t>
            </a:r>
            <a:endParaRPr lang="en-US" sz="1000" dirty="0"/>
          </a:p>
        </p:txBody>
      </p:sp>
      <p:sp>
        <p:nvSpPr>
          <p:cNvPr id="41" name="card-115">
            <a:extLst>
              <a:ext uri="{FF2B5EF4-FFF2-40B4-BE49-F238E27FC236}">
                <a16:creationId xmlns:a16="http://schemas.microsoft.com/office/drawing/2014/main" id="{52C321F1-BACA-BE71-A482-A26F0530D1C6}"/>
              </a:ext>
            </a:extLst>
          </p:cNvPr>
          <p:cNvSpPr/>
          <p:nvPr/>
        </p:nvSpPr>
        <p:spPr>
          <a:xfrm>
            <a:off x="1818033" y="1657361"/>
            <a:ext cx="3003159" cy="815252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2" name="text-117">
            <a:extLst>
              <a:ext uri="{FF2B5EF4-FFF2-40B4-BE49-F238E27FC236}">
                <a16:creationId xmlns:a16="http://schemas.microsoft.com/office/drawing/2014/main" id="{8A1266DA-25C7-F9B3-FDEB-937DFB376238}"/>
              </a:ext>
            </a:extLst>
          </p:cNvPr>
          <p:cNvSpPr txBox="1"/>
          <p:nvPr/>
        </p:nvSpPr>
        <p:spPr>
          <a:xfrm>
            <a:off x="1967909" y="1778680"/>
            <a:ext cx="2703409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One Earnings Event</a:t>
            </a:r>
            <a:endParaRPr lang="en-US" sz="1000" dirty="0"/>
          </a:p>
        </p:txBody>
      </p:sp>
      <p:sp>
        <p:nvSpPr>
          <p:cNvPr id="43" name="text-118">
            <a:extLst>
              <a:ext uri="{FF2B5EF4-FFF2-40B4-BE49-F238E27FC236}">
                <a16:creationId xmlns:a16="http://schemas.microsoft.com/office/drawing/2014/main" id="{E4F9CF36-64DB-5424-0E64-557D65D1D309}"/>
              </a:ext>
            </a:extLst>
          </p:cNvPr>
          <p:cNvSpPr txBox="1"/>
          <p:nvPr/>
        </p:nvSpPr>
        <p:spPr>
          <a:xfrm>
            <a:off x="1967908" y="2066969"/>
            <a:ext cx="2703409" cy="3814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Event date, call summary, earnings preview (may be missing), option statistics</a:t>
            </a:r>
            <a:endParaRPr lang="en-US" sz="1000" dirty="0"/>
          </a:p>
        </p:txBody>
      </p:sp>
      <p:sp>
        <p:nvSpPr>
          <p:cNvPr id="44" name="card-115">
            <a:extLst>
              <a:ext uri="{FF2B5EF4-FFF2-40B4-BE49-F238E27FC236}">
                <a16:creationId xmlns:a16="http://schemas.microsoft.com/office/drawing/2014/main" id="{0CF08CFA-65E8-8CE0-F63A-79D1F7CCF355}"/>
              </a:ext>
            </a:extLst>
          </p:cNvPr>
          <p:cNvSpPr/>
          <p:nvPr/>
        </p:nvSpPr>
        <p:spPr>
          <a:xfrm>
            <a:off x="1818033" y="2760901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5" name="text-117">
            <a:extLst>
              <a:ext uri="{FF2B5EF4-FFF2-40B4-BE49-F238E27FC236}">
                <a16:creationId xmlns:a16="http://schemas.microsoft.com/office/drawing/2014/main" id="{4E6A81B5-7DA2-4DBA-58CC-3A7E193E3D03}"/>
              </a:ext>
            </a:extLst>
          </p:cNvPr>
          <p:cNvSpPr txBox="1"/>
          <p:nvPr/>
        </p:nvSpPr>
        <p:spPr>
          <a:xfrm>
            <a:off x="1967909" y="2882220"/>
            <a:ext cx="1229296" cy="572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Earnings Call Summary</a:t>
            </a:r>
            <a:endParaRPr lang="en-US" sz="1000" dirty="0"/>
          </a:p>
        </p:txBody>
      </p:sp>
      <p:sp>
        <p:nvSpPr>
          <p:cNvPr id="47" name="card-115">
            <a:extLst>
              <a:ext uri="{FF2B5EF4-FFF2-40B4-BE49-F238E27FC236}">
                <a16:creationId xmlns:a16="http://schemas.microsoft.com/office/drawing/2014/main" id="{3DF6D4C4-1975-4116-4AB7-1EA0506B0ABD}"/>
              </a:ext>
            </a:extLst>
          </p:cNvPr>
          <p:cNvSpPr/>
          <p:nvPr/>
        </p:nvSpPr>
        <p:spPr>
          <a:xfrm>
            <a:off x="3505658" y="2760901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8" name="text-117">
            <a:extLst>
              <a:ext uri="{FF2B5EF4-FFF2-40B4-BE49-F238E27FC236}">
                <a16:creationId xmlns:a16="http://schemas.microsoft.com/office/drawing/2014/main" id="{C7673025-104B-077F-A717-3E6320344E1B}"/>
              </a:ext>
            </a:extLst>
          </p:cNvPr>
          <p:cNvSpPr txBox="1"/>
          <p:nvPr/>
        </p:nvSpPr>
        <p:spPr>
          <a:xfrm>
            <a:off x="3655534" y="2882221"/>
            <a:ext cx="1163906" cy="192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Earnings Preview</a:t>
            </a:r>
            <a:endParaRPr lang="en-US" sz="1000" dirty="0"/>
          </a:p>
        </p:txBody>
      </p:sp>
      <p:cxnSp>
        <p:nvCxnSpPr>
          <p:cNvPr id="50" name="直线箭头连接符 49">
            <a:extLst>
              <a:ext uri="{FF2B5EF4-FFF2-40B4-BE49-F238E27FC236}">
                <a16:creationId xmlns:a16="http://schemas.microsoft.com/office/drawing/2014/main" id="{055E8ADF-6D48-2EAF-40AD-E08760DAFB7E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2475800" y="2472614"/>
            <a:ext cx="0" cy="288288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线箭头连接符 51">
            <a:extLst>
              <a:ext uri="{FF2B5EF4-FFF2-40B4-BE49-F238E27FC236}">
                <a16:creationId xmlns:a16="http://schemas.microsoft.com/office/drawing/2014/main" id="{83947AC2-F3F7-A695-0341-7AF875E0D968}"/>
              </a:ext>
            </a:extLst>
          </p:cNvPr>
          <p:cNvCxnSpPr>
            <a:cxnSpLocks/>
          </p:cNvCxnSpPr>
          <p:nvPr/>
        </p:nvCxnSpPr>
        <p:spPr>
          <a:xfrm>
            <a:off x="4166918" y="2472614"/>
            <a:ext cx="0" cy="288288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线箭头连接符 52">
            <a:extLst>
              <a:ext uri="{FF2B5EF4-FFF2-40B4-BE49-F238E27FC236}">
                <a16:creationId xmlns:a16="http://schemas.microsoft.com/office/drawing/2014/main" id="{1CAFC354-71D0-F83D-2E43-3368DD8548F0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2475800" y="3454834"/>
            <a:ext cx="0" cy="51548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肘形连接符 55">
            <a:extLst>
              <a:ext uri="{FF2B5EF4-FFF2-40B4-BE49-F238E27FC236}">
                <a16:creationId xmlns:a16="http://schemas.microsoft.com/office/drawing/2014/main" id="{9A09BAF4-16FB-8A13-3A48-3A67F00F93E3}"/>
              </a:ext>
            </a:extLst>
          </p:cNvPr>
          <p:cNvCxnSpPr>
            <a:cxnSpLocks/>
          </p:cNvCxnSpPr>
          <p:nvPr/>
        </p:nvCxnSpPr>
        <p:spPr>
          <a:xfrm rot="10800000" flipV="1">
            <a:off x="2475799" y="3453617"/>
            <a:ext cx="1687626" cy="258956"/>
          </a:xfrm>
          <a:prstGeom prst="bentConnector3">
            <a:avLst>
              <a:gd name="adj1" fmla="val 45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card-115">
            <a:extLst>
              <a:ext uri="{FF2B5EF4-FFF2-40B4-BE49-F238E27FC236}">
                <a16:creationId xmlns:a16="http://schemas.microsoft.com/office/drawing/2014/main" id="{6896AC15-614B-A366-88E2-F7AB831BB57C}"/>
              </a:ext>
            </a:extLst>
          </p:cNvPr>
          <p:cNvSpPr/>
          <p:nvPr/>
        </p:nvSpPr>
        <p:spPr>
          <a:xfrm>
            <a:off x="1818033" y="6383388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 dirty="0"/>
          </a:p>
        </p:txBody>
      </p:sp>
      <p:cxnSp>
        <p:nvCxnSpPr>
          <p:cNvPr id="61" name="直线箭头连接符 60">
            <a:extLst>
              <a:ext uri="{FF2B5EF4-FFF2-40B4-BE49-F238E27FC236}">
                <a16:creationId xmlns:a16="http://schemas.microsoft.com/office/drawing/2014/main" id="{2AF96070-4EE2-147E-65F9-78AD5C09968F}"/>
              </a:ext>
            </a:extLst>
          </p:cNvPr>
          <p:cNvCxnSpPr>
            <a:cxnSpLocks/>
          </p:cNvCxnSpPr>
          <p:nvPr/>
        </p:nvCxnSpPr>
        <p:spPr>
          <a:xfrm>
            <a:off x="2447813" y="5853099"/>
            <a:ext cx="0" cy="51548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-117">
            <a:extLst>
              <a:ext uri="{FF2B5EF4-FFF2-40B4-BE49-F238E27FC236}">
                <a16:creationId xmlns:a16="http://schemas.microsoft.com/office/drawing/2014/main" id="{BD7AFDBD-9BEC-E0C8-2BF7-A75E814486FC}"/>
              </a:ext>
            </a:extLst>
          </p:cNvPr>
          <p:cNvSpPr txBox="1"/>
          <p:nvPr/>
        </p:nvSpPr>
        <p:spPr>
          <a:xfrm>
            <a:off x="1967906" y="6462269"/>
            <a:ext cx="1015783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List of Surprises</a:t>
            </a:r>
            <a:endParaRPr lang="en-US" sz="1000" dirty="0"/>
          </a:p>
        </p:txBody>
      </p:sp>
      <p:sp>
        <p:nvSpPr>
          <p:cNvPr id="64" name="card-115">
            <a:extLst>
              <a:ext uri="{FF2B5EF4-FFF2-40B4-BE49-F238E27FC236}">
                <a16:creationId xmlns:a16="http://schemas.microsoft.com/office/drawing/2014/main" id="{0E73C8EF-BE99-316B-2AC7-2B44BDEDDF7C}"/>
              </a:ext>
            </a:extLst>
          </p:cNvPr>
          <p:cNvSpPr/>
          <p:nvPr/>
        </p:nvSpPr>
        <p:spPr>
          <a:xfrm>
            <a:off x="1818033" y="7341675"/>
            <a:ext cx="3916253" cy="2033416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 dirty="0"/>
          </a:p>
        </p:txBody>
      </p:sp>
      <p:cxnSp>
        <p:nvCxnSpPr>
          <p:cNvPr id="65" name="直线箭头连接符 64">
            <a:extLst>
              <a:ext uri="{FF2B5EF4-FFF2-40B4-BE49-F238E27FC236}">
                <a16:creationId xmlns:a16="http://schemas.microsoft.com/office/drawing/2014/main" id="{05B4C44F-53F1-4EB0-C21A-96E86A0287E7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2475800" y="7077321"/>
            <a:ext cx="0" cy="264354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-117">
            <a:extLst>
              <a:ext uri="{FF2B5EF4-FFF2-40B4-BE49-F238E27FC236}">
                <a16:creationId xmlns:a16="http://schemas.microsoft.com/office/drawing/2014/main" id="{BF049515-50E0-8BAA-CBD1-BC38829EA9F0}"/>
              </a:ext>
            </a:extLst>
          </p:cNvPr>
          <p:cNvSpPr txBox="1"/>
          <p:nvPr/>
        </p:nvSpPr>
        <p:spPr>
          <a:xfrm>
            <a:off x="1967907" y="7404682"/>
            <a:ext cx="1015783" cy="24424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Surprise</a:t>
            </a:r>
          </a:p>
        </p:txBody>
      </p:sp>
      <p:sp>
        <p:nvSpPr>
          <p:cNvPr id="63" name="text-118">
            <a:extLst>
              <a:ext uri="{FF2B5EF4-FFF2-40B4-BE49-F238E27FC236}">
                <a16:creationId xmlns:a16="http://schemas.microsoft.com/office/drawing/2014/main" id="{DD667490-F4BC-2C9F-CF8E-8F8993E4E702}"/>
              </a:ext>
            </a:extLst>
          </p:cNvPr>
          <p:cNvSpPr txBox="1"/>
          <p:nvPr/>
        </p:nvSpPr>
        <p:spPr>
          <a:xfrm>
            <a:off x="1967906" y="7725921"/>
            <a:ext cx="3916265" cy="12878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One way the earnings call differed from what was expected</a:t>
            </a:r>
          </a:p>
          <a:p>
            <a:r>
              <a:rPr lang="en-US" sz="1000" dirty="0"/>
              <a:t>- description, call evidence, expectation evidence</a:t>
            </a:r>
          </a:p>
          <a:p>
            <a:r>
              <a:rPr lang="en-US" sz="1000" dirty="0"/>
              <a:t>- expectation source: preview / call / none</a:t>
            </a:r>
          </a:p>
          <a:p>
            <a:r>
              <a:rPr lang="en-US" sz="1000" dirty="0"/>
              <a:t>- position: order in the list, most important first</a:t>
            </a:r>
          </a:p>
          <a:p>
            <a:r>
              <a:rPr lang="en-US" sz="1000" dirty="0"/>
              <a:t>- category: one of 15 v2 categories, or other</a:t>
            </a:r>
          </a:p>
          <a:p>
            <a:r>
              <a:rPr lang="en-US" altLang="zh-CN" sz="1000" dirty="0"/>
              <a:t>- direction: +1 good, -1 bad, 0 mixed, null unclear (scored 0)</a:t>
            </a:r>
          </a:p>
          <a:p>
            <a:r>
              <a:rPr lang="en-US" altLang="zh-CN" sz="1000" dirty="0"/>
              <a:t>- magnitude: 1 small, 2 moderate, 3 large</a:t>
            </a:r>
          </a:p>
        </p:txBody>
      </p:sp>
      <p:cxnSp>
        <p:nvCxnSpPr>
          <p:cNvPr id="68" name="肘形连接符 67">
            <a:extLst>
              <a:ext uri="{FF2B5EF4-FFF2-40B4-BE49-F238E27FC236}">
                <a16:creationId xmlns:a16="http://schemas.microsoft.com/office/drawing/2014/main" id="{BCB5AC30-6711-F90A-2257-A5186F95FC16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3133567" y="5853099"/>
            <a:ext cx="3084876" cy="877256"/>
          </a:xfrm>
          <a:prstGeom prst="bentConnector3">
            <a:avLst>
              <a:gd name="adj1" fmla="val 100129"/>
            </a:avLst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线箭头连接符 68">
            <a:extLst>
              <a:ext uri="{FF2B5EF4-FFF2-40B4-BE49-F238E27FC236}">
                <a16:creationId xmlns:a16="http://schemas.microsoft.com/office/drawing/2014/main" id="{F0E3547B-B87B-A780-9D1E-D38F1AB0CCE5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7104726" y="4917798"/>
            <a:ext cx="372091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线箭头连接符 73">
            <a:extLst>
              <a:ext uri="{FF2B5EF4-FFF2-40B4-BE49-F238E27FC236}">
                <a16:creationId xmlns:a16="http://schemas.microsoft.com/office/drawing/2014/main" id="{1FA961A4-555B-A74F-CC0D-89058F8C915C}"/>
              </a:ext>
            </a:extLst>
          </p:cNvPr>
          <p:cNvCxnSpPr>
            <a:cxnSpLocks/>
          </p:cNvCxnSpPr>
          <p:nvPr/>
        </p:nvCxnSpPr>
        <p:spPr>
          <a:xfrm flipV="1">
            <a:off x="6667579" y="5866187"/>
            <a:ext cx="0" cy="1209413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card-115">
            <a:extLst>
              <a:ext uri="{FF2B5EF4-FFF2-40B4-BE49-F238E27FC236}">
                <a16:creationId xmlns:a16="http://schemas.microsoft.com/office/drawing/2014/main" id="{E25AB866-2253-1338-6F09-9E57AA3CFE77}"/>
              </a:ext>
            </a:extLst>
          </p:cNvPr>
          <p:cNvSpPr/>
          <p:nvPr/>
        </p:nvSpPr>
        <p:spPr>
          <a:xfrm>
            <a:off x="6132998" y="7073132"/>
            <a:ext cx="1315534" cy="1112961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 dirty="0"/>
          </a:p>
        </p:txBody>
      </p:sp>
      <p:sp>
        <p:nvSpPr>
          <p:cNvPr id="78" name="text-117">
            <a:extLst>
              <a:ext uri="{FF2B5EF4-FFF2-40B4-BE49-F238E27FC236}">
                <a16:creationId xmlns:a16="http://schemas.microsoft.com/office/drawing/2014/main" id="{2E1F6BA2-A9C4-E23E-D804-88A52206B16A}"/>
              </a:ext>
            </a:extLst>
          </p:cNvPr>
          <p:cNvSpPr txBox="1"/>
          <p:nvPr/>
        </p:nvSpPr>
        <p:spPr>
          <a:xfrm>
            <a:off x="6282871" y="7152014"/>
            <a:ext cx="1015783" cy="2680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Taxonomy</a:t>
            </a:r>
            <a:endParaRPr lang="en-US" sz="1000" dirty="0"/>
          </a:p>
        </p:txBody>
      </p:sp>
      <p:sp>
        <p:nvSpPr>
          <p:cNvPr id="79" name="text-118">
            <a:extLst>
              <a:ext uri="{FF2B5EF4-FFF2-40B4-BE49-F238E27FC236}">
                <a16:creationId xmlns:a16="http://schemas.microsoft.com/office/drawing/2014/main" id="{D0A59E59-5F18-8BA0-1732-6031FCCC049C}"/>
              </a:ext>
            </a:extLst>
          </p:cNvPr>
          <p:cNvSpPr txBox="1"/>
          <p:nvPr/>
        </p:nvSpPr>
        <p:spPr>
          <a:xfrm>
            <a:off x="6282871" y="7422630"/>
            <a:ext cx="1015783" cy="688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Frozen v2 codebook: 15 categories with assignment rules</a:t>
            </a:r>
          </a:p>
        </p:txBody>
      </p:sp>
      <p:sp>
        <p:nvSpPr>
          <p:cNvPr id="93" name="card-115">
            <a:extLst>
              <a:ext uri="{FF2B5EF4-FFF2-40B4-BE49-F238E27FC236}">
                <a16:creationId xmlns:a16="http://schemas.microsoft.com/office/drawing/2014/main" id="{76DFD9EC-E501-DEBD-AC92-ABA89958DB10}"/>
              </a:ext>
            </a:extLst>
          </p:cNvPr>
          <p:cNvSpPr/>
          <p:nvPr/>
        </p:nvSpPr>
        <p:spPr>
          <a:xfrm>
            <a:off x="7462673" y="3740343"/>
            <a:ext cx="1692037" cy="2224081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94" name="text-117">
            <a:extLst>
              <a:ext uri="{FF2B5EF4-FFF2-40B4-BE49-F238E27FC236}">
                <a16:creationId xmlns:a16="http://schemas.microsoft.com/office/drawing/2014/main" id="{D2D92CD4-5850-BB11-6797-837413B52549}"/>
              </a:ext>
            </a:extLst>
          </p:cNvPr>
          <p:cNvSpPr txBox="1"/>
          <p:nvPr/>
        </p:nvSpPr>
        <p:spPr>
          <a:xfrm>
            <a:off x="7612548" y="3837515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Aggregate surprises</a:t>
            </a:r>
            <a:endParaRPr lang="en-US" sz="1000" dirty="0"/>
          </a:p>
        </p:txBody>
      </p:sp>
      <p:sp>
        <p:nvSpPr>
          <p:cNvPr id="95" name="text-118">
            <a:extLst>
              <a:ext uri="{FF2B5EF4-FFF2-40B4-BE49-F238E27FC236}">
                <a16:creationId xmlns:a16="http://schemas.microsoft.com/office/drawing/2014/main" id="{95F18BD7-5139-9EE7-FF5C-A99840EADD19}"/>
              </a:ext>
            </a:extLst>
          </p:cNvPr>
          <p:cNvSpPr txBox="1"/>
          <p:nvPr/>
        </p:nvSpPr>
        <p:spPr>
          <a:xfrm>
            <a:off x="7612548" y="4368477"/>
            <a:ext cx="1456045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Per event, build features:</a:t>
            </a:r>
          </a:p>
          <a:p>
            <a:r>
              <a:rPr lang="en-US" sz="1000" dirty="0"/>
              <a:t>- net surprise per category (direction × magnitude)</a:t>
            </a:r>
          </a:p>
          <a:p>
            <a:r>
              <a:rPr lang="en-US" sz="1000" dirty="0"/>
              <a:t>- positive / negative parts per category</a:t>
            </a:r>
          </a:p>
          <a:p>
            <a:r>
              <a:rPr lang="en-US" sz="1000" dirty="0"/>
              <a:t>- totals: counts, net, first-3 net</a:t>
            </a:r>
          </a:p>
          <a:p>
            <a:r>
              <a:rPr lang="en-US" sz="1000" dirty="0"/>
              <a:t>- no-surprise flag</a:t>
            </a:r>
          </a:p>
          <a:p>
            <a:r>
              <a:rPr lang="en-US" sz="1000" dirty="0"/>
              <a:t>- own-preview flag</a:t>
            </a:r>
          </a:p>
        </p:txBody>
      </p:sp>
      <p:sp>
        <p:nvSpPr>
          <p:cNvPr id="99" name="card-115">
            <a:extLst>
              <a:ext uri="{FF2B5EF4-FFF2-40B4-BE49-F238E27FC236}">
                <a16:creationId xmlns:a16="http://schemas.microsoft.com/office/drawing/2014/main" id="{2153DFE8-1B2F-8A26-BA7A-4214D8675FC1}"/>
              </a:ext>
            </a:extLst>
          </p:cNvPr>
          <p:cNvSpPr/>
          <p:nvPr/>
        </p:nvSpPr>
        <p:spPr>
          <a:xfrm>
            <a:off x="9379681" y="3983401"/>
            <a:ext cx="1315534" cy="1882786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00" name="text-117">
            <a:extLst>
              <a:ext uri="{FF2B5EF4-FFF2-40B4-BE49-F238E27FC236}">
                <a16:creationId xmlns:a16="http://schemas.microsoft.com/office/drawing/2014/main" id="{443F9E8D-8479-6904-4769-A697A2A1EA83}"/>
              </a:ext>
            </a:extLst>
          </p:cNvPr>
          <p:cNvSpPr txBox="1"/>
          <p:nvPr/>
        </p:nvSpPr>
        <p:spPr>
          <a:xfrm>
            <a:off x="9529557" y="4080574"/>
            <a:ext cx="1015783" cy="5726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Prediction</a:t>
            </a:r>
            <a:endParaRPr lang="en-US" sz="1000" dirty="0"/>
          </a:p>
        </p:txBody>
      </p:sp>
      <p:sp>
        <p:nvSpPr>
          <p:cNvPr id="101" name="text-118">
            <a:extLst>
              <a:ext uri="{FF2B5EF4-FFF2-40B4-BE49-F238E27FC236}">
                <a16:creationId xmlns:a16="http://schemas.microsoft.com/office/drawing/2014/main" id="{4CF45A5C-3CAB-89E1-3B1D-7B60822EE127}"/>
              </a:ext>
            </a:extLst>
          </p:cNvPr>
          <p:cNvSpPr txBox="1"/>
          <p:nvPr/>
        </p:nvSpPr>
        <p:spPr>
          <a:xfrm>
            <a:off x="9522389" y="4396524"/>
            <a:ext cx="1015783" cy="6888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Pooled ridge: one model for both preview sources (own-preview flag); output clipped to [0, 1]</a:t>
            </a:r>
            <a:endParaRPr lang="en-US" sz="1000" dirty="0"/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2C12EF81-8F38-3ADC-D625-DC83194D66EB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9154709" y="4924794"/>
            <a:ext cx="224972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card-115">
            <a:extLst>
              <a:ext uri="{FF2B5EF4-FFF2-40B4-BE49-F238E27FC236}">
                <a16:creationId xmlns:a16="http://schemas.microsoft.com/office/drawing/2014/main" id="{B320516D-3A54-4E3C-5A6F-64CE3914B4F5}"/>
              </a:ext>
            </a:extLst>
          </p:cNvPr>
          <p:cNvSpPr/>
          <p:nvPr/>
        </p:nvSpPr>
        <p:spPr>
          <a:xfrm>
            <a:off x="5332576" y="2759684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05" name="text-117">
            <a:extLst>
              <a:ext uri="{FF2B5EF4-FFF2-40B4-BE49-F238E27FC236}">
                <a16:creationId xmlns:a16="http://schemas.microsoft.com/office/drawing/2014/main" id="{408451EB-B46A-851F-F3A4-BE26D4CED680}"/>
              </a:ext>
            </a:extLst>
          </p:cNvPr>
          <p:cNvSpPr txBox="1"/>
          <p:nvPr/>
        </p:nvSpPr>
        <p:spPr>
          <a:xfrm>
            <a:off x="5482452" y="2881004"/>
            <a:ext cx="1015783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Option Statistics</a:t>
            </a:r>
            <a:endParaRPr lang="en-US" sz="1000" dirty="0"/>
          </a:p>
        </p:txBody>
      </p:sp>
      <p:cxnSp>
        <p:nvCxnSpPr>
          <p:cNvPr id="107" name="肘形连接符 106">
            <a:extLst>
              <a:ext uri="{FF2B5EF4-FFF2-40B4-BE49-F238E27FC236}">
                <a16:creationId xmlns:a16="http://schemas.microsoft.com/office/drawing/2014/main" id="{E71FD1A7-CC31-4432-92BA-C6B4C67FAD1E}"/>
              </a:ext>
            </a:extLst>
          </p:cNvPr>
          <p:cNvCxnSpPr>
            <a:cxnSpLocks/>
            <a:endCxn id="104" idx="0"/>
          </p:cNvCxnSpPr>
          <p:nvPr/>
        </p:nvCxnSpPr>
        <p:spPr>
          <a:xfrm>
            <a:off x="4819446" y="2315223"/>
            <a:ext cx="1170898" cy="444462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肘形连接符 109">
            <a:extLst>
              <a:ext uri="{FF2B5EF4-FFF2-40B4-BE49-F238E27FC236}">
                <a16:creationId xmlns:a16="http://schemas.microsoft.com/office/drawing/2014/main" id="{E10E7577-201A-613E-A854-6087BC9BF4D9}"/>
              </a:ext>
            </a:extLst>
          </p:cNvPr>
          <p:cNvCxnSpPr>
            <a:cxnSpLocks/>
            <a:stCxn id="104" idx="3"/>
            <a:endCxn id="99" idx="0"/>
          </p:cNvCxnSpPr>
          <p:nvPr/>
        </p:nvCxnSpPr>
        <p:spPr>
          <a:xfrm>
            <a:off x="6648110" y="3106651"/>
            <a:ext cx="3389339" cy="876751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线箭头连接符 117">
            <a:extLst>
              <a:ext uri="{FF2B5EF4-FFF2-40B4-BE49-F238E27FC236}">
                <a16:creationId xmlns:a16="http://schemas.microsoft.com/office/drawing/2014/main" id="{2BD7B969-F301-D39A-B197-EF0163F438A7}"/>
              </a:ext>
            </a:extLst>
          </p:cNvPr>
          <p:cNvCxnSpPr>
            <a:cxnSpLocks/>
          </p:cNvCxnSpPr>
          <p:nvPr/>
        </p:nvCxnSpPr>
        <p:spPr>
          <a:xfrm>
            <a:off x="10037448" y="5866187"/>
            <a:ext cx="0" cy="288288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card-115">
            <a:extLst>
              <a:ext uri="{FF2B5EF4-FFF2-40B4-BE49-F238E27FC236}">
                <a16:creationId xmlns:a16="http://schemas.microsoft.com/office/drawing/2014/main" id="{DF73F64D-BD98-B129-6988-7E9621FEDF1D}"/>
              </a:ext>
            </a:extLst>
          </p:cNvPr>
          <p:cNvSpPr/>
          <p:nvPr/>
        </p:nvSpPr>
        <p:spPr>
          <a:xfrm>
            <a:off x="9379680" y="6182138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53" name="card-115"/>
          <p:cNvSpPr/>
          <p:nvPr/>
        </p:nvSpPr>
        <p:spPr>
          <a:xfrm>
            <a:off x="7462673" y="6182138"/>
            <a:ext cx="1692037" cy="1143000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54" name="text-117"/>
          <p:cNvSpPr txBox="1"/>
          <p:nvPr/>
        </p:nvSpPr>
        <p:spPr>
          <a:xfrm>
            <a:off x="7618121" y="6273578"/>
            <a:ext cx="1381141" cy="22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Direct Prediction</a:t>
            </a:r>
            <a:endParaRPr lang="en-US" sz="1000" dirty="0"/>
          </a:p>
        </p:txBody>
      </p:sp>
      <p:sp>
        <p:nvSpPr>
          <p:cNvPr id="255" name="text-118"/>
          <p:cNvSpPr txBox="1"/>
          <p:nvPr/>
        </p:nvSpPr>
        <p:spPr>
          <a:xfrm>
            <a:off x="7618121" y="6529610"/>
            <a:ext cx="1381141" cy="7315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No preview at all: one gpt-6.1-sol call (medium effort) on call facts and option statistics</a:t>
            </a:r>
          </a:p>
        </p:txBody>
      </p:sp>
      <p:cxnSp>
        <p:nvCxnSpPr>
          <p:cNvPr id="256" name="直线箭头连接符 101"/>
          <p:cNvCxnSpPr>
            <a:cxnSpLocks/>
          </p:cNvCxnSpPr>
          <p:nvPr/>
        </p:nvCxnSpPr>
        <p:spPr>
          <a:xfrm>
            <a:off x="9154710" y="6529104"/>
            <a:ext cx="224970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-117">
            <a:extLst>
              <a:ext uri="{FF2B5EF4-FFF2-40B4-BE49-F238E27FC236}">
                <a16:creationId xmlns:a16="http://schemas.microsoft.com/office/drawing/2014/main" id="{AB5D0238-ACAC-A9D2-D656-DB01AFEEB359}"/>
              </a:ext>
            </a:extLst>
          </p:cNvPr>
          <p:cNvSpPr txBox="1"/>
          <p:nvPr/>
        </p:nvSpPr>
        <p:spPr>
          <a:xfrm>
            <a:off x="9529556" y="6303457"/>
            <a:ext cx="1015783" cy="57261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Final Prediction</a:t>
            </a:r>
            <a:endParaRPr lang="en-US" sz="1000" dirty="0"/>
          </a:p>
        </p:txBody>
      </p:sp>
      <p:sp>
        <p:nvSpPr>
          <p:cNvPr id="123" name="card-115">
            <a:extLst>
              <a:ext uri="{FF2B5EF4-FFF2-40B4-BE49-F238E27FC236}">
                <a16:creationId xmlns:a16="http://schemas.microsoft.com/office/drawing/2014/main" id="{BBA79E5C-F2DC-71D7-3B83-E7B72DF6C5CD}"/>
              </a:ext>
            </a:extLst>
          </p:cNvPr>
          <p:cNvSpPr/>
          <p:nvPr/>
        </p:nvSpPr>
        <p:spPr>
          <a:xfrm>
            <a:off x="3819321" y="3894998"/>
            <a:ext cx="1366806" cy="2033416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 dirty="0"/>
          </a:p>
        </p:txBody>
      </p:sp>
      <p:sp>
        <p:nvSpPr>
          <p:cNvPr id="124" name="text-117">
            <a:extLst>
              <a:ext uri="{FF2B5EF4-FFF2-40B4-BE49-F238E27FC236}">
                <a16:creationId xmlns:a16="http://schemas.microsoft.com/office/drawing/2014/main" id="{830245E9-1D75-1668-85A8-4E2EF3FA2655}"/>
              </a:ext>
            </a:extLst>
          </p:cNvPr>
          <p:cNvSpPr txBox="1"/>
          <p:nvPr/>
        </p:nvSpPr>
        <p:spPr>
          <a:xfrm>
            <a:off x="3969194" y="4049196"/>
            <a:ext cx="1015783" cy="2680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Prompt</a:t>
            </a:r>
            <a:endParaRPr lang="en-US" sz="1000" dirty="0"/>
          </a:p>
        </p:txBody>
      </p:sp>
      <p:sp>
        <p:nvSpPr>
          <p:cNvPr id="125" name="text-118">
            <a:extLst>
              <a:ext uri="{FF2B5EF4-FFF2-40B4-BE49-F238E27FC236}">
                <a16:creationId xmlns:a16="http://schemas.microsoft.com/office/drawing/2014/main" id="{E2F0B1C5-5812-1613-D5A6-435A1704D605}"/>
              </a:ext>
            </a:extLst>
          </p:cNvPr>
          <p:cNvSpPr txBox="1"/>
          <p:nvPr/>
        </p:nvSpPr>
        <p:spPr>
          <a:xfrm>
            <a:off x="3969194" y="4319812"/>
            <a:ext cx="1165660" cy="688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To be tuned with Agentic Context Engineering (ACE). Objective: ΔR² of the first-3 net weighted surprise over the ranked earnings surprise</a:t>
            </a:r>
          </a:p>
        </p:txBody>
      </p:sp>
      <p:cxnSp>
        <p:nvCxnSpPr>
          <p:cNvPr id="131" name="直线箭头连接符 130">
            <a:extLst>
              <a:ext uri="{FF2B5EF4-FFF2-40B4-BE49-F238E27FC236}">
                <a16:creationId xmlns:a16="http://schemas.microsoft.com/office/drawing/2014/main" id="{FC4969DC-44BF-9442-19D4-DD8D95EA6F12}"/>
              </a:ext>
            </a:extLst>
          </p:cNvPr>
          <p:cNvCxnSpPr>
            <a:cxnSpLocks/>
          </p:cNvCxnSpPr>
          <p:nvPr/>
        </p:nvCxnSpPr>
        <p:spPr>
          <a:xfrm>
            <a:off x="4821192" y="1939570"/>
            <a:ext cx="1537750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card-115">
            <a:extLst>
              <a:ext uri="{FF2B5EF4-FFF2-40B4-BE49-F238E27FC236}">
                <a16:creationId xmlns:a16="http://schemas.microsoft.com/office/drawing/2014/main" id="{40230FA5-332D-874C-6BB2-FF1B2D18ACA8}"/>
              </a:ext>
            </a:extLst>
          </p:cNvPr>
          <p:cNvSpPr/>
          <p:nvPr/>
        </p:nvSpPr>
        <p:spPr>
          <a:xfrm>
            <a:off x="6358942" y="1653209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34" name="text-117">
            <a:extLst>
              <a:ext uri="{FF2B5EF4-FFF2-40B4-BE49-F238E27FC236}">
                <a16:creationId xmlns:a16="http://schemas.microsoft.com/office/drawing/2014/main" id="{2E04AF95-64F9-E7CB-6E5B-E58B68C62589}"/>
              </a:ext>
            </a:extLst>
          </p:cNvPr>
          <p:cNvSpPr txBox="1"/>
          <p:nvPr/>
        </p:nvSpPr>
        <p:spPr>
          <a:xfrm>
            <a:off x="6508818" y="1774528"/>
            <a:ext cx="1015783" cy="28056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Event Date</a:t>
            </a:r>
          </a:p>
          <a:p>
            <a:endParaRPr lang="en-US" sz="1000" dirty="0"/>
          </a:p>
        </p:txBody>
      </p:sp>
      <p:sp>
        <p:nvSpPr>
          <p:cNvPr id="135" name="text-118">
            <a:extLst>
              <a:ext uri="{FF2B5EF4-FFF2-40B4-BE49-F238E27FC236}">
                <a16:creationId xmlns:a16="http://schemas.microsoft.com/office/drawing/2014/main" id="{201C209B-0D03-AAE5-B094-813038D7AB28}"/>
              </a:ext>
            </a:extLst>
          </p:cNvPr>
          <p:cNvSpPr txBox="1"/>
          <p:nvPr/>
        </p:nvSpPr>
        <p:spPr>
          <a:xfrm>
            <a:off x="6508818" y="2006858"/>
            <a:ext cx="1015783" cy="2157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Knowledge cutoff</a:t>
            </a:r>
            <a:endParaRPr lang="en-US" sz="1000" dirty="0"/>
          </a:p>
        </p:txBody>
      </p:sp>
      <p:sp>
        <p:nvSpPr>
          <p:cNvPr id="136" name="card-115">
            <a:extLst>
              <a:ext uri="{FF2B5EF4-FFF2-40B4-BE49-F238E27FC236}">
                <a16:creationId xmlns:a16="http://schemas.microsoft.com/office/drawing/2014/main" id="{9096B686-717F-6AAB-FD1C-3CF07639EDC8}"/>
              </a:ext>
            </a:extLst>
          </p:cNvPr>
          <p:cNvSpPr/>
          <p:nvPr/>
        </p:nvSpPr>
        <p:spPr>
          <a:xfrm>
            <a:off x="7901787" y="1653209"/>
            <a:ext cx="1971697" cy="1227795"/>
          </a:xfrm>
          <a:prstGeom prst="roundRect">
            <a:avLst>
              <a:gd name="adj" fmla="val 4557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 dirty="0"/>
          </a:p>
        </p:txBody>
      </p:sp>
      <p:sp>
        <p:nvSpPr>
          <p:cNvPr id="137" name="text-117">
            <a:extLst>
              <a:ext uri="{FF2B5EF4-FFF2-40B4-BE49-F238E27FC236}">
                <a16:creationId xmlns:a16="http://schemas.microsoft.com/office/drawing/2014/main" id="{ADA0BA64-9D8E-2969-C8BC-E8E9F5C96F1E}"/>
              </a:ext>
            </a:extLst>
          </p:cNvPr>
          <p:cNvSpPr txBox="1"/>
          <p:nvPr/>
        </p:nvSpPr>
        <p:spPr>
          <a:xfrm>
            <a:off x="8043075" y="1747113"/>
            <a:ext cx="1015783" cy="2680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</a:rPr>
              <a:t>Stock Prices</a:t>
            </a:r>
            <a:endParaRPr lang="en-US" sz="1000" dirty="0"/>
          </a:p>
        </p:txBody>
      </p:sp>
      <p:sp>
        <p:nvSpPr>
          <p:cNvPr id="138" name="text-118">
            <a:extLst>
              <a:ext uri="{FF2B5EF4-FFF2-40B4-BE49-F238E27FC236}">
                <a16:creationId xmlns:a16="http://schemas.microsoft.com/office/drawing/2014/main" id="{8404E0D7-D1D2-0A80-1CD4-5C6ED592738B}"/>
              </a:ext>
            </a:extLst>
          </p:cNvPr>
          <p:cNvSpPr txBox="1"/>
          <p:nvPr/>
        </p:nvSpPr>
        <p:spPr>
          <a:xfrm>
            <a:off x="8043075" y="2017729"/>
            <a:ext cx="1680536" cy="688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/>
              <a:t>- The firm's stock return before the event, up to the knowledge cutoff</a:t>
            </a:r>
          </a:p>
          <a:p>
            <a:r>
              <a:rPr lang="en-US" sz="1000" dirty="0"/>
              <a:t>- Market return in the week before the event</a:t>
            </a:r>
          </a:p>
        </p:txBody>
      </p:sp>
      <p:cxnSp>
        <p:nvCxnSpPr>
          <p:cNvPr id="139" name="直线箭头连接符 138">
            <a:extLst>
              <a:ext uri="{FF2B5EF4-FFF2-40B4-BE49-F238E27FC236}">
                <a16:creationId xmlns:a16="http://schemas.microsoft.com/office/drawing/2014/main" id="{D58BE43E-C6CC-AF50-3D72-3560B5326810}"/>
              </a:ext>
            </a:extLst>
          </p:cNvPr>
          <p:cNvCxnSpPr>
            <a:cxnSpLocks/>
          </p:cNvCxnSpPr>
          <p:nvPr/>
        </p:nvCxnSpPr>
        <p:spPr>
          <a:xfrm>
            <a:off x="7670981" y="1927267"/>
            <a:ext cx="23080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肘形连接符 140">
            <a:extLst>
              <a:ext uri="{FF2B5EF4-FFF2-40B4-BE49-F238E27FC236}">
                <a16:creationId xmlns:a16="http://schemas.microsoft.com/office/drawing/2014/main" id="{AE4A7425-8769-67AD-5D15-62626BB2D2AF}"/>
              </a:ext>
            </a:extLst>
          </p:cNvPr>
          <p:cNvCxnSpPr>
            <a:cxnSpLocks/>
            <a:stCxn id="136" idx="3"/>
            <a:endCxn id="99" idx="0"/>
          </p:cNvCxnSpPr>
          <p:nvPr/>
        </p:nvCxnSpPr>
        <p:spPr>
          <a:xfrm>
            <a:off x="9873484" y="2267107"/>
            <a:ext cx="163965" cy="1716294"/>
          </a:xfrm>
          <a:prstGeom prst="bentConnector2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直线箭头连接符 216">
            <a:extLst>
              <a:ext uri="{FF2B5EF4-FFF2-40B4-BE49-F238E27FC236}">
                <a16:creationId xmlns:a16="http://schemas.microsoft.com/office/drawing/2014/main" id="{5CEBB154-432E-4903-0FDC-17A14F9178D9}"/>
              </a:ext>
            </a:extLst>
          </p:cNvPr>
          <p:cNvCxnSpPr>
            <a:cxnSpLocks/>
            <a:stCxn id="123" idx="1"/>
            <a:endCxn id="29" idx="3"/>
          </p:cNvCxnSpPr>
          <p:nvPr/>
        </p:nvCxnSpPr>
        <p:spPr>
          <a:xfrm flipH="1">
            <a:off x="3133567" y="4911706"/>
            <a:ext cx="685754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card-115">
            <a:extLst>
              <a:ext uri="{FF2B5EF4-FFF2-40B4-BE49-F238E27FC236}">
                <a16:creationId xmlns:a16="http://schemas.microsoft.com/office/drawing/2014/main" id="{00EBF8FE-C7FF-9BBF-7735-F705F79652DD}"/>
              </a:ext>
            </a:extLst>
          </p:cNvPr>
          <p:cNvSpPr/>
          <p:nvPr/>
        </p:nvSpPr>
        <p:spPr>
          <a:xfrm>
            <a:off x="8308691" y="7583645"/>
            <a:ext cx="1322997" cy="367562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39" name="text-118">
            <a:extLst>
              <a:ext uri="{FF2B5EF4-FFF2-40B4-BE49-F238E27FC236}">
                <a16:creationId xmlns:a16="http://schemas.microsoft.com/office/drawing/2014/main" id="{C34CDA5C-240D-1BE3-7E44-CBAFEF50ED62}"/>
              </a:ext>
            </a:extLst>
          </p:cNvPr>
          <p:cNvSpPr txBox="1"/>
          <p:nvPr/>
        </p:nvSpPr>
        <p:spPr>
          <a:xfrm>
            <a:off x="8363898" y="7681881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Data</a:t>
            </a:r>
          </a:p>
        </p:txBody>
      </p:sp>
      <p:sp>
        <p:nvSpPr>
          <p:cNvPr id="240" name="card-115">
            <a:extLst>
              <a:ext uri="{FF2B5EF4-FFF2-40B4-BE49-F238E27FC236}">
                <a16:creationId xmlns:a16="http://schemas.microsoft.com/office/drawing/2014/main" id="{269B5723-EE22-47A2-6EF2-42EF8D597CB0}"/>
              </a:ext>
            </a:extLst>
          </p:cNvPr>
          <p:cNvSpPr/>
          <p:nvPr/>
        </p:nvSpPr>
        <p:spPr>
          <a:xfrm>
            <a:off x="8308691" y="8127729"/>
            <a:ext cx="1322997" cy="367562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41" name="text-118">
            <a:extLst>
              <a:ext uri="{FF2B5EF4-FFF2-40B4-BE49-F238E27FC236}">
                <a16:creationId xmlns:a16="http://schemas.microsoft.com/office/drawing/2014/main" id="{C834D160-484C-10CA-F823-B9CEF60AC460}"/>
              </a:ext>
            </a:extLst>
          </p:cNvPr>
          <p:cNvSpPr txBox="1"/>
          <p:nvPr/>
        </p:nvSpPr>
        <p:spPr>
          <a:xfrm>
            <a:off x="8363898" y="8225966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Node</a:t>
            </a:r>
          </a:p>
        </p:txBody>
      </p:sp>
      <p:sp>
        <p:nvSpPr>
          <p:cNvPr id="247" name="card-115">
            <a:extLst>
              <a:ext uri="{FF2B5EF4-FFF2-40B4-BE49-F238E27FC236}">
                <a16:creationId xmlns:a16="http://schemas.microsoft.com/office/drawing/2014/main" id="{689696DF-8EFD-1082-11BF-7C4C15ACD9CA}"/>
              </a:ext>
            </a:extLst>
          </p:cNvPr>
          <p:cNvSpPr/>
          <p:nvPr/>
        </p:nvSpPr>
        <p:spPr>
          <a:xfrm>
            <a:off x="8308691" y="8671814"/>
            <a:ext cx="1322997" cy="367562"/>
          </a:xfrm>
          <a:prstGeom prst="roundRect">
            <a:avLst>
              <a:gd name="adj" fmla="val 4557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48" name="text-118">
            <a:extLst>
              <a:ext uri="{FF2B5EF4-FFF2-40B4-BE49-F238E27FC236}">
                <a16:creationId xmlns:a16="http://schemas.microsoft.com/office/drawing/2014/main" id="{57D8EDE5-E8D9-06DB-188E-79FD558C9278}"/>
              </a:ext>
            </a:extLst>
          </p:cNvPr>
          <p:cNvSpPr txBox="1"/>
          <p:nvPr/>
        </p:nvSpPr>
        <p:spPr>
          <a:xfrm>
            <a:off x="8363898" y="8770050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Prompt</a:t>
            </a:r>
          </a:p>
        </p:txBody>
      </p:sp>
      <p:sp>
        <p:nvSpPr>
          <p:cNvPr id="249" name="card-115">
            <a:extLst>
              <a:ext uri="{FF2B5EF4-FFF2-40B4-BE49-F238E27FC236}">
                <a16:creationId xmlns:a16="http://schemas.microsoft.com/office/drawing/2014/main" id="{0C71664D-ED1E-60C1-C353-79DC90BBC196}"/>
              </a:ext>
            </a:extLst>
          </p:cNvPr>
          <p:cNvSpPr/>
          <p:nvPr/>
        </p:nvSpPr>
        <p:spPr>
          <a:xfrm>
            <a:off x="9830348" y="7582481"/>
            <a:ext cx="1322997" cy="367562"/>
          </a:xfrm>
          <a:prstGeom prst="roundRect">
            <a:avLst>
              <a:gd name="adj" fmla="val 4557"/>
            </a:avLst>
          </a:prstGeom>
          <a:noFill/>
          <a:ln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50" name="text-118">
            <a:extLst>
              <a:ext uri="{FF2B5EF4-FFF2-40B4-BE49-F238E27FC236}">
                <a16:creationId xmlns:a16="http://schemas.microsoft.com/office/drawing/2014/main" id="{45873CC2-60F7-1AF8-37B8-0B02D91A8697}"/>
              </a:ext>
            </a:extLst>
          </p:cNvPr>
          <p:cNvSpPr txBox="1"/>
          <p:nvPr/>
        </p:nvSpPr>
        <p:spPr>
          <a:xfrm>
            <a:off x="9885555" y="7680718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Implemented</a:t>
            </a:r>
          </a:p>
        </p:txBody>
      </p:sp>
      <p:sp>
        <p:nvSpPr>
          <p:cNvPr id="251" name="card-115">
            <a:extLst>
              <a:ext uri="{FF2B5EF4-FFF2-40B4-BE49-F238E27FC236}">
                <a16:creationId xmlns:a16="http://schemas.microsoft.com/office/drawing/2014/main" id="{43A7C8F5-F248-5358-8732-360A73F9360B}"/>
              </a:ext>
            </a:extLst>
          </p:cNvPr>
          <p:cNvSpPr/>
          <p:nvPr/>
        </p:nvSpPr>
        <p:spPr>
          <a:xfrm>
            <a:off x="9830348" y="8126695"/>
            <a:ext cx="1322997" cy="367562"/>
          </a:xfrm>
          <a:prstGeom prst="roundRect">
            <a:avLst>
              <a:gd name="adj" fmla="val 4557"/>
            </a:avLst>
          </a:prstGeom>
          <a:noFill/>
          <a:ln>
            <a:solidFill>
              <a:schemeClr val="accent6">
                <a:lumMod val="50000"/>
              </a:schemeClr>
            </a:solidFill>
            <a:prstDash val="dash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52" name="text-118">
            <a:extLst>
              <a:ext uri="{FF2B5EF4-FFF2-40B4-BE49-F238E27FC236}">
                <a16:creationId xmlns:a16="http://schemas.microsoft.com/office/drawing/2014/main" id="{DF8EFDFC-74F5-C2FF-59A6-17A7E6BDFA95}"/>
              </a:ext>
            </a:extLst>
          </p:cNvPr>
          <p:cNvSpPr txBox="1"/>
          <p:nvPr/>
        </p:nvSpPr>
        <p:spPr>
          <a:xfrm>
            <a:off x="9885555" y="8224931"/>
            <a:ext cx="1015783" cy="1802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Unimplemented</a:t>
            </a:r>
          </a:p>
        </p:txBody>
      </p:sp>
      <p:cxnSp>
        <p:nvCxnSpPr>
          <p:cNvPr id="14" name="直线连接符 13">
            <a:extLst>
              <a:ext uri="{FF2B5EF4-FFF2-40B4-BE49-F238E27FC236}">
                <a16:creationId xmlns:a16="http://schemas.microsoft.com/office/drawing/2014/main" id="{52742920-D456-900D-9AE6-0F0CDDCA7A7B}"/>
              </a:ext>
            </a:extLst>
          </p:cNvPr>
          <p:cNvCxnSpPr/>
          <p:nvPr/>
        </p:nvCxnSpPr>
        <p:spPr>
          <a:xfrm>
            <a:off x="0" y="1438275"/>
            <a:ext cx="12801600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E0AC31F-DED3-8589-AE48-492F4A0D3E00}"/>
              </a:ext>
            </a:extLst>
          </p:cNvPr>
          <p:cNvSpPr txBox="1"/>
          <p:nvPr/>
        </p:nvSpPr>
        <p:spPr>
          <a:xfrm>
            <a:off x="112432" y="1695654"/>
            <a:ext cx="7745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/>
              <a:t>At release</a:t>
            </a:r>
            <a:endParaRPr kumimoji="1" lang="zh-CN" altLang="en-US" sz="1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6755238-030D-A4A5-31A8-EC9D6751CBAB}"/>
              </a:ext>
            </a:extLst>
          </p:cNvPr>
          <p:cNvSpPr txBox="1"/>
          <p:nvPr/>
        </p:nvSpPr>
        <p:spPr>
          <a:xfrm>
            <a:off x="112432" y="424778"/>
            <a:ext cx="681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/>
              <a:t>Before cutoff</a:t>
            </a:r>
            <a:endParaRPr kumimoji="1" lang="zh-CN" altLang="en-US" sz="1200" dirty="0"/>
          </a:p>
        </p:txBody>
      </p:sp>
      <p:sp>
        <p:nvSpPr>
          <p:cNvPr id="17" name="card-115">
            <a:extLst>
              <a:ext uri="{FF2B5EF4-FFF2-40B4-BE49-F238E27FC236}">
                <a16:creationId xmlns:a16="http://schemas.microsoft.com/office/drawing/2014/main" id="{D215FE9C-50D1-2425-217B-5B4FFEDAAAF0}"/>
              </a:ext>
            </a:extLst>
          </p:cNvPr>
          <p:cNvSpPr/>
          <p:nvPr/>
        </p:nvSpPr>
        <p:spPr>
          <a:xfrm>
            <a:off x="3505658" y="366535"/>
            <a:ext cx="1315534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18" name="text-117">
            <a:extLst>
              <a:ext uri="{FF2B5EF4-FFF2-40B4-BE49-F238E27FC236}">
                <a16:creationId xmlns:a16="http://schemas.microsoft.com/office/drawing/2014/main" id="{A44E08EB-58BA-8840-1597-0762ACF39A05}"/>
              </a:ext>
            </a:extLst>
          </p:cNvPr>
          <p:cNvSpPr txBox="1"/>
          <p:nvPr/>
        </p:nvSpPr>
        <p:spPr>
          <a:xfrm>
            <a:off x="3655534" y="487854"/>
            <a:ext cx="1229296" cy="572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Scheduled Events</a:t>
            </a:r>
            <a:endParaRPr lang="en-US" sz="1000" dirty="0"/>
          </a:p>
        </p:txBody>
      </p:sp>
      <p:sp>
        <p:nvSpPr>
          <p:cNvPr id="19" name="card-115">
            <a:extLst>
              <a:ext uri="{FF2B5EF4-FFF2-40B4-BE49-F238E27FC236}">
                <a16:creationId xmlns:a16="http://schemas.microsoft.com/office/drawing/2014/main" id="{880BAAD8-26C1-946A-6A74-27580E8C3B95}"/>
              </a:ext>
            </a:extLst>
          </p:cNvPr>
          <p:cNvSpPr/>
          <p:nvPr/>
        </p:nvSpPr>
        <p:spPr>
          <a:xfrm>
            <a:off x="1818033" y="366535"/>
            <a:ext cx="1315534" cy="693931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0" name="text-117">
            <a:extLst>
              <a:ext uri="{FF2B5EF4-FFF2-40B4-BE49-F238E27FC236}">
                <a16:creationId xmlns:a16="http://schemas.microsoft.com/office/drawing/2014/main" id="{76303900-478C-FF6E-19AF-F2CAB354B06B}"/>
              </a:ext>
            </a:extLst>
          </p:cNvPr>
          <p:cNvSpPr txBox="1"/>
          <p:nvPr/>
        </p:nvSpPr>
        <p:spPr>
          <a:xfrm>
            <a:off x="1967909" y="463709"/>
            <a:ext cx="1015783" cy="211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Calendar API</a:t>
            </a:r>
            <a:endParaRPr lang="en-US" sz="1000" dirty="0"/>
          </a:p>
        </p:txBody>
      </p:sp>
      <p:sp>
        <p:nvSpPr>
          <p:cNvPr id="21" name="text-118">
            <a:extLst>
              <a:ext uri="{FF2B5EF4-FFF2-40B4-BE49-F238E27FC236}">
                <a16:creationId xmlns:a16="http://schemas.microsoft.com/office/drawing/2014/main" id="{9BAE4B14-88FB-30AA-62A8-486462427286}"/>
              </a:ext>
            </a:extLst>
          </p:cNvPr>
          <p:cNvSpPr txBox="1"/>
          <p:nvPr/>
        </p:nvSpPr>
        <p:spPr>
          <a:xfrm>
            <a:off x="1967906" y="709811"/>
            <a:ext cx="1015783" cy="3010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Every 15 min: GET /v1/events</a:t>
            </a:r>
            <a:endParaRPr lang="en-US" sz="1000" dirty="0"/>
          </a:p>
        </p:txBody>
      </p:sp>
      <p:cxnSp>
        <p:nvCxnSpPr>
          <p:cNvPr id="22" name="直线箭头连接符 21">
            <a:extLst>
              <a:ext uri="{FF2B5EF4-FFF2-40B4-BE49-F238E27FC236}">
                <a16:creationId xmlns:a16="http://schemas.microsoft.com/office/drawing/2014/main" id="{65AB1863-9472-ABBB-25EB-BBFAA804DA99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3133567" y="709811"/>
            <a:ext cx="372091" cy="369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ard-115">
            <a:extLst>
              <a:ext uri="{FF2B5EF4-FFF2-40B4-BE49-F238E27FC236}">
                <a16:creationId xmlns:a16="http://schemas.microsoft.com/office/drawing/2014/main" id="{4429ADAB-B3C6-7B5A-88DC-F59B5CA33E4D}"/>
              </a:ext>
            </a:extLst>
          </p:cNvPr>
          <p:cNvSpPr/>
          <p:nvPr/>
        </p:nvSpPr>
        <p:spPr>
          <a:xfrm>
            <a:off x="5193283" y="369586"/>
            <a:ext cx="3115407" cy="863749"/>
          </a:xfrm>
          <a:prstGeom prst="roundRect">
            <a:avLst>
              <a:gd name="adj" fmla="val 455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28" name="text-117">
            <a:extLst>
              <a:ext uri="{FF2B5EF4-FFF2-40B4-BE49-F238E27FC236}">
                <a16:creationId xmlns:a16="http://schemas.microsoft.com/office/drawing/2014/main" id="{F340C709-23C9-8E13-1A68-E3B9ED540BDD}"/>
              </a:ext>
            </a:extLst>
          </p:cNvPr>
          <p:cNvSpPr txBox="1"/>
          <p:nvPr/>
        </p:nvSpPr>
        <p:spPr>
          <a:xfrm>
            <a:off x="5343160" y="466760"/>
            <a:ext cx="2861505" cy="2110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Claude Agent SDK</a:t>
            </a:r>
            <a:endParaRPr lang="en-US" sz="1000" dirty="0"/>
          </a:p>
        </p:txBody>
      </p:sp>
      <p:sp>
        <p:nvSpPr>
          <p:cNvPr id="30" name="text-118">
            <a:extLst>
              <a:ext uri="{FF2B5EF4-FFF2-40B4-BE49-F238E27FC236}">
                <a16:creationId xmlns:a16="http://schemas.microsoft.com/office/drawing/2014/main" id="{E7A2B0AB-F7A0-4632-F8F5-357933870EAF}"/>
              </a:ext>
            </a:extLst>
          </p:cNvPr>
          <p:cNvSpPr txBox="1"/>
          <p:nvPr/>
        </p:nvSpPr>
        <p:spPr>
          <a:xfrm>
            <a:off x="5343156" y="712862"/>
            <a:ext cx="2861505" cy="3010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All upcoming events, ~2h before cutoff: competition's skill, cheap preset (≤$0.10), stops at cutoff. Missing previews only show at release.</a:t>
            </a:r>
            <a:endParaRPr lang="en-US" sz="1000" dirty="0"/>
          </a:p>
        </p:txBody>
      </p:sp>
      <p:cxnSp>
        <p:nvCxnSpPr>
          <p:cNvPr id="34" name="直线箭头连接符 33">
            <a:extLst>
              <a:ext uri="{FF2B5EF4-FFF2-40B4-BE49-F238E27FC236}">
                <a16:creationId xmlns:a16="http://schemas.microsoft.com/office/drawing/2014/main" id="{90E75B7C-34CA-C2EC-A7CF-5FCA0B23E6B8}"/>
              </a:ext>
            </a:extLst>
          </p:cNvPr>
          <p:cNvCxnSpPr>
            <a:cxnSpLocks/>
          </p:cNvCxnSpPr>
          <p:nvPr/>
        </p:nvCxnSpPr>
        <p:spPr>
          <a:xfrm>
            <a:off x="4821192" y="712860"/>
            <a:ext cx="372091" cy="369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card-115">
            <a:extLst>
              <a:ext uri="{FF2B5EF4-FFF2-40B4-BE49-F238E27FC236}">
                <a16:creationId xmlns:a16="http://schemas.microsoft.com/office/drawing/2014/main" id="{A554E503-B588-47D4-6CD2-55E8ECB3F1CF}"/>
              </a:ext>
            </a:extLst>
          </p:cNvPr>
          <p:cNvSpPr/>
          <p:nvPr/>
        </p:nvSpPr>
        <p:spPr>
          <a:xfrm>
            <a:off x="8680781" y="376093"/>
            <a:ext cx="1487561" cy="693933"/>
          </a:xfrm>
          <a:prstGeom prst="roundRect">
            <a:avLst>
              <a:gd name="adj" fmla="val 455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CN" altLang="en-US" sz="1000"/>
          </a:p>
        </p:txBody>
      </p:sp>
      <p:sp>
        <p:nvSpPr>
          <p:cNvPr id="40" name="text-117">
            <a:extLst>
              <a:ext uri="{FF2B5EF4-FFF2-40B4-BE49-F238E27FC236}">
                <a16:creationId xmlns:a16="http://schemas.microsoft.com/office/drawing/2014/main" id="{204613E3-032C-2A54-9C48-834CBA893F50}"/>
              </a:ext>
            </a:extLst>
          </p:cNvPr>
          <p:cNvSpPr txBox="1"/>
          <p:nvPr/>
        </p:nvSpPr>
        <p:spPr>
          <a:xfrm>
            <a:off x="8830658" y="497413"/>
            <a:ext cx="1163906" cy="192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Own Earnings Preview</a:t>
            </a:r>
            <a:endParaRPr lang="en-US" sz="1000" dirty="0"/>
          </a:p>
        </p:txBody>
      </p:sp>
      <p:cxnSp>
        <p:nvCxnSpPr>
          <p:cNvPr id="46" name="直线箭头连接符 45">
            <a:extLst>
              <a:ext uri="{FF2B5EF4-FFF2-40B4-BE49-F238E27FC236}">
                <a16:creationId xmlns:a16="http://schemas.microsoft.com/office/drawing/2014/main" id="{1964F52B-71AE-9F41-1561-A6D76DF6772D}"/>
              </a:ext>
            </a:extLst>
          </p:cNvPr>
          <p:cNvCxnSpPr>
            <a:cxnSpLocks/>
          </p:cNvCxnSpPr>
          <p:nvPr/>
        </p:nvCxnSpPr>
        <p:spPr>
          <a:xfrm>
            <a:off x="8308690" y="698086"/>
            <a:ext cx="372091" cy="369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-118">
            <a:extLst>
              <a:ext uri="{FF2B5EF4-FFF2-40B4-BE49-F238E27FC236}">
                <a16:creationId xmlns:a16="http://schemas.microsoft.com/office/drawing/2014/main" id="{B96A7EE0-00BE-2F73-9E9F-0D9CCDCFB959}"/>
              </a:ext>
            </a:extLst>
          </p:cNvPr>
          <p:cNvSpPr txBox="1"/>
          <p:nvPr/>
        </p:nvSpPr>
        <p:spPr>
          <a:xfrm>
            <a:off x="3660658" y="3049190"/>
            <a:ext cx="1010659" cy="3814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tx2"/>
                </a:solidFill>
              </a:rPr>
              <a:t>Competition's, else our own</a:t>
            </a:r>
            <a:endParaRPr lang="en-US" sz="1000" dirty="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885F23-1575-6DF3-D5E7-E3063178C8B4}"/>
              </a:ext>
            </a:extLst>
          </p:cNvPr>
          <p:cNvSpPr txBox="1"/>
          <p:nvPr/>
        </p:nvSpPr>
        <p:spPr>
          <a:xfrm>
            <a:off x="11158105" y="291387"/>
            <a:ext cx="11296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zh-CN" dirty="0" err="1"/>
              <a:t>em_agent</a:t>
            </a:r>
            <a:endParaRPr kumimoji="1" lang="en-US" altLang="zh-CN" dirty="0"/>
          </a:p>
          <a:p>
            <a:r>
              <a:rPr kumimoji="1" lang="en-US" altLang="zh-CN" dirty="0"/>
              <a:t>Version 3.2</a:t>
            </a:r>
            <a:endParaRPr kumimoji="1" lang="zh-CN" altLang="en-US" dirty="0"/>
          </a:p>
        </p:txBody>
      </p:sp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8324AEC9-5942-6519-53DD-13A57492CCE1}"/>
              </a:ext>
            </a:extLst>
          </p:cNvPr>
          <p:cNvCxnSpPr>
            <a:cxnSpLocks/>
            <a:stCxn id="39" idx="2"/>
          </p:cNvCxnSpPr>
          <p:nvPr/>
        </p:nvCxnSpPr>
        <p:spPr>
          <a:xfrm>
            <a:off x="9424562" y="1070026"/>
            <a:ext cx="0" cy="479133"/>
          </a:xfrm>
          <a:prstGeom prst="line">
            <a:avLst/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3224B15B-1D62-4610-1212-B9E965F2B9F1}"/>
              </a:ext>
            </a:extLst>
          </p:cNvPr>
          <p:cNvCxnSpPr>
            <a:cxnSpLocks/>
          </p:cNvCxnSpPr>
          <p:nvPr/>
        </p:nvCxnSpPr>
        <p:spPr>
          <a:xfrm flipH="1">
            <a:off x="5134854" y="1538863"/>
            <a:ext cx="4287867" cy="0"/>
          </a:xfrm>
          <a:prstGeom prst="line">
            <a:avLst/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线连接符 23">
            <a:extLst>
              <a:ext uri="{FF2B5EF4-FFF2-40B4-BE49-F238E27FC236}">
                <a16:creationId xmlns:a16="http://schemas.microsoft.com/office/drawing/2014/main" id="{1C7ADBF2-CD3D-D7D2-4355-E4710808F4E5}"/>
              </a:ext>
            </a:extLst>
          </p:cNvPr>
          <p:cNvCxnSpPr>
            <a:cxnSpLocks/>
          </p:cNvCxnSpPr>
          <p:nvPr/>
        </p:nvCxnSpPr>
        <p:spPr>
          <a:xfrm>
            <a:off x="5134854" y="1536065"/>
            <a:ext cx="0" cy="1570585"/>
          </a:xfrm>
          <a:prstGeom prst="line">
            <a:avLst/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FB8EB922-E0D6-37D6-F95F-973E761FE3A0}"/>
              </a:ext>
            </a:extLst>
          </p:cNvPr>
          <p:cNvCxnSpPr>
            <a:cxnSpLocks/>
            <a:endCxn id="47" idx="3"/>
          </p:cNvCxnSpPr>
          <p:nvPr/>
        </p:nvCxnSpPr>
        <p:spPr>
          <a:xfrm flipH="1">
            <a:off x="4821192" y="3107867"/>
            <a:ext cx="308453" cy="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3076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2260</TotalTime>
  <Words>1408</Words>
  <Application>Microsoft Macintosh PowerPoint</Application>
  <PresentationFormat>A3 纸张(297x420 毫米)</PresentationFormat>
  <Paragraphs>212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Cambria</vt:lpstr>
      <vt:lpstr>Office 2013 - 2022 主题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Surprise-Taxonomy Pipeline and Agent Workflow</dc:title>
  <dc:subject>PptxGenJS Presentation</dc:subject>
  <dc:creator>Yuhao Huo</dc:creator>
  <cp:lastModifiedBy>Huo, Martin</cp:lastModifiedBy>
  <cp:revision>13</cp:revision>
  <dcterms:created xsi:type="dcterms:W3CDTF">2026-10-24T05:20:56Z</dcterms:created>
  <dcterms:modified xsi:type="dcterms:W3CDTF">2026-10-26T06:15:50Z</dcterms:modified>
</cp:coreProperties>
</file>